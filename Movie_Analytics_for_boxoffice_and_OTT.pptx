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70" r:id="rId5"/>
    <p:sldId id="271" r:id="rId6"/>
    <p:sldId id="257" r:id="rId7"/>
    <p:sldId id="273" r:id="rId8"/>
    <p:sldId id="259" r:id="rId9"/>
    <p:sldId id="260" r:id="rId10"/>
    <p:sldId id="264" r:id="rId11"/>
    <p:sldId id="261" r:id="rId12"/>
    <p:sldId id="263" r:id="rId13"/>
    <p:sldId id="266" r:id="rId14"/>
    <p:sldId id="267" r:id="rId15"/>
    <p:sldId id="268" r:id="rId16"/>
    <p:sldId id="276" r:id="rId17"/>
    <p:sldId id="269" r:id="rId18"/>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9.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0D1A"/>
        </a:solidFill>
        <a:effectLst/>
      </p:bgPr>
    </p:bg>
    <p:spTree>
      <p:nvGrpSpPr>
        <p:cNvPr id="1" name=""/>
        <p:cNvGrpSpPr/>
        <p:nvPr/>
      </p:nvGrpSpPr>
      <p:grpSpPr>
        <a:xfrm>
          <a:off x="0" y="0"/>
          <a:ext cx="0" cy="0"/>
          <a:chOff x="0" y="0"/>
          <a:chExt cx="0" cy="0"/>
        </a:xfrm>
      </p:grpSpPr>
      <p:sp>
        <p:nvSpPr>
          <p:cNvPr id="2" name="TopBar"/>
          <p:cNvSpPr/>
          <p:nvPr/>
        </p:nvSpPr>
        <p:spPr>
          <a:xfrm>
            <a:off x="0" y="0"/>
            <a:ext cx="9144000" cy="18288"/>
          </a:xfrm>
          <a:prstGeom prst="rect">
            <a:avLst/>
          </a:prstGeom>
          <a:solidFill>
            <a:srgbClr val="00D4AA"/>
          </a:solidFill>
        </p:spPr>
      </p:sp>
      <p:sp>
        <p:nvSpPr>
          <p:cNvPr id="3" name="BottomBar"/>
          <p:cNvSpPr/>
          <p:nvPr/>
        </p:nvSpPr>
        <p:spPr>
          <a:xfrm>
            <a:off x="0" y="5125212"/>
            <a:ext cx="9144000" cy="18288"/>
          </a:xfrm>
          <a:prstGeom prst="rect">
            <a:avLst/>
          </a:prstGeom>
          <a:solidFill>
            <a:srgbClr val="00D4AA"/>
          </a:solidFill>
        </p:spPr>
      </p:sp>
      <p:sp>
        <p:nvSpPr>
          <p:cNvPr id="5" name="MainTitle"/>
          <p:cNvSpPr/>
          <p:nvPr/>
        </p:nvSpPr>
        <p:spPr>
          <a:xfrm>
            <a:off x="380365" y="568325"/>
            <a:ext cx="8764270" cy="1800225"/>
          </a:xfrm>
          <a:prstGeom prst="rect">
            <a:avLst/>
          </a:prstGeom>
          <a:noFill/>
        </p:spPr>
        <p:txBody>
          <a:bodyPr wrap="square" lIns="0" tIns="0" rIns="0" bIns="0" rtlCol="0" anchor="ctr"/>
          <a:lstStyle/>
          <a:p>
            <a:pPr marL="0" indent="0">
              <a:buNone/>
            </a:pPr>
            <a:r>
              <a:rPr lang="en-US" sz="3600" b="1" dirty="0">
                <a:solidFill>
                  <a:srgbClr val="FFFFFF"/>
                </a:solidFill>
                <a:latin typeface="Calibri" panose="020F0502020204030204" pitchFamily="34" charset="0"/>
              </a:rPr>
              <a:t>MOVIE ANALYTICS FOR BOX OFFICE AND OTT </a:t>
            </a:r>
            <a:endParaRPr lang="en-US" sz="3600" b="1" dirty="0">
              <a:solidFill>
                <a:srgbClr val="FFFFFF"/>
              </a:solidFill>
              <a:latin typeface="Calibri" panose="020F0502020204030204" pitchFamily="34" charset="0"/>
            </a:endParaRPr>
          </a:p>
        </p:txBody>
      </p:sp>
      <p:sp>
        <p:nvSpPr>
          <p:cNvPr id="7" name="Divider"/>
          <p:cNvSpPr/>
          <p:nvPr/>
        </p:nvSpPr>
        <p:spPr>
          <a:xfrm>
            <a:off x="640080" y="3000000"/>
            <a:ext cx="7862400" cy="9144"/>
          </a:xfrm>
          <a:prstGeom prst="rect">
            <a:avLst/>
          </a:prstGeom>
          <a:solidFill>
            <a:srgbClr val="1E3A5F"/>
          </a:solidFill>
        </p:spPr>
      </p:sp>
      <p:sp>
        <p:nvSpPr>
          <p:cNvPr id="8" name="PresentedByLabel"/>
          <p:cNvSpPr/>
          <p:nvPr/>
        </p:nvSpPr>
        <p:spPr>
          <a:xfrm>
            <a:off x="640080" y="3100000"/>
            <a:ext cx="3700000" cy="260000"/>
          </a:xfrm>
          <a:prstGeom prst="rect">
            <a:avLst/>
          </a:prstGeom>
          <a:noFill/>
        </p:spPr>
        <p:txBody>
          <a:bodyPr wrap="square" lIns="0" tIns="0" rIns="0" bIns="0" rtlCol="0" anchor="ctr"/>
          <a:lstStyle/>
          <a:p>
            <a:pPr marL="0" indent="0">
              <a:buNone/>
            </a:pPr>
            <a:r>
              <a:rPr lang="en-US" sz="1000" b="1" spc="400" dirty="0">
                <a:solidFill>
                  <a:srgbClr val="7A8EA8"/>
                </a:solidFill>
                <a:latin typeface="Calibri" panose="020F0502020204030204" pitchFamily="34" charset="0"/>
              </a:rPr>
              <a:t>PRESENTED BY</a:t>
            </a:r>
            <a:endParaRPr lang="en-US" sz="1000" b="1" spc="400" dirty="0">
              <a:solidFill>
                <a:srgbClr val="7A8EA8"/>
              </a:solidFill>
              <a:latin typeface="Calibri" panose="020F0502020204030204" pitchFamily="34" charset="0"/>
            </a:endParaRPr>
          </a:p>
        </p:txBody>
      </p:sp>
      <p:sp>
        <p:nvSpPr>
          <p:cNvPr id="9" name="TeamNames"/>
          <p:cNvSpPr/>
          <p:nvPr/>
        </p:nvSpPr>
        <p:spPr>
          <a:xfrm>
            <a:off x="640080" y="3400000"/>
            <a:ext cx="3900000" cy="400000"/>
          </a:xfrm>
          <a:prstGeom prst="rect">
            <a:avLst/>
          </a:prstGeom>
          <a:noFill/>
        </p:spPr>
        <p:txBody>
          <a:bodyPr wrap="square" lIns="0" tIns="0" rIns="0" bIns="0" rtlCol="0" anchor="t"/>
          <a:lstStyle/>
          <a:p>
            <a:pPr marL="0" indent="0">
              <a:lnSpc>
                <a:spcPts val="3000"/>
              </a:lnSpc>
              <a:buNone/>
            </a:pPr>
            <a:r>
              <a:rPr lang="en-US" sz="1400" b="1" dirty="0">
                <a:solidFill>
                  <a:srgbClr val="FFFFFF"/>
                </a:solidFill>
                <a:latin typeface="Calibri" panose="020F0502020204030204" pitchFamily="34" charset="0"/>
              </a:rPr>
              <a:t>PavanKumar  ·  Nikhil Saradhi  ·  Srikanth  ·  Pradnya</a:t>
            </a:r>
            <a:endParaRPr lang="en-US" sz="1400" b="1" dirty="0">
              <a:solidFill>
                <a:srgbClr val="FFFFFF"/>
              </a:solidFill>
              <a:latin typeface="Calibri" panose="020F0502020204030204" pitchFamily="34" charset="0"/>
            </a:endParaRPr>
          </a:p>
        </p:txBody>
      </p:sp>
      <p:sp>
        <p:nvSpPr>
          <p:cNvPr id="10" name="GuidanceLabel"/>
          <p:cNvSpPr/>
          <p:nvPr/>
        </p:nvSpPr>
        <p:spPr>
          <a:xfrm>
            <a:off x="5139725" y="3074600"/>
            <a:ext cx="3700000" cy="260000"/>
          </a:xfrm>
          <a:prstGeom prst="rect">
            <a:avLst/>
          </a:prstGeom>
          <a:noFill/>
        </p:spPr>
        <p:txBody>
          <a:bodyPr wrap="square" lIns="0" tIns="0" rIns="0" bIns="0" rtlCol="0" anchor="ctr"/>
          <a:lstStyle/>
          <a:p>
            <a:pPr marL="0" indent="0">
              <a:buNone/>
            </a:pPr>
            <a:r>
              <a:rPr lang="en-US" sz="1000" b="1" spc="400" dirty="0">
                <a:solidFill>
                  <a:srgbClr val="7A8EA8"/>
                </a:solidFill>
                <a:latin typeface="Calibri" panose="020F0502020204030204" pitchFamily="34" charset="0"/>
              </a:rPr>
              <a:t>UNDER THE GUIDANCE OF</a:t>
            </a:r>
            <a:endParaRPr lang="en-US" sz="1000" b="1" spc="400" dirty="0">
              <a:solidFill>
                <a:srgbClr val="7A8EA8"/>
              </a:solidFill>
              <a:latin typeface="Calibri" panose="020F0502020204030204" pitchFamily="34" charset="0"/>
            </a:endParaRPr>
          </a:p>
        </p:txBody>
      </p:sp>
      <p:sp>
        <p:nvSpPr>
          <p:cNvPr id="11" name="GuideName"/>
          <p:cNvSpPr/>
          <p:nvPr/>
        </p:nvSpPr>
        <p:spPr>
          <a:xfrm>
            <a:off x="5139725" y="3518745"/>
            <a:ext cx="3700000" cy="400000"/>
          </a:xfrm>
          <a:prstGeom prst="rect">
            <a:avLst/>
          </a:prstGeom>
          <a:noFill/>
        </p:spPr>
        <p:txBody>
          <a:bodyPr wrap="square" lIns="0" tIns="0" rIns="0" bIns="0" rtlCol="0" anchor="t"/>
          <a:lstStyle/>
          <a:p>
            <a:pPr marL="0" indent="0">
              <a:buNone/>
            </a:pPr>
            <a:r>
              <a:rPr lang="en-US" sz="1400" b="1" dirty="0">
                <a:solidFill>
                  <a:srgbClr val="00D4AA"/>
                </a:solidFill>
                <a:latin typeface="Calibri" panose="020F0502020204030204" pitchFamily="34" charset="0"/>
              </a:rPr>
              <a:t> Babjee Reddy</a:t>
            </a:r>
            <a:endParaRPr lang="en-US" sz="1400" b="1" dirty="0">
              <a:solidFill>
                <a:srgbClr val="00D4AA"/>
              </a:solidFill>
              <a:latin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0D4AA"/>
          </a:solidFill>
        </p:spPr>
      </p:sp>
      <p:sp>
        <p:nvSpPr>
          <p:cNvPr id="3" name="Shape 1"/>
          <p:cNvSpPr/>
          <p:nvPr/>
        </p:nvSpPr>
        <p:spPr>
          <a:xfrm>
            <a:off x="201168" y="0"/>
            <a:ext cx="8942832" cy="777240"/>
          </a:xfrm>
          <a:prstGeom prst="rect">
            <a:avLst/>
          </a:prstGeom>
          <a:solidFill>
            <a:srgbClr val="0F2240"/>
          </a:solidFill>
        </p:spPr>
      </p:sp>
      <p:sp>
        <p:nvSpPr>
          <p:cNvPr id="4" name="Text 2"/>
          <p:cNvSpPr/>
          <p:nvPr/>
        </p:nvSpPr>
        <p:spPr>
          <a:xfrm>
            <a:off x="457200" y="0"/>
            <a:ext cx="8229600" cy="777240"/>
          </a:xfrm>
          <a:prstGeom prst="rect">
            <a:avLst/>
          </a:prstGeom>
          <a:noFill/>
        </p:spPr>
        <p:txBody>
          <a:bodyPr wrap="square" lIns="0" tIns="0" rIns="0" bIns="0" rtlCol="0" anchor="ctr"/>
          <a:lstStyle/>
          <a:p>
            <a:pPr marL="0" indent="0">
              <a:buNone/>
            </a:pPr>
            <a:r>
              <a:rPr lang="en-US" sz="2400" b="1" dirty="0">
                <a:solidFill>
                  <a:srgbClr val="FFFFFF"/>
                </a:solidFill>
                <a:latin typeface="Calibri" panose="020F0502020204030204" pitchFamily="34" charset="0"/>
              </a:rPr>
              <a:t>ABSTRACT</a:t>
            </a:r>
            <a:endParaRPr lang="en-US" sz="2400" b="1" dirty="0">
              <a:solidFill>
                <a:srgbClr val="FFFFFF"/>
              </a:solidFill>
              <a:latin typeface="Calibri" panose="020F0502020204030204" pitchFamily="34" charset="0"/>
            </a:endParaRPr>
          </a:p>
        </p:txBody>
      </p:sp>
      <p:sp>
        <p:nvSpPr>
          <p:cNvPr id="5" name="Shape 3"/>
          <p:cNvSpPr/>
          <p:nvPr/>
        </p:nvSpPr>
        <p:spPr>
          <a:xfrm>
            <a:off x="274320" y="914400"/>
            <a:ext cx="8524080" cy="3840480"/>
          </a:xfrm>
          <a:prstGeom prst="rect">
            <a:avLst/>
          </a:prstGeom>
          <a:solidFill>
            <a:srgbClr val="0F2240"/>
          </a:solidFill>
          <a:effectLst>
            <a:outerShdw blurRad="127000" dist="38100" dir="8100000" algn="bl" rotWithShape="0">
              <a:srgbClr val="000000">
                <a:alpha val="20000"/>
              </a:srgbClr>
            </a:outerShdw>
          </a:effectLst>
        </p:spPr>
        <p:txBody>
          <a:bodyPr/>
          <a:p>
            <a:endParaRPr lang="en-US"/>
          </a:p>
        </p:txBody>
      </p:sp>
      <p:sp>
        <p:nvSpPr>
          <p:cNvPr id="7" name="Text 5"/>
          <p:cNvSpPr/>
          <p:nvPr/>
        </p:nvSpPr>
        <p:spPr>
          <a:xfrm>
            <a:off x="457200" y="1214120"/>
            <a:ext cx="8068945" cy="3404235"/>
          </a:xfrm>
          <a:prstGeom prst="rect">
            <a:avLst/>
          </a:prstGeom>
          <a:noFill/>
        </p:spPr>
        <p:txBody>
          <a:bodyPr wrap="square" lIns="0" tIns="0" rIns="0" bIns="0" rtlCol="0" anchor="t"/>
          <a:lstStyle/>
          <a:p>
            <a:pPr marL="0" indent="0" algn="just">
              <a:lnSpc>
                <a:spcPts val="2800"/>
              </a:lnSpc>
              <a:buNone/>
            </a:pPr>
            <a:r>
              <a:rPr lang="en-US" altLang="en-US" sz="1600" b="1" dirty="0">
                <a:solidFill>
                  <a:schemeClr val="bg1"/>
                </a:solidFill>
                <a:latin typeface="Times New Roman" panose="02020603050405020304" charset="0"/>
                <a:cs typeface="Times New Roman" panose="02020603050405020304" charset="0"/>
              </a:rPr>
              <a:t>The Movie Analytics Platform is an end-to-end data engineering and analytics solution designed to analyze Box Office and OTT performance using data from multiple sources such as TMDB, IMDB, OTT platforms, and Box Office datasets. The system utilizes technologies like Snowflake, PySpark, Apache Airflow, and Streamlit to ingest, process, and transform raw data into structured, analytics-ready formats. By implementing a layered architecture, the platform enables efficient data processing and supports the generation of insights related to revenue trends, genre performance, and OTT distribution. The final output is presented through an interactive dashboard, allowing users to explore and analyze key business metrics effectively</a:t>
            </a:r>
            <a:r>
              <a:rPr lang="en-IN" altLang="en-US" sz="1600" b="1" dirty="0">
                <a:solidFill>
                  <a:schemeClr val="bg1"/>
                </a:solidFill>
                <a:latin typeface="Times New Roman" panose="02020603050405020304" charset="0"/>
                <a:cs typeface="Times New Roman" panose="02020603050405020304" charset="0"/>
              </a:rPr>
              <a:t>.</a:t>
            </a:r>
            <a:endParaRPr lang="en-IN" altLang="en-US" sz="1600" b="1" dirty="0">
              <a:solidFill>
                <a:schemeClr val="bg1"/>
              </a:solidFill>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0D4AA"/>
          </a:solidFill>
        </p:spPr>
      </p:sp>
      <p:sp>
        <p:nvSpPr>
          <p:cNvPr id="3" name="Shape 1"/>
          <p:cNvSpPr/>
          <p:nvPr/>
        </p:nvSpPr>
        <p:spPr>
          <a:xfrm>
            <a:off x="201168" y="0"/>
            <a:ext cx="8942832" cy="777240"/>
          </a:xfrm>
          <a:prstGeom prst="rect">
            <a:avLst/>
          </a:prstGeom>
          <a:solidFill>
            <a:srgbClr val="0F2240"/>
          </a:solidFill>
        </p:spPr>
      </p:sp>
      <p:sp>
        <p:nvSpPr>
          <p:cNvPr id="4" name="Text 2"/>
          <p:cNvSpPr/>
          <p:nvPr/>
        </p:nvSpPr>
        <p:spPr>
          <a:xfrm>
            <a:off x="457200" y="0"/>
            <a:ext cx="8229600" cy="777240"/>
          </a:xfrm>
          <a:prstGeom prst="rect">
            <a:avLst/>
          </a:prstGeom>
          <a:noFill/>
        </p:spPr>
        <p:txBody>
          <a:bodyPr wrap="square" lIns="0" tIns="0" rIns="0" bIns="0" rtlCol="0" anchor="ctr"/>
          <a:lstStyle/>
          <a:p>
            <a:pPr marL="0" indent="0">
              <a:buNone/>
            </a:pPr>
            <a:r>
              <a:rPr lang="en-US" sz="2400" b="1" dirty="0">
                <a:solidFill>
                  <a:srgbClr val="FFFFFF"/>
                </a:solidFill>
                <a:latin typeface="Calibri" panose="020F0502020204030204" pitchFamily="34" charset="0"/>
              </a:rPr>
              <a:t>OBJECTIVES</a:t>
            </a:r>
            <a:endParaRPr lang="en-US" sz="2400" b="1" dirty="0">
              <a:solidFill>
                <a:srgbClr val="FFFFFF"/>
              </a:solidFill>
              <a:latin typeface="Calibri" panose="020F0502020204030204" pitchFamily="34" charset="0"/>
            </a:endParaRPr>
          </a:p>
        </p:txBody>
      </p:sp>
      <p:sp>
        <p:nvSpPr>
          <p:cNvPr id="6" name="Shape 3"/>
          <p:cNvSpPr/>
          <p:nvPr/>
        </p:nvSpPr>
        <p:spPr>
          <a:xfrm>
            <a:off x="274320" y="937895"/>
            <a:ext cx="8696960" cy="3840480"/>
          </a:xfrm>
          <a:prstGeom prst="rect">
            <a:avLst/>
          </a:prstGeom>
          <a:solidFill>
            <a:srgbClr val="0F2240"/>
          </a:solidFill>
          <a:effectLst>
            <a:outerShdw blurRad="127000" dist="38100" dir="8100000" algn="bl" rotWithShape="0">
              <a:srgbClr val="000000">
                <a:alpha val="20000"/>
              </a:srgbClr>
            </a:outerShdw>
          </a:effectLst>
        </p:spPr>
        <p:txBody>
          <a:bodyPr/>
          <a:p>
            <a:pPr marL="342900" indent="-342900" algn="just">
              <a:buFont typeface="Arial" panose="020B0604020202020204" pitchFamily="34" charset="0"/>
              <a:buChar char="•"/>
            </a:pPr>
            <a:r>
              <a:rPr lang="en-US" altLang="en-US" b="1">
                <a:solidFill>
                  <a:schemeClr val="bg1"/>
                </a:solidFill>
                <a:latin typeface="Times New Roman" panose="02020603050405020304" charset="0"/>
                <a:cs typeface="Times New Roman" panose="02020603050405020304" charset="0"/>
              </a:rPr>
              <a:t>To design and implement a scalable end-to-end data pipeline</a:t>
            </a:r>
            <a:r>
              <a:rPr lang="en-IN" altLang="en-US" b="1">
                <a:solidFill>
                  <a:schemeClr val="bg1"/>
                </a:solidFill>
                <a:latin typeface="Times New Roman" panose="02020603050405020304" charset="0"/>
                <a:cs typeface="Times New Roman" panose="02020603050405020304" charset="0"/>
              </a:rPr>
              <a:t>.</a:t>
            </a:r>
            <a:endParaRPr lang="en-US" altLang="en-US" b="1">
              <a:solidFill>
                <a:schemeClr val="bg1"/>
              </a:solidFill>
              <a:latin typeface="Times New Roman" panose="02020603050405020304" charset="0"/>
              <a:cs typeface="Times New Roman" panose="02020603050405020304" charset="0"/>
            </a:endParaRPr>
          </a:p>
          <a:p>
            <a:pPr indent="0" algn="just">
              <a:buFont typeface="Arial" panose="020B0604020202020204" pitchFamily="34" charset="0"/>
              <a:buNone/>
            </a:pPr>
            <a:endParaRPr lang="en-US" altLang="en-US" b="1">
              <a:solidFill>
                <a:schemeClr val="bg1"/>
              </a:solidFill>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altLang="en-US" b="1">
                <a:solidFill>
                  <a:schemeClr val="bg1"/>
                </a:solidFill>
                <a:latin typeface="Times New Roman" panose="02020603050405020304" charset="0"/>
                <a:cs typeface="Times New Roman" panose="02020603050405020304" charset="0"/>
              </a:rPr>
              <a:t>To integrate and process multi-source movie datasets</a:t>
            </a:r>
            <a:r>
              <a:rPr lang="en-IN" altLang="en-US" b="1">
                <a:solidFill>
                  <a:schemeClr val="bg1"/>
                </a:solidFill>
                <a:latin typeface="Times New Roman" panose="02020603050405020304" charset="0"/>
                <a:cs typeface="Times New Roman" panose="02020603050405020304" charset="0"/>
              </a:rPr>
              <a:t>.</a:t>
            </a:r>
            <a:endParaRPr lang="en-US" altLang="en-US" b="1">
              <a:solidFill>
                <a:schemeClr val="bg1"/>
              </a:solidFill>
              <a:latin typeface="Times New Roman" panose="02020603050405020304" charset="0"/>
              <a:cs typeface="Times New Roman" panose="02020603050405020304" charset="0"/>
            </a:endParaRPr>
          </a:p>
          <a:p>
            <a:pPr indent="0" algn="just">
              <a:buFont typeface="Arial" panose="020B0604020202020204" pitchFamily="34" charset="0"/>
              <a:buNone/>
            </a:pPr>
            <a:endParaRPr lang="en-US" altLang="en-US" b="1">
              <a:solidFill>
                <a:schemeClr val="bg1"/>
              </a:solidFill>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altLang="en-US" b="1">
                <a:solidFill>
                  <a:schemeClr val="bg1"/>
                </a:solidFill>
                <a:latin typeface="Times New Roman" panose="02020603050405020304" charset="0"/>
                <a:cs typeface="Times New Roman" panose="02020603050405020304" charset="0"/>
              </a:rPr>
              <a:t>To perform data cleaning, transformation, and standardization</a:t>
            </a:r>
            <a:r>
              <a:rPr lang="en-IN" altLang="en-US" b="1">
                <a:solidFill>
                  <a:schemeClr val="bg1"/>
                </a:solidFill>
                <a:latin typeface="Times New Roman" panose="02020603050405020304" charset="0"/>
                <a:cs typeface="Times New Roman" panose="02020603050405020304" charset="0"/>
              </a:rPr>
              <a:t>.</a:t>
            </a:r>
            <a:endParaRPr lang="en-US" altLang="en-US" b="1">
              <a:solidFill>
                <a:schemeClr val="bg1"/>
              </a:solidFill>
              <a:latin typeface="Times New Roman" panose="02020603050405020304" charset="0"/>
              <a:cs typeface="Times New Roman" panose="02020603050405020304" charset="0"/>
            </a:endParaRPr>
          </a:p>
          <a:p>
            <a:pPr indent="0" algn="just">
              <a:buFont typeface="Arial" panose="020B0604020202020204" pitchFamily="34" charset="0"/>
              <a:buNone/>
            </a:pPr>
            <a:endParaRPr lang="en-US" altLang="en-US" b="1">
              <a:solidFill>
                <a:schemeClr val="bg1"/>
              </a:solidFill>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altLang="en-US" b="1">
                <a:solidFill>
                  <a:schemeClr val="bg1"/>
                </a:solidFill>
                <a:latin typeface="Times New Roman" panose="02020603050405020304" charset="0"/>
                <a:cs typeface="Times New Roman" panose="02020603050405020304" charset="0"/>
              </a:rPr>
              <a:t>To build a star schema data model for efficient analytics</a:t>
            </a:r>
            <a:r>
              <a:rPr lang="en-IN" altLang="en-US" b="1">
                <a:solidFill>
                  <a:schemeClr val="bg1"/>
                </a:solidFill>
                <a:latin typeface="Times New Roman" panose="02020603050405020304" charset="0"/>
                <a:cs typeface="Times New Roman" panose="02020603050405020304" charset="0"/>
              </a:rPr>
              <a:t>.</a:t>
            </a:r>
            <a:endParaRPr lang="en-US" altLang="en-US" b="1">
              <a:solidFill>
                <a:schemeClr val="bg1"/>
              </a:solidFill>
              <a:latin typeface="Times New Roman" panose="02020603050405020304" charset="0"/>
              <a:cs typeface="Times New Roman" panose="02020603050405020304" charset="0"/>
            </a:endParaRPr>
          </a:p>
          <a:p>
            <a:pPr indent="0" algn="just">
              <a:buFont typeface="Arial" panose="020B0604020202020204" pitchFamily="34" charset="0"/>
              <a:buNone/>
            </a:pPr>
            <a:endParaRPr lang="en-US" altLang="en-US" b="1">
              <a:solidFill>
                <a:schemeClr val="bg1"/>
              </a:solidFill>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altLang="en-US" b="1">
                <a:solidFill>
                  <a:schemeClr val="bg1"/>
                </a:solidFill>
                <a:latin typeface="Times New Roman" panose="02020603050405020304" charset="0"/>
                <a:cs typeface="Times New Roman" panose="02020603050405020304" charset="0"/>
              </a:rPr>
              <a:t>To generate meaningful business insights from movie data</a:t>
            </a:r>
            <a:r>
              <a:rPr lang="en-IN" altLang="en-US" b="1">
                <a:solidFill>
                  <a:schemeClr val="bg1"/>
                </a:solidFill>
                <a:latin typeface="Times New Roman" panose="02020603050405020304" charset="0"/>
                <a:cs typeface="Times New Roman" panose="02020603050405020304" charset="0"/>
              </a:rPr>
              <a:t>.</a:t>
            </a:r>
            <a:endParaRPr lang="en-US" altLang="en-US" b="1">
              <a:solidFill>
                <a:schemeClr val="bg1"/>
              </a:solidFill>
              <a:latin typeface="Times New Roman" panose="02020603050405020304" charset="0"/>
              <a:cs typeface="Times New Roman" panose="02020603050405020304" charset="0"/>
            </a:endParaRPr>
          </a:p>
          <a:p>
            <a:pPr indent="0" algn="just">
              <a:buFont typeface="Arial" panose="020B0604020202020204" pitchFamily="34" charset="0"/>
              <a:buNone/>
            </a:pPr>
            <a:endParaRPr lang="en-US" altLang="en-US" b="1">
              <a:solidFill>
                <a:schemeClr val="bg1"/>
              </a:solidFill>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altLang="en-US" b="1">
                <a:solidFill>
                  <a:schemeClr val="bg1"/>
                </a:solidFill>
                <a:latin typeface="Times New Roman" panose="02020603050405020304" charset="0"/>
                <a:cs typeface="Times New Roman" panose="02020603050405020304" charset="0"/>
              </a:rPr>
              <a:t>To develop an interactive dashboard for data visualization</a:t>
            </a:r>
            <a:r>
              <a:rPr lang="en-IN" altLang="en-US" b="1">
                <a:solidFill>
                  <a:schemeClr val="bg1"/>
                </a:solidFill>
                <a:latin typeface="Times New Roman" panose="02020603050405020304" charset="0"/>
                <a:cs typeface="Times New Roman" panose="02020603050405020304" charset="0"/>
              </a:rPr>
              <a:t>.</a:t>
            </a:r>
            <a:endParaRPr lang="en-IN" altLang="en-US" b="1">
              <a:solidFill>
                <a:schemeClr val="bg1"/>
              </a:solidFill>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628"/>
          </a:solidFill>
        </p:spPr>
      </p:sp>
      <p:sp>
        <p:nvSpPr>
          <p:cNvPr id="3" name="Shape 1"/>
          <p:cNvSpPr/>
          <p:nvPr/>
        </p:nvSpPr>
        <p:spPr>
          <a:xfrm>
            <a:off x="0" y="0"/>
            <a:ext cx="201168" cy="914400"/>
          </a:xfrm>
          <a:prstGeom prst="rect">
            <a:avLst/>
          </a:prstGeom>
          <a:solidFill>
            <a:srgbClr val="00D4AA"/>
          </a:solidFill>
        </p:spPr>
      </p:sp>
      <p:sp>
        <p:nvSpPr>
          <p:cNvPr id="4" name="Text 2"/>
          <p:cNvSpPr/>
          <p:nvPr/>
        </p:nvSpPr>
        <p:spPr>
          <a:xfrm>
            <a:off x="411480" y="0"/>
            <a:ext cx="8229600" cy="914400"/>
          </a:xfrm>
          <a:prstGeom prst="rect">
            <a:avLst/>
          </a:prstGeom>
          <a:noFill/>
        </p:spPr>
        <p:txBody>
          <a:bodyPr wrap="square" lIns="0" tIns="0" rIns="0" bIns="0" rtlCol="0" anchor="ctr"/>
          <a:lstStyle/>
          <a:p>
            <a:pPr marL="0" indent="0">
              <a:buNone/>
            </a:pPr>
            <a:r>
              <a:rPr lang="en-US" sz="2600" b="1" kern="0" spc="400" dirty="0">
                <a:solidFill>
                  <a:srgbClr val="FFFFFF"/>
                </a:solidFill>
                <a:latin typeface="Calibri" panose="020F0502020204030204" pitchFamily="34" charset="0"/>
                <a:ea typeface="Calibri" panose="020F0502020204030204" pitchFamily="34" charset="-122"/>
                <a:cs typeface="Calibri" panose="020F0502020204030204" pitchFamily="34" charset="-120"/>
              </a:rPr>
              <a:t>AGENDA</a:t>
            </a:r>
            <a:endParaRPr lang="en-US" sz="2600" dirty="0"/>
          </a:p>
        </p:txBody>
      </p:sp>
      <p:sp>
        <p:nvSpPr>
          <p:cNvPr id="5" name="Shape 3"/>
          <p:cNvSpPr/>
          <p:nvPr/>
        </p:nvSpPr>
        <p:spPr>
          <a:xfrm>
            <a:off x="274320" y="1078992"/>
            <a:ext cx="2743200" cy="1737360"/>
          </a:xfrm>
          <a:prstGeom prst="rect">
            <a:avLst/>
          </a:prstGeom>
          <a:solidFill>
            <a:srgbClr val="FFFFFF"/>
          </a:solidFill>
          <a:effectLst>
            <a:outerShdw blurRad="127000" dist="38100" dir="8100000" algn="bl" rotWithShape="0">
              <a:srgbClr val="000000">
                <a:alpha val="20000"/>
              </a:srgbClr>
            </a:outerShdw>
          </a:effectLst>
        </p:spPr>
      </p:sp>
      <p:sp>
        <p:nvSpPr>
          <p:cNvPr id="6" name="Shape 4"/>
          <p:cNvSpPr/>
          <p:nvPr/>
        </p:nvSpPr>
        <p:spPr>
          <a:xfrm>
            <a:off x="274320" y="1078992"/>
            <a:ext cx="2743200" cy="109728"/>
          </a:xfrm>
          <a:prstGeom prst="rect">
            <a:avLst/>
          </a:prstGeom>
          <a:solidFill>
            <a:srgbClr val="00D4AA"/>
          </a:solidFill>
        </p:spPr>
      </p:sp>
      <p:sp>
        <p:nvSpPr>
          <p:cNvPr id="7" name="Shape 5"/>
          <p:cNvSpPr/>
          <p:nvPr/>
        </p:nvSpPr>
        <p:spPr>
          <a:xfrm>
            <a:off x="411480" y="1307592"/>
            <a:ext cx="502920" cy="502920"/>
          </a:xfrm>
          <a:prstGeom prst="ellipse">
            <a:avLst/>
          </a:prstGeom>
          <a:solidFill>
            <a:srgbClr val="00D4AA">
              <a:alpha val="15000"/>
            </a:srgbClr>
          </a:solidFill>
          <a:ln w="12700">
            <a:solidFill>
              <a:srgbClr val="00D4AA"/>
            </a:solidFill>
            <a:prstDash val="solid"/>
          </a:ln>
        </p:spPr>
      </p:sp>
      <p:sp>
        <p:nvSpPr>
          <p:cNvPr id="8" name="Text 6"/>
          <p:cNvSpPr/>
          <p:nvPr/>
        </p:nvSpPr>
        <p:spPr>
          <a:xfrm>
            <a:off x="411480" y="1307592"/>
            <a:ext cx="502920" cy="502920"/>
          </a:xfrm>
          <a:prstGeom prst="rect">
            <a:avLst/>
          </a:prstGeom>
          <a:noFill/>
        </p:spPr>
        <p:txBody>
          <a:bodyPr wrap="square" rtlCol="0" anchor="ctr"/>
          <a:lstStyle/>
          <a:p>
            <a:pPr marL="0" indent="0" algn="ctr">
              <a:buNone/>
            </a:pPr>
            <a:r>
              <a:rPr lang="en-US" sz="1400" b="1" dirty="0">
                <a:solidFill>
                  <a:srgbClr val="00D4AA"/>
                </a:solidFill>
                <a:latin typeface="Calibri" panose="020F0502020204030204" pitchFamily="34" charset="0"/>
                <a:ea typeface="Calibri" panose="020F0502020204030204" pitchFamily="34" charset="-122"/>
                <a:cs typeface="Calibri" panose="020F0502020204030204" pitchFamily="34" charset="-120"/>
              </a:rPr>
              <a:t>01</a:t>
            </a:r>
            <a:endParaRPr lang="en-US" sz="1400" dirty="0"/>
          </a:p>
        </p:txBody>
      </p:sp>
      <p:pic>
        <p:nvPicPr>
          <p:cNvPr id="9" name="Image 0" descr="preencoded.png"/>
          <p:cNvPicPr>
            <a:picLocks noChangeAspect="1"/>
          </p:cNvPicPr>
          <p:nvPr/>
        </p:nvPicPr>
        <p:blipFill>
          <a:blip r:embed="rId1"/>
          <a:stretch>
            <a:fillRect/>
          </a:stretch>
        </p:blipFill>
        <p:spPr>
          <a:xfrm>
            <a:off x="2514600" y="1280160"/>
            <a:ext cx="384048" cy="384048"/>
          </a:xfrm>
          <a:prstGeom prst="rect">
            <a:avLst/>
          </a:prstGeom>
        </p:spPr>
      </p:pic>
      <p:sp>
        <p:nvSpPr>
          <p:cNvPr id="10" name="Text 7"/>
          <p:cNvSpPr/>
          <p:nvPr/>
        </p:nvSpPr>
        <p:spPr>
          <a:xfrm>
            <a:off x="1024128" y="1353312"/>
            <a:ext cx="1463040" cy="347472"/>
          </a:xfrm>
          <a:prstGeom prst="rect">
            <a:avLst/>
          </a:prstGeom>
          <a:noFill/>
        </p:spPr>
        <p:txBody>
          <a:bodyPr wrap="square" lIns="0" tIns="0" rIns="0" bIns="0" rtlCol="0" anchor="ctr"/>
          <a:lstStyle/>
          <a:p>
            <a:pPr marL="0" indent="0">
              <a:buNone/>
            </a:pPr>
            <a:r>
              <a:rPr lang="en-US" sz="1250" b="1" dirty="0">
                <a:solidFill>
                  <a:srgbClr val="1A2535"/>
                </a:solidFill>
                <a:latin typeface="Calibri" panose="020F0502020204030204" pitchFamily="34" charset="0"/>
                <a:ea typeface="Calibri" panose="020F0502020204030204" pitchFamily="34" charset="-122"/>
                <a:cs typeface="Calibri" panose="020F0502020204030204" pitchFamily="34" charset="-120"/>
              </a:rPr>
              <a:t>Project Overview</a:t>
            </a:r>
            <a:endParaRPr lang="en-US" sz="1250" dirty="0"/>
          </a:p>
        </p:txBody>
      </p:sp>
      <p:sp>
        <p:nvSpPr>
          <p:cNvPr id="11" name="Text 8"/>
          <p:cNvSpPr/>
          <p:nvPr/>
        </p:nvSpPr>
        <p:spPr>
          <a:xfrm>
            <a:off x="402336" y="1975104"/>
            <a:ext cx="2487168" cy="640080"/>
          </a:xfrm>
          <a:prstGeom prst="rect">
            <a:avLst/>
          </a:prstGeom>
          <a:noFill/>
        </p:spPr>
        <p:txBody>
          <a:bodyPr wrap="square" lIns="0" tIns="0" rIns="0" bIns="0" rtlCol="0" anchor="ctr"/>
          <a:lstStyle/>
          <a:p>
            <a:pPr marL="0" indent="0">
              <a:buNone/>
            </a:pPr>
            <a:r>
              <a:rPr lang="en-US" sz="950" dirty="0">
                <a:solidFill>
                  <a:srgbClr val="7A8EA8"/>
                </a:solidFill>
                <a:latin typeface="Calibri" panose="020F0502020204030204" pitchFamily="34" charset="0"/>
                <a:ea typeface="Calibri" panose="020F0502020204030204" pitchFamily="34" charset="-122"/>
                <a:cs typeface="Calibri" panose="020F0502020204030204" pitchFamily="34" charset="-120"/>
              </a:rPr>
              <a:t>Goals, scope &amp; data sources</a:t>
            </a:r>
            <a:endParaRPr lang="en-US" sz="950" dirty="0"/>
          </a:p>
        </p:txBody>
      </p:sp>
      <p:sp>
        <p:nvSpPr>
          <p:cNvPr id="12" name="Shape 9"/>
          <p:cNvSpPr/>
          <p:nvPr/>
        </p:nvSpPr>
        <p:spPr>
          <a:xfrm>
            <a:off x="3154680" y="1078992"/>
            <a:ext cx="2743200" cy="1737360"/>
          </a:xfrm>
          <a:prstGeom prst="rect">
            <a:avLst/>
          </a:prstGeom>
          <a:solidFill>
            <a:srgbClr val="FFFFFF"/>
          </a:solidFill>
          <a:effectLst>
            <a:outerShdw blurRad="127000" dist="38100" dir="8100000" algn="bl" rotWithShape="0">
              <a:srgbClr val="000000">
                <a:alpha val="20000"/>
              </a:srgbClr>
            </a:outerShdw>
          </a:effectLst>
        </p:spPr>
      </p:sp>
      <p:sp>
        <p:nvSpPr>
          <p:cNvPr id="13" name="Shape 10"/>
          <p:cNvSpPr/>
          <p:nvPr/>
        </p:nvSpPr>
        <p:spPr>
          <a:xfrm>
            <a:off x="3154680" y="1078992"/>
            <a:ext cx="2743200" cy="109728"/>
          </a:xfrm>
          <a:prstGeom prst="rect">
            <a:avLst/>
          </a:prstGeom>
          <a:solidFill>
            <a:srgbClr val="4A9EFF"/>
          </a:solidFill>
        </p:spPr>
      </p:sp>
      <p:sp>
        <p:nvSpPr>
          <p:cNvPr id="14" name="Shape 11"/>
          <p:cNvSpPr/>
          <p:nvPr/>
        </p:nvSpPr>
        <p:spPr>
          <a:xfrm>
            <a:off x="3291840" y="1307592"/>
            <a:ext cx="502920" cy="502920"/>
          </a:xfrm>
          <a:prstGeom prst="ellipse">
            <a:avLst/>
          </a:prstGeom>
          <a:solidFill>
            <a:srgbClr val="4A9EFF">
              <a:alpha val="15000"/>
            </a:srgbClr>
          </a:solidFill>
          <a:ln w="12700">
            <a:solidFill>
              <a:srgbClr val="4A9EFF"/>
            </a:solidFill>
            <a:prstDash val="solid"/>
          </a:ln>
        </p:spPr>
      </p:sp>
      <p:sp>
        <p:nvSpPr>
          <p:cNvPr id="15" name="Text 12"/>
          <p:cNvSpPr/>
          <p:nvPr/>
        </p:nvSpPr>
        <p:spPr>
          <a:xfrm>
            <a:off x="3291840" y="1307592"/>
            <a:ext cx="502920" cy="502920"/>
          </a:xfrm>
          <a:prstGeom prst="rect">
            <a:avLst/>
          </a:prstGeom>
          <a:noFill/>
        </p:spPr>
        <p:txBody>
          <a:bodyPr wrap="square" rtlCol="0" anchor="ctr"/>
          <a:lstStyle/>
          <a:p>
            <a:pPr marL="0" indent="0" algn="ctr">
              <a:buNone/>
            </a:pPr>
            <a:r>
              <a:rPr lang="en-US" sz="1400" b="1" dirty="0">
                <a:solidFill>
                  <a:srgbClr val="4A9EFF"/>
                </a:solidFill>
                <a:latin typeface="Calibri" panose="020F0502020204030204" pitchFamily="34" charset="0"/>
                <a:ea typeface="Calibri" panose="020F0502020204030204" pitchFamily="34" charset="-122"/>
                <a:cs typeface="Calibri" panose="020F0502020204030204" pitchFamily="34" charset="-120"/>
              </a:rPr>
              <a:t>02</a:t>
            </a:r>
            <a:endParaRPr lang="en-US" sz="1400" dirty="0"/>
          </a:p>
        </p:txBody>
      </p:sp>
      <p:pic>
        <p:nvPicPr>
          <p:cNvPr id="16" name="Image 1" descr="preencoded.png"/>
          <p:cNvPicPr>
            <a:picLocks noChangeAspect="1"/>
          </p:cNvPicPr>
          <p:nvPr/>
        </p:nvPicPr>
        <p:blipFill>
          <a:blip r:embed="rId2"/>
          <a:stretch>
            <a:fillRect/>
          </a:stretch>
        </p:blipFill>
        <p:spPr>
          <a:xfrm>
            <a:off x="5394960" y="1280160"/>
            <a:ext cx="384048" cy="384048"/>
          </a:xfrm>
          <a:prstGeom prst="rect">
            <a:avLst/>
          </a:prstGeom>
        </p:spPr>
      </p:pic>
      <p:sp>
        <p:nvSpPr>
          <p:cNvPr id="17" name="Text 13"/>
          <p:cNvSpPr/>
          <p:nvPr/>
        </p:nvSpPr>
        <p:spPr>
          <a:xfrm>
            <a:off x="3904488" y="1353312"/>
            <a:ext cx="1463040" cy="347472"/>
          </a:xfrm>
          <a:prstGeom prst="rect">
            <a:avLst/>
          </a:prstGeom>
          <a:noFill/>
        </p:spPr>
        <p:txBody>
          <a:bodyPr wrap="square" lIns="0" tIns="0" rIns="0" bIns="0" rtlCol="0" anchor="ctr"/>
          <a:lstStyle/>
          <a:p>
            <a:pPr marL="0" indent="0">
              <a:buNone/>
            </a:pPr>
            <a:r>
              <a:rPr lang="en-US" sz="1250" b="1" dirty="0">
                <a:solidFill>
                  <a:srgbClr val="1A2535"/>
                </a:solidFill>
                <a:latin typeface="Calibri" panose="020F0502020204030204" pitchFamily="34" charset="0"/>
                <a:ea typeface="Calibri" panose="020F0502020204030204" pitchFamily="34" charset="-122"/>
                <a:cs typeface="Calibri" panose="020F0502020204030204" pitchFamily="34" charset="-120"/>
              </a:rPr>
              <a:t>Medallion Architecture</a:t>
            </a:r>
            <a:endParaRPr lang="en-US" sz="1250" dirty="0"/>
          </a:p>
        </p:txBody>
      </p:sp>
      <p:sp>
        <p:nvSpPr>
          <p:cNvPr id="18" name="Text 14"/>
          <p:cNvSpPr/>
          <p:nvPr/>
        </p:nvSpPr>
        <p:spPr>
          <a:xfrm>
            <a:off x="3282696" y="1975104"/>
            <a:ext cx="2487168" cy="640080"/>
          </a:xfrm>
          <a:prstGeom prst="rect">
            <a:avLst/>
          </a:prstGeom>
          <a:noFill/>
        </p:spPr>
        <p:txBody>
          <a:bodyPr wrap="square" lIns="0" tIns="0" rIns="0" bIns="0" rtlCol="0" anchor="ctr"/>
          <a:lstStyle/>
          <a:p>
            <a:pPr marL="0" indent="0">
              <a:buNone/>
            </a:pPr>
            <a:r>
              <a:rPr lang="en-US" sz="950" dirty="0">
                <a:solidFill>
                  <a:srgbClr val="7A8EA8"/>
                </a:solidFill>
                <a:latin typeface="Calibri" panose="020F0502020204030204" pitchFamily="34" charset="0"/>
                <a:ea typeface="Calibri" panose="020F0502020204030204" pitchFamily="34" charset="-122"/>
                <a:cs typeface="Calibri" panose="020F0502020204030204" pitchFamily="34" charset="-120"/>
              </a:rPr>
              <a:t>Bronze → Silver → Gold on AWS S3</a:t>
            </a:r>
            <a:endParaRPr lang="en-US" sz="950" dirty="0"/>
          </a:p>
        </p:txBody>
      </p:sp>
      <p:sp>
        <p:nvSpPr>
          <p:cNvPr id="19" name="Shape 15"/>
          <p:cNvSpPr/>
          <p:nvPr/>
        </p:nvSpPr>
        <p:spPr>
          <a:xfrm>
            <a:off x="6035040" y="1078992"/>
            <a:ext cx="2743200" cy="1737360"/>
          </a:xfrm>
          <a:prstGeom prst="rect">
            <a:avLst/>
          </a:prstGeom>
          <a:solidFill>
            <a:srgbClr val="FFFFFF"/>
          </a:solidFill>
          <a:effectLst>
            <a:outerShdw blurRad="127000" dist="38100" dir="8100000" algn="bl" rotWithShape="0">
              <a:srgbClr val="000000">
                <a:alpha val="20000"/>
              </a:srgbClr>
            </a:outerShdw>
          </a:effectLst>
        </p:spPr>
      </p:sp>
      <p:sp>
        <p:nvSpPr>
          <p:cNvPr id="20" name="Shape 16"/>
          <p:cNvSpPr/>
          <p:nvPr/>
        </p:nvSpPr>
        <p:spPr>
          <a:xfrm>
            <a:off x="6035040" y="1078992"/>
            <a:ext cx="2743200" cy="109728"/>
          </a:xfrm>
          <a:prstGeom prst="rect">
            <a:avLst/>
          </a:prstGeom>
          <a:solidFill>
            <a:srgbClr val="9B6DFF"/>
          </a:solidFill>
        </p:spPr>
      </p:sp>
      <p:sp>
        <p:nvSpPr>
          <p:cNvPr id="21" name="Shape 17"/>
          <p:cNvSpPr/>
          <p:nvPr/>
        </p:nvSpPr>
        <p:spPr>
          <a:xfrm>
            <a:off x="6172200" y="1307592"/>
            <a:ext cx="502920" cy="502920"/>
          </a:xfrm>
          <a:prstGeom prst="ellipse">
            <a:avLst/>
          </a:prstGeom>
          <a:solidFill>
            <a:srgbClr val="9B6DFF">
              <a:alpha val="15000"/>
            </a:srgbClr>
          </a:solidFill>
          <a:ln w="12700">
            <a:solidFill>
              <a:srgbClr val="9B6DFF"/>
            </a:solidFill>
            <a:prstDash val="solid"/>
          </a:ln>
        </p:spPr>
      </p:sp>
      <p:sp>
        <p:nvSpPr>
          <p:cNvPr id="22" name="Text 18"/>
          <p:cNvSpPr/>
          <p:nvPr/>
        </p:nvSpPr>
        <p:spPr>
          <a:xfrm>
            <a:off x="6172200" y="1307592"/>
            <a:ext cx="502920" cy="502920"/>
          </a:xfrm>
          <a:prstGeom prst="rect">
            <a:avLst/>
          </a:prstGeom>
          <a:noFill/>
        </p:spPr>
        <p:txBody>
          <a:bodyPr wrap="square" rtlCol="0" anchor="ctr"/>
          <a:lstStyle/>
          <a:p>
            <a:pPr marL="0" indent="0" algn="ctr">
              <a:buNone/>
            </a:pPr>
            <a:r>
              <a:rPr lang="en-US" sz="1400" b="1" dirty="0">
                <a:solidFill>
                  <a:srgbClr val="9B6DFF"/>
                </a:solidFill>
                <a:latin typeface="Calibri" panose="020F0502020204030204" pitchFamily="34" charset="0"/>
                <a:ea typeface="Calibri" panose="020F0502020204030204" pitchFamily="34" charset="-122"/>
                <a:cs typeface="Calibri" panose="020F0502020204030204" pitchFamily="34" charset="-120"/>
              </a:rPr>
              <a:t>03</a:t>
            </a:r>
            <a:endParaRPr lang="en-US" sz="1400" dirty="0"/>
          </a:p>
        </p:txBody>
      </p:sp>
      <p:pic>
        <p:nvPicPr>
          <p:cNvPr id="23" name="Image 2" descr="preencoded.png"/>
          <p:cNvPicPr>
            <a:picLocks noChangeAspect="1"/>
          </p:cNvPicPr>
          <p:nvPr/>
        </p:nvPicPr>
        <p:blipFill>
          <a:blip r:embed="rId3"/>
          <a:stretch>
            <a:fillRect/>
          </a:stretch>
        </p:blipFill>
        <p:spPr>
          <a:xfrm>
            <a:off x="8275320" y="1280160"/>
            <a:ext cx="384048" cy="384048"/>
          </a:xfrm>
          <a:prstGeom prst="rect">
            <a:avLst/>
          </a:prstGeom>
        </p:spPr>
      </p:pic>
      <p:sp>
        <p:nvSpPr>
          <p:cNvPr id="24" name="Text 19"/>
          <p:cNvSpPr/>
          <p:nvPr/>
        </p:nvSpPr>
        <p:spPr>
          <a:xfrm>
            <a:off x="6784848" y="1353312"/>
            <a:ext cx="1463040" cy="347472"/>
          </a:xfrm>
          <a:prstGeom prst="rect">
            <a:avLst/>
          </a:prstGeom>
          <a:noFill/>
        </p:spPr>
        <p:txBody>
          <a:bodyPr wrap="square" lIns="0" tIns="0" rIns="0" bIns="0" rtlCol="0" anchor="ctr"/>
          <a:lstStyle/>
          <a:p>
            <a:pPr marL="0" indent="0">
              <a:buNone/>
            </a:pPr>
            <a:r>
              <a:rPr lang="en-US" sz="1250" b="1" dirty="0">
                <a:solidFill>
                  <a:srgbClr val="1A2535"/>
                </a:solidFill>
                <a:latin typeface="Calibri" panose="020F0502020204030204" pitchFamily="34" charset="0"/>
                <a:ea typeface="Calibri" panose="020F0502020204030204" pitchFamily="34" charset="-122"/>
                <a:cs typeface="Calibri" panose="020F0502020204030204" pitchFamily="34" charset="-120"/>
              </a:rPr>
              <a:t>Airflow Pipeline</a:t>
            </a:r>
            <a:endParaRPr lang="en-US" sz="1250" dirty="0"/>
          </a:p>
        </p:txBody>
      </p:sp>
      <p:sp>
        <p:nvSpPr>
          <p:cNvPr id="25" name="Text 20"/>
          <p:cNvSpPr/>
          <p:nvPr/>
        </p:nvSpPr>
        <p:spPr>
          <a:xfrm>
            <a:off x="6163056" y="1975104"/>
            <a:ext cx="2487168" cy="640080"/>
          </a:xfrm>
          <a:prstGeom prst="rect">
            <a:avLst/>
          </a:prstGeom>
          <a:noFill/>
        </p:spPr>
        <p:txBody>
          <a:bodyPr wrap="square" lIns="0" tIns="0" rIns="0" bIns="0" rtlCol="0" anchor="ctr"/>
          <a:lstStyle/>
          <a:p>
            <a:pPr marL="0" indent="0">
              <a:buNone/>
            </a:pPr>
            <a:r>
              <a:rPr lang="en-US" sz="950" dirty="0">
                <a:solidFill>
                  <a:srgbClr val="7A8EA8"/>
                </a:solidFill>
                <a:latin typeface="Calibri" panose="020F0502020204030204" pitchFamily="34" charset="0"/>
                <a:ea typeface="Calibri" panose="020F0502020204030204" pitchFamily="34" charset="-122"/>
                <a:cs typeface="Calibri" panose="020F0502020204030204" pitchFamily="34" charset="-120"/>
              </a:rPr>
              <a:t>Orchestration &amp; task dependency flow</a:t>
            </a:r>
            <a:endParaRPr lang="en-US" sz="950" dirty="0"/>
          </a:p>
        </p:txBody>
      </p:sp>
      <p:sp>
        <p:nvSpPr>
          <p:cNvPr id="26" name="Shape 21"/>
          <p:cNvSpPr/>
          <p:nvPr/>
        </p:nvSpPr>
        <p:spPr>
          <a:xfrm>
            <a:off x="274320" y="3017520"/>
            <a:ext cx="2743200" cy="1737360"/>
          </a:xfrm>
          <a:prstGeom prst="rect">
            <a:avLst/>
          </a:prstGeom>
          <a:solidFill>
            <a:srgbClr val="FFFFFF"/>
          </a:solidFill>
          <a:effectLst>
            <a:outerShdw blurRad="127000" dist="38100" dir="8100000" algn="bl" rotWithShape="0">
              <a:srgbClr val="000000">
                <a:alpha val="20000"/>
              </a:srgbClr>
            </a:outerShdw>
          </a:effectLst>
        </p:spPr>
      </p:sp>
      <p:sp>
        <p:nvSpPr>
          <p:cNvPr id="27" name="Shape 22"/>
          <p:cNvSpPr/>
          <p:nvPr/>
        </p:nvSpPr>
        <p:spPr>
          <a:xfrm>
            <a:off x="274320" y="3017520"/>
            <a:ext cx="2743200" cy="109728"/>
          </a:xfrm>
          <a:prstGeom prst="rect">
            <a:avLst/>
          </a:prstGeom>
          <a:solidFill>
            <a:srgbClr val="F5A623"/>
          </a:solidFill>
        </p:spPr>
      </p:sp>
      <p:sp>
        <p:nvSpPr>
          <p:cNvPr id="28" name="Shape 23"/>
          <p:cNvSpPr/>
          <p:nvPr/>
        </p:nvSpPr>
        <p:spPr>
          <a:xfrm>
            <a:off x="411480" y="3246120"/>
            <a:ext cx="502920" cy="502920"/>
          </a:xfrm>
          <a:prstGeom prst="ellipse">
            <a:avLst/>
          </a:prstGeom>
          <a:solidFill>
            <a:srgbClr val="F5A623">
              <a:alpha val="15000"/>
            </a:srgbClr>
          </a:solidFill>
          <a:ln w="12700">
            <a:solidFill>
              <a:srgbClr val="F5A623"/>
            </a:solidFill>
            <a:prstDash val="solid"/>
          </a:ln>
        </p:spPr>
      </p:sp>
      <p:sp>
        <p:nvSpPr>
          <p:cNvPr id="29" name="Text 24"/>
          <p:cNvSpPr/>
          <p:nvPr/>
        </p:nvSpPr>
        <p:spPr>
          <a:xfrm>
            <a:off x="411480" y="3246120"/>
            <a:ext cx="502920" cy="502920"/>
          </a:xfrm>
          <a:prstGeom prst="rect">
            <a:avLst/>
          </a:prstGeom>
          <a:noFill/>
        </p:spPr>
        <p:txBody>
          <a:bodyPr wrap="square" rtlCol="0" anchor="ctr"/>
          <a:lstStyle/>
          <a:p>
            <a:pPr marL="0" indent="0" algn="ctr">
              <a:buNone/>
            </a:pPr>
            <a:r>
              <a:rPr lang="en-US" sz="1400" b="1" dirty="0">
                <a:solidFill>
                  <a:srgbClr val="F5A623"/>
                </a:solidFill>
                <a:latin typeface="Calibri" panose="020F0502020204030204" pitchFamily="34" charset="0"/>
                <a:ea typeface="Calibri" panose="020F0502020204030204" pitchFamily="34" charset="-122"/>
                <a:cs typeface="Calibri" panose="020F0502020204030204" pitchFamily="34" charset="-120"/>
              </a:rPr>
              <a:t>04</a:t>
            </a:r>
            <a:endParaRPr lang="en-US" sz="1400" dirty="0"/>
          </a:p>
        </p:txBody>
      </p:sp>
      <p:pic>
        <p:nvPicPr>
          <p:cNvPr id="30" name="Image 3" descr="preencoded.png"/>
          <p:cNvPicPr>
            <a:picLocks noChangeAspect="1"/>
          </p:cNvPicPr>
          <p:nvPr/>
        </p:nvPicPr>
        <p:blipFill>
          <a:blip r:embed="rId4"/>
          <a:stretch>
            <a:fillRect/>
          </a:stretch>
        </p:blipFill>
        <p:spPr>
          <a:xfrm>
            <a:off x="2514600" y="3218688"/>
            <a:ext cx="384048" cy="384048"/>
          </a:xfrm>
          <a:prstGeom prst="rect">
            <a:avLst/>
          </a:prstGeom>
        </p:spPr>
      </p:pic>
      <p:sp>
        <p:nvSpPr>
          <p:cNvPr id="31" name="Text 25"/>
          <p:cNvSpPr/>
          <p:nvPr/>
        </p:nvSpPr>
        <p:spPr>
          <a:xfrm>
            <a:off x="1024128" y="3291840"/>
            <a:ext cx="1463040" cy="347472"/>
          </a:xfrm>
          <a:prstGeom prst="rect">
            <a:avLst/>
          </a:prstGeom>
          <a:noFill/>
        </p:spPr>
        <p:txBody>
          <a:bodyPr wrap="square" lIns="0" tIns="0" rIns="0" bIns="0" rtlCol="0" anchor="ctr"/>
          <a:lstStyle/>
          <a:p>
            <a:pPr marL="0" indent="0">
              <a:buNone/>
            </a:pPr>
            <a:r>
              <a:rPr lang="en-US" sz="1250" b="1" dirty="0">
                <a:solidFill>
                  <a:srgbClr val="1A2535"/>
                </a:solidFill>
                <a:latin typeface="Calibri" panose="020F0502020204030204" pitchFamily="34" charset="0"/>
                <a:ea typeface="Calibri" panose="020F0502020204030204" pitchFamily="34" charset="-122"/>
                <a:cs typeface="Calibri" panose="020F0502020204030204" pitchFamily="34" charset="-120"/>
              </a:rPr>
              <a:t>Star Schema</a:t>
            </a:r>
            <a:endParaRPr lang="en-US" sz="1250" dirty="0"/>
          </a:p>
        </p:txBody>
      </p:sp>
      <p:sp>
        <p:nvSpPr>
          <p:cNvPr id="32" name="Text 26"/>
          <p:cNvSpPr/>
          <p:nvPr/>
        </p:nvSpPr>
        <p:spPr>
          <a:xfrm>
            <a:off x="402336" y="3913632"/>
            <a:ext cx="2487168" cy="640080"/>
          </a:xfrm>
          <a:prstGeom prst="rect">
            <a:avLst/>
          </a:prstGeom>
          <a:noFill/>
        </p:spPr>
        <p:txBody>
          <a:bodyPr wrap="square" lIns="0" tIns="0" rIns="0" bIns="0" rtlCol="0" anchor="ctr"/>
          <a:lstStyle/>
          <a:p>
            <a:pPr marL="0" indent="0">
              <a:buNone/>
            </a:pPr>
            <a:r>
              <a:rPr lang="en-US" sz="950" dirty="0">
                <a:solidFill>
                  <a:srgbClr val="7A8EA8"/>
                </a:solidFill>
                <a:latin typeface="Calibri" panose="020F0502020204030204" pitchFamily="34" charset="0"/>
                <a:ea typeface="Calibri" panose="020F0502020204030204" pitchFamily="34" charset="-122"/>
                <a:cs typeface="Calibri" panose="020F0502020204030204" pitchFamily="34" charset="-120"/>
              </a:rPr>
              <a:t>Dim &amp; Fact tables design</a:t>
            </a:r>
            <a:endParaRPr lang="en-US" sz="950" dirty="0"/>
          </a:p>
        </p:txBody>
      </p:sp>
      <p:sp>
        <p:nvSpPr>
          <p:cNvPr id="33" name="Shape 27"/>
          <p:cNvSpPr/>
          <p:nvPr/>
        </p:nvSpPr>
        <p:spPr>
          <a:xfrm>
            <a:off x="3154680" y="3017520"/>
            <a:ext cx="2743200" cy="1737360"/>
          </a:xfrm>
          <a:prstGeom prst="rect">
            <a:avLst/>
          </a:prstGeom>
          <a:solidFill>
            <a:srgbClr val="FFFFFF"/>
          </a:solidFill>
          <a:effectLst>
            <a:outerShdw blurRad="127000" dist="38100" dir="8100000" algn="bl" rotWithShape="0">
              <a:srgbClr val="000000">
                <a:alpha val="20000"/>
              </a:srgbClr>
            </a:outerShdw>
          </a:effectLst>
        </p:spPr>
      </p:sp>
      <p:sp>
        <p:nvSpPr>
          <p:cNvPr id="34" name="Shape 28"/>
          <p:cNvSpPr/>
          <p:nvPr/>
        </p:nvSpPr>
        <p:spPr>
          <a:xfrm>
            <a:off x="3154680" y="3017520"/>
            <a:ext cx="2743200" cy="109728"/>
          </a:xfrm>
          <a:prstGeom prst="rect">
            <a:avLst/>
          </a:prstGeom>
          <a:solidFill>
            <a:srgbClr val="29B5E8"/>
          </a:solidFill>
        </p:spPr>
      </p:sp>
      <p:sp>
        <p:nvSpPr>
          <p:cNvPr id="35" name="Shape 29"/>
          <p:cNvSpPr/>
          <p:nvPr/>
        </p:nvSpPr>
        <p:spPr>
          <a:xfrm>
            <a:off x="3291840" y="3246120"/>
            <a:ext cx="502920" cy="502920"/>
          </a:xfrm>
          <a:prstGeom prst="ellipse">
            <a:avLst/>
          </a:prstGeom>
          <a:solidFill>
            <a:srgbClr val="29B5E8">
              <a:alpha val="15000"/>
            </a:srgbClr>
          </a:solidFill>
          <a:ln w="12700">
            <a:solidFill>
              <a:srgbClr val="29B5E8"/>
            </a:solidFill>
            <a:prstDash val="solid"/>
          </a:ln>
        </p:spPr>
      </p:sp>
      <p:sp>
        <p:nvSpPr>
          <p:cNvPr id="36" name="Text 30"/>
          <p:cNvSpPr/>
          <p:nvPr/>
        </p:nvSpPr>
        <p:spPr>
          <a:xfrm>
            <a:off x="3291840" y="3246120"/>
            <a:ext cx="502920" cy="502920"/>
          </a:xfrm>
          <a:prstGeom prst="rect">
            <a:avLst/>
          </a:prstGeom>
          <a:noFill/>
        </p:spPr>
        <p:txBody>
          <a:bodyPr wrap="square" rtlCol="0" anchor="ctr"/>
          <a:lstStyle/>
          <a:p>
            <a:pPr marL="0" indent="0" algn="ctr">
              <a:buNone/>
            </a:pPr>
            <a:r>
              <a:rPr lang="en-US" sz="1400" b="1" dirty="0">
                <a:solidFill>
                  <a:srgbClr val="29B5E8"/>
                </a:solidFill>
                <a:latin typeface="Calibri" panose="020F0502020204030204" pitchFamily="34" charset="0"/>
                <a:ea typeface="Calibri" panose="020F0502020204030204" pitchFamily="34" charset="-122"/>
                <a:cs typeface="Calibri" panose="020F0502020204030204" pitchFamily="34" charset="-120"/>
              </a:rPr>
              <a:t>05</a:t>
            </a:r>
            <a:endParaRPr lang="en-US" sz="1400" dirty="0"/>
          </a:p>
        </p:txBody>
      </p:sp>
      <p:pic>
        <p:nvPicPr>
          <p:cNvPr id="37" name="Image 4" descr="preencoded.png"/>
          <p:cNvPicPr>
            <a:picLocks noChangeAspect="1"/>
          </p:cNvPicPr>
          <p:nvPr/>
        </p:nvPicPr>
        <p:blipFill>
          <a:blip r:embed="rId5"/>
          <a:stretch>
            <a:fillRect/>
          </a:stretch>
        </p:blipFill>
        <p:spPr>
          <a:xfrm>
            <a:off x="5394960" y="3218688"/>
            <a:ext cx="384048" cy="384048"/>
          </a:xfrm>
          <a:prstGeom prst="rect">
            <a:avLst/>
          </a:prstGeom>
        </p:spPr>
      </p:pic>
      <p:sp>
        <p:nvSpPr>
          <p:cNvPr id="38" name="Text 31"/>
          <p:cNvSpPr/>
          <p:nvPr/>
        </p:nvSpPr>
        <p:spPr>
          <a:xfrm>
            <a:off x="3904488" y="3291840"/>
            <a:ext cx="1463040" cy="347472"/>
          </a:xfrm>
          <a:prstGeom prst="rect">
            <a:avLst/>
          </a:prstGeom>
          <a:noFill/>
        </p:spPr>
        <p:txBody>
          <a:bodyPr wrap="square" lIns="0" tIns="0" rIns="0" bIns="0" rtlCol="0" anchor="ctr"/>
          <a:lstStyle/>
          <a:p>
            <a:pPr marL="0" indent="0">
              <a:buNone/>
            </a:pPr>
            <a:r>
              <a:rPr lang="en-US" sz="1250" b="1" dirty="0">
                <a:solidFill>
                  <a:srgbClr val="1A2535"/>
                </a:solidFill>
                <a:latin typeface="Calibri" panose="020F0502020204030204" pitchFamily="34" charset="0"/>
                <a:ea typeface="Calibri" panose="020F0502020204030204" pitchFamily="34" charset="-122"/>
                <a:cs typeface="Calibri" panose="020F0502020204030204" pitchFamily="34" charset="-120"/>
              </a:rPr>
              <a:t>Snowflake Load</a:t>
            </a:r>
            <a:endParaRPr lang="en-US" sz="1250" dirty="0"/>
          </a:p>
        </p:txBody>
      </p:sp>
      <p:sp>
        <p:nvSpPr>
          <p:cNvPr id="39" name="Text 32"/>
          <p:cNvSpPr/>
          <p:nvPr/>
        </p:nvSpPr>
        <p:spPr>
          <a:xfrm>
            <a:off x="3282696" y="3913632"/>
            <a:ext cx="2487168" cy="640080"/>
          </a:xfrm>
          <a:prstGeom prst="rect">
            <a:avLst/>
          </a:prstGeom>
          <a:noFill/>
        </p:spPr>
        <p:txBody>
          <a:bodyPr wrap="square" lIns="0" tIns="0" rIns="0" bIns="0" rtlCol="0" anchor="ctr"/>
          <a:lstStyle/>
          <a:p>
            <a:pPr marL="0" indent="0">
              <a:buNone/>
            </a:pPr>
            <a:r>
              <a:rPr lang="en-US" sz="950" dirty="0">
                <a:solidFill>
                  <a:srgbClr val="7A8EA8"/>
                </a:solidFill>
                <a:latin typeface="Calibri" panose="020F0502020204030204" pitchFamily="34" charset="0"/>
                <a:ea typeface="Calibri" panose="020F0502020204030204" pitchFamily="34" charset="-122"/>
                <a:cs typeface="Calibri" panose="020F0502020204030204" pitchFamily="34" charset="-120"/>
              </a:rPr>
              <a:t>Data warehouse ingestion</a:t>
            </a:r>
            <a:endParaRPr lang="en-US" sz="950" dirty="0"/>
          </a:p>
        </p:txBody>
      </p:sp>
      <p:sp>
        <p:nvSpPr>
          <p:cNvPr id="40" name="Shape 33"/>
          <p:cNvSpPr/>
          <p:nvPr/>
        </p:nvSpPr>
        <p:spPr>
          <a:xfrm>
            <a:off x="6035040" y="3017520"/>
            <a:ext cx="2743200" cy="1737360"/>
          </a:xfrm>
          <a:prstGeom prst="rect">
            <a:avLst/>
          </a:prstGeom>
          <a:solidFill>
            <a:srgbClr val="FFFFFF"/>
          </a:solidFill>
          <a:effectLst>
            <a:outerShdw blurRad="127000" dist="38100" dir="8100000" algn="bl" rotWithShape="0">
              <a:srgbClr val="000000">
                <a:alpha val="20000"/>
              </a:srgbClr>
            </a:outerShdw>
          </a:effectLst>
        </p:spPr>
      </p:sp>
      <p:sp>
        <p:nvSpPr>
          <p:cNvPr id="41" name="Shape 34"/>
          <p:cNvSpPr/>
          <p:nvPr/>
        </p:nvSpPr>
        <p:spPr>
          <a:xfrm>
            <a:off x="6035040" y="3017520"/>
            <a:ext cx="2743200" cy="109728"/>
          </a:xfrm>
          <a:prstGeom prst="rect">
            <a:avLst/>
          </a:prstGeom>
          <a:solidFill>
            <a:srgbClr val="00D4AA"/>
          </a:solidFill>
        </p:spPr>
      </p:sp>
      <p:sp>
        <p:nvSpPr>
          <p:cNvPr id="42" name="Shape 35"/>
          <p:cNvSpPr/>
          <p:nvPr/>
        </p:nvSpPr>
        <p:spPr>
          <a:xfrm>
            <a:off x="6172200" y="3246120"/>
            <a:ext cx="502920" cy="502920"/>
          </a:xfrm>
          <a:prstGeom prst="ellipse">
            <a:avLst/>
          </a:prstGeom>
          <a:solidFill>
            <a:srgbClr val="00D4AA">
              <a:alpha val="15000"/>
            </a:srgbClr>
          </a:solidFill>
          <a:ln w="12700">
            <a:solidFill>
              <a:srgbClr val="00D4AA"/>
            </a:solidFill>
            <a:prstDash val="solid"/>
          </a:ln>
        </p:spPr>
      </p:sp>
      <p:sp>
        <p:nvSpPr>
          <p:cNvPr id="43" name="Text 36"/>
          <p:cNvSpPr/>
          <p:nvPr/>
        </p:nvSpPr>
        <p:spPr>
          <a:xfrm>
            <a:off x="6172200" y="3246120"/>
            <a:ext cx="502920" cy="502920"/>
          </a:xfrm>
          <a:prstGeom prst="rect">
            <a:avLst/>
          </a:prstGeom>
          <a:noFill/>
        </p:spPr>
        <p:txBody>
          <a:bodyPr wrap="square" rtlCol="0" anchor="ctr"/>
          <a:lstStyle/>
          <a:p>
            <a:pPr marL="0" indent="0" algn="ctr">
              <a:buNone/>
            </a:pPr>
            <a:r>
              <a:rPr lang="en-US" sz="1400" b="1" dirty="0">
                <a:solidFill>
                  <a:srgbClr val="00D4AA"/>
                </a:solidFill>
                <a:latin typeface="Calibri" panose="020F0502020204030204" pitchFamily="34" charset="0"/>
                <a:ea typeface="Calibri" panose="020F0502020204030204" pitchFamily="34" charset="-122"/>
                <a:cs typeface="Calibri" panose="020F0502020204030204" pitchFamily="34" charset="-120"/>
              </a:rPr>
              <a:t>06</a:t>
            </a:r>
            <a:endParaRPr lang="en-US" sz="1400" dirty="0"/>
          </a:p>
        </p:txBody>
      </p:sp>
      <p:pic>
        <p:nvPicPr>
          <p:cNvPr id="44" name="Image 5" descr="preencoded.png"/>
          <p:cNvPicPr>
            <a:picLocks noChangeAspect="1"/>
          </p:cNvPicPr>
          <p:nvPr/>
        </p:nvPicPr>
        <p:blipFill>
          <a:blip r:embed="rId6"/>
          <a:stretch>
            <a:fillRect/>
          </a:stretch>
        </p:blipFill>
        <p:spPr>
          <a:xfrm>
            <a:off x="8275320" y="3218688"/>
            <a:ext cx="384048" cy="384048"/>
          </a:xfrm>
          <a:prstGeom prst="rect">
            <a:avLst/>
          </a:prstGeom>
        </p:spPr>
      </p:pic>
      <p:sp>
        <p:nvSpPr>
          <p:cNvPr id="45" name="Text 37"/>
          <p:cNvSpPr/>
          <p:nvPr/>
        </p:nvSpPr>
        <p:spPr>
          <a:xfrm>
            <a:off x="6784848" y="3291840"/>
            <a:ext cx="1463040" cy="347472"/>
          </a:xfrm>
          <a:prstGeom prst="rect">
            <a:avLst/>
          </a:prstGeom>
          <a:noFill/>
        </p:spPr>
        <p:txBody>
          <a:bodyPr wrap="square" lIns="0" tIns="0" rIns="0" bIns="0" rtlCol="0" anchor="ctr"/>
          <a:lstStyle/>
          <a:p>
            <a:pPr marL="0" indent="0">
              <a:buNone/>
            </a:pPr>
            <a:r>
              <a:rPr lang="en-US" sz="1250" b="1" dirty="0">
                <a:solidFill>
                  <a:srgbClr val="1A2535"/>
                </a:solidFill>
                <a:latin typeface="Calibri" panose="020F0502020204030204" pitchFamily="34" charset="0"/>
                <a:ea typeface="Calibri" panose="020F0502020204030204" pitchFamily="34" charset="-122"/>
                <a:cs typeface="Calibri" panose="020F0502020204030204" pitchFamily="34" charset="-120"/>
              </a:rPr>
              <a:t>Dashboard</a:t>
            </a:r>
            <a:endParaRPr lang="en-US" sz="1250" dirty="0"/>
          </a:p>
        </p:txBody>
      </p:sp>
      <p:sp>
        <p:nvSpPr>
          <p:cNvPr id="46" name="Text 38"/>
          <p:cNvSpPr/>
          <p:nvPr/>
        </p:nvSpPr>
        <p:spPr>
          <a:xfrm>
            <a:off x="6163056" y="3913632"/>
            <a:ext cx="2487168" cy="640080"/>
          </a:xfrm>
          <a:prstGeom prst="rect">
            <a:avLst/>
          </a:prstGeom>
          <a:noFill/>
        </p:spPr>
        <p:txBody>
          <a:bodyPr wrap="square" lIns="0" tIns="0" rIns="0" bIns="0" rtlCol="0" anchor="ctr"/>
          <a:lstStyle/>
          <a:p>
            <a:pPr marL="0" indent="0">
              <a:buNone/>
            </a:pPr>
            <a:r>
              <a:rPr lang="en-US" sz="950" dirty="0">
                <a:solidFill>
                  <a:srgbClr val="7A8EA8"/>
                </a:solidFill>
                <a:latin typeface="Calibri" panose="020F0502020204030204" pitchFamily="34" charset="0"/>
                <a:ea typeface="Calibri" panose="020F0502020204030204" pitchFamily="34" charset="-122"/>
                <a:cs typeface="Calibri" panose="020F0502020204030204" pitchFamily="34" charset="-120"/>
              </a:rPr>
              <a:t>Streamlit OTT &amp; Movies analytics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0D4AA"/>
          </a:solidFill>
        </p:spPr>
      </p:sp>
      <p:sp>
        <p:nvSpPr>
          <p:cNvPr id="3" name="Shape 1"/>
          <p:cNvSpPr/>
          <p:nvPr/>
        </p:nvSpPr>
        <p:spPr>
          <a:xfrm>
            <a:off x="201168" y="0"/>
            <a:ext cx="8942832" cy="777240"/>
          </a:xfrm>
          <a:prstGeom prst="rect">
            <a:avLst/>
          </a:prstGeom>
          <a:solidFill>
            <a:srgbClr val="0F2240"/>
          </a:solidFill>
        </p:spPr>
      </p:sp>
      <p:sp>
        <p:nvSpPr>
          <p:cNvPr id="4" name="Text 2"/>
          <p:cNvSpPr/>
          <p:nvPr/>
        </p:nvSpPr>
        <p:spPr>
          <a:xfrm>
            <a:off x="457200" y="0"/>
            <a:ext cx="8229600" cy="777240"/>
          </a:xfrm>
          <a:prstGeom prst="rect">
            <a:avLst/>
          </a:prstGeom>
          <a:noFill/>
        </p:spPr>
        <p:txBody>
          <a:bodyPr wrap="square" lIns="0" tIns="0" rIns="0" bIns="0" rtlCol="0" anchor="ctr"/>
          <a:lstStyle/>
          <a:p>
            <a:pPr marL="0" indent="0">
              <a:buNone/>
            </a:pPr>
            <a:r>
              <a:rPr lang="en-IN" altLang="en-US" sz="2400" b="1" dirty="0">
                <a:solidFill>
                  <a:srgbClr val="FFFFFF"/>
                </a:solidFill>
                <a:latin typeface="Calibri" panose="020F0502020204030204" pitchFamily="34" charset="0"/>
              </a:rPr>
              <a:t>TECH STACK</a:t>
            </a:r>
            <a:endParaRPr lang="en-IN" altLang="en-US" sz="2400" b="1" dirty="0">
              <a:solidFill>
                <a:srgbClr val="FFFFFF"/>
              </a:solidFill>
              <a:latin typeface="Calibri" panose="020F0502020204030204" pitchFamily="34" charset="0"/>
            </a:endParaRPr>
          </a:p>
        </p:txBody>
      </p:sp>
      <p:sp>
        <p:nvSpPr>
          <p:cNvPr id="6" name="Shape 3"/>
          <p:cNvSpPr/>
          <p:nvPr/>
        </p:nvSpPr>
        <p:spPr>
          <a:xfrm>
            <a:off x="274320" y="937895"/>
            <a:ext cx="8696960" cy="3840480"/>
          </a:xfrm>
          <a:prstGeom prst="rect">
            <a:avLst/>
          </a:prstGeom>
          <a:solidFill>
            <a:srgbClr val="0F2240"/>
          </a:solidFill>
          <a:effectLst>
            <a:outerShdw blurRad="127000" dist="38100" dir="8100000" algn="bl" rotWithShape="0">
              <a:srgbClr val="000000">
                <a:alpha val="20000"/>
              </a:srgbClr>
            </a:outerShdw>
          </a:effectLst>
        </p:spPr>
        <p:txBody>
          <a:bodyPr/>
          <a:p>
            <a:pPr marL="342900" indent="-342900" algn="just">
              <a:buFont typeface="Arial" panose="020B0604020202020204" pitchFamily="34" charset="0"/>
              <a:buChar char="•"/>
            </a:pPr>
            <a:r>
              <a:rPr lang="en-IN" altLang="en-US" b="1">
                <a:solidFill>
                  <a:schemeClr val="bg1"/>
                </a:solidFill>
                <a:latin typeface="Times New Roman" panose="02020603050405020304" charset="0"/>
                <a:cs typeface="Times New Roman" panose="02020603050405020304" charset="0"/>
              </a:rPr>
              <a:t>PySpark</a:t>
            </a:r>
            <a:endParaRPr lang="en-US" altLang="en-US" b="1">
              <a:solidFill>
                <a:schemeClr val="bg1"/>
              </a:solidFill>
              <a:latin typeface="Times New Roman" panose="02020603050405020304" charset="0"/>
              <a:cs typeface="Times New Roman" panose="02020603050405020304" charset="0"/>
            </a:endParaRPr>
          </a:p>
          <a:p>
            <a:pPr indent="0" algn="just">
              <a:buFont typeface="Arial" panose="020B0604020202020204" pitchFamily="34" charset="0"/>
              <a:buNone/>
            </a:pPr>
            <a:endParaRPr lang="en-US" altLang="en-US" b="1">
              <a:solidFill>
                <a:schemeClr val="bg1"/>
              </a:solidFill>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IN" altLang="en-US" b="1">
                <a:solidFill>
                  <a:schemeClr val="bg1"/>
                </a:solidFill>
                <a:latin typeface="Times New Roman" panose="02020603050405020304" charset="0"/>
                <a:cs typeface="Times New Roman" panose="02020603050405020304" charset="0"/>
              </a:rPr>
              <a:t>AWS S3</a:t>
            </a:r>
            <a:endParaRPr lang="en-US" altLang="en-US" b="1">
              <a:solidFill>
                <a:schemeClr val="bg1"/>
              </a:solidFill>
              <a:latin typeface="Times New Roman" panose="02020603050405020304" charset="0"/>
              <a:cs typeface="Times New Roman" panose="02020603050405020304" charset="0"/>
            </a:endParaRPr>
          </a:p>
          <a:p>
            <a:pPr indent="0" algn="just">
              <a:buFont typeface="Arial" panose="020B0604020202020204" pitchFamily="34" charset="0"/>
              <a:buNone/>
            </a:pPr>
            <a:endParaRPr lang="en-US" altLang="en-US" b="1">
              <a:solidFill>
                <a:schemeClr val="bg1"/>
              </a:solidFill>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IN" altLang="en-US" b="1">
                <a:solidFill>
                  <a:schemeClr val="bg1"/>
                </a:solidFill>
                <a:latin typeface="Times New Roman" panose="02020603050405020304" charset="0"/>
                <a:cs typeface="Times New Roman" panose="02020603050405020304" charset="0"/>
              </a:rPr>
              <a:t>Airflow Orchestration</a:t>
            </a:r>
            <a:endParaRPr lang="en-US" altLang="en-US" b="1">
              <a:solidFill>
                <a:schemeClr val="bg1"/>
              </a:solidFill>
              <a:latin typeface="Times New Roman" panose="02020603050405020304" charset="0"/>
              <a:cs typeface="Times New Roman" panose="02020603050405020304" charset="0"/>
            </a:endParaRPr>
          </a:p>
          <a:p>
            <a:pPr indent="0" algn="just">
              <a:buFont typeface="Arial" panose="020B0604020202020204" pitchFamily="34" charset="0"/>
              <a:buNone/>
            </a:pPr>
            <a:endParaRPr lang="en-US" altLang="en-US" b="1">
              <a:solidFill>
                <a:schemeClr val="bg1"/>
              </a:solidFill>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IN" altLang="en-US" b="1">
                <a:solidFill>
                  <a:schemeClr val="bg1"/>
                </a:solidFill>
                <a:latin typeface="Times New Roman" panose="02020603050405020304" charset="0"/>
                <a:cs typeface="Times New Roman" panose="02020603050405020304" charset="0"/>
              </a:rPr>
              <a:t>Medallion Architecture</a:t>
            </a:r>
            <a:endParaRPr lang="en-US" altLang="en-US" b="1">
              <a:solidFill>
                <a:schemeClr val="bg1"/>
              </a:solidFill>
              <a:latin typeface="Times New Roman" panose="02020603050405020304" charset="0"/>
              <a:cs typeface="Times New Roman" panose="02020603050405020304" charset="0"/>
            </a:endParaRPr>
          </a:p>
          <a:p>
            <a:pPr indent="0" algn="just">
              <a:buFont typeface="Arial" panose="020B0604020202020204" pitchFamily="34" charset="0"/>
              <a:buNone/>
            </a:pPr>
            <a:endParaRPr lang="en-US" altLang="en-US" b="1">
              <a:solidFill>
                <a:schemeClr val="bg1"/>
              </a:solidFill>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IN" altLang="en-US" b="1">
                <a:solidFill>
                  <a:schemeClr val="bg1"/>
                </a:solidFill>
                <a:latin typeface="Times New Roman" panose="02020603050405020304" charset="0"/>
                <a:cs typeface="Times New Roman" panose="02020603050405020304" charset="0"/>
              </a:rPr>
              <a:t>Snowflake</a:t>
            </a:r>
            <a:endParaRPr lang="en-US" altLang="en-US" b="1">
              <a:solidFill>
                <a:schemeClr val="bg1"/>
              </a:solidFill>
              <a:latin typeface="Times New Roman" panose="02020603050405020304" charset="0"/>
              <a:cs typeface="Times New Roman" panose="02020603050405020304" charset="0"/>
            </a:endParaRPr>
          </a:p>
          <a:p>
            <a:pPr indent="0" algn="just">
              <a:buFont typeface="Arial" panose="020B0604020202020204" pitchFamily="34" charset="0"/>
              <a:buNone/>
            </a:pPr>
            <a:endParaRPr lang="en-US" altLang="en-US" b="1">
              <a:solidFill>
                <a:schemeClr val="bg1"/>
              </a:solidFill>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IN" altLang="en-US" b="1">
                <a:solidFill>
                  <a:schemeClr val="bg1"/>
                </a:solidFill>
                <a:latin typeface="Times New Roman" panose="02020603050405020304" charset="0"/>
                <a:cs typeface="Times New Roman" panose="02020603050405020304" charset="0"/>
              </a:rPr>
              <a:t>Streamlit</a:t>
            </a:r>
            <a:endParaRPr lang="en-IN" altLang="en-US" b="1">
              <a:solidFill>
                <a:schemeClr val="bg1"/>
              </a:solidFill>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4A9EFF"/>
          </a:solidFill>
        </p:spPr>
      </p:sp>
      <p:sp>
        <p:nvSpPr>
          <p:cNvPr id="3" name="Shape 1"/>
          <p:cNvSpPr/>
          <p:nvPr/>
        </p:nvSpPr>
        <p:spPr>
          <a:xfrm>
            <a:off x="201168" y="0"/>
            <a:ext cx="8942832" cy="777240"/>
          </a:xfrm>
          <a:prstGeom prst="rect">
            <a:avLst/>
          </a:prstGeom>
          <a:solidFill>
            <a:srgbClr val="0F2240"/>
          </a:solidFill>
        </p:spPr>
      </p:sp>
      <p:sp>
        <p:nvSpPr>
          <p:cNvPr id="4" name="Text 2"/>
          <p:cNvSpPr/>
          <p:nvPr/>
        </p:nvSpPr>
        <p:spPr>
          <a:xfrm>
            <a:off x="457200" y="0"/>
            <a:ext cx="6400800" cy="777240"/>
          </a:xfrm>
          <a:prstGeom prst="rect">
            <a:avLst/>
          </a:prstGeom>
          <a:noFill/>
        </p:spPr>
        <p:txBody>
          <a:bodyPr wrap="square" lIns="0" tIns="0" rIns="0" bIns="0" rtlCol="0" anchor="ctr"/>
          <a:lstStyle/>
          <a:p>
            <a:pPr marL="0" indent="0">
              <a:buNone/>
            </a:pPr>
            <a:r>
              <a:rPr lang="en-US" sz="2400" b="1" dirty="0">
                <a:solidFill>
                  <a:srgbClr val="FFFFFF"/>
                </a:solidFill>
                <a:latin typeface="Calibri" panose="020F0502020204030204" pitchFamily="34" charset="0"/>
                <a:ea typeface="Calibri" panose="020F0502020204030204" pitchFamily="34" charset="-122"/>
                <a:cs typeface="Calibri" panose="020F0502020204030204" pitchFamily="34" charset="-120"/>
              </a:rPr>
              <a:t>MEDALLION ARCHITECTURE</a:t>
            </a:r>
            <a:endParaRPr lang="en-US" sz="2400" dirty="0"/>
          </a:p>
        </p:txBody>
      </p:sp>
      <p:sp>
        <p:nvSpPr>
          <p:cNvPr id="5" name="Text 3"/>
          <p:cNvSpPr/>
          <p:nvPr/>
        </p:nvSpPr>
        <p:spPr>
          <a:xfrm>
            <a:off x="457200" y="457200"/>
            <a:ext cx="8229600" cy="310896"/>
          </a:xfrm>
          <a:prstGeom prst="rect">
            <a:avLst/>
          </a:prstGeom>
          <a:noFill/>
        </p:spPr>
        <p:txBody>
          <a:bodyPr wrap="square" lIns="0" tIns="0" rIns="0" bIns="0" rtlCol="0" anchor="ctr"/>
          <a:lstStyle/>
          <a:p>
            <a:pPr marL="0" indent="0">
              <a:buNone/>
            </a:pPr>
            <a:r>
              <a:rPr lang="en-US" sz="1100" dirty="0">
                <a:solidFill>
                  <a:srgbClr val="B0C4D8"/>
                </a:solidFill>
                <a:latin typeface="Calibri" panose="020F0502020204030204" pitchFamily="34" charset="0"/>
                <a:ea typeface="Calibri" panose="020F0502020204030204" pitchFamily="34" charset="-122"/>
                <a:cs typeface="Calibri" panose="020F0502020204030204" pitchFamily="34" charset="-120"/>
              </a:rPr>
              <a:t>AWS S3  ·  Bronze → Silver → Gold</a:t>
            </a:r>
            <a:endParaRPr lang="en-US" sz="1100" dirty="0"/>
          </a:p>
        </p:txBody>
      </p:sp>
      <p:sp>
        <p:nvSpPr>
          <p:cNvPr id="6" name="Shape 4"/>
          <p:cNvSpPr/>
          <p:nvPr/>
        </p:nvSpPr>
        <p:spPr>
          <a:xfrm>
            <a:off x="274320" y="914400"/>
            <a:ext cx="2852928" cy="4023360"/>
          </a:xfrm>
          <a:prstGeom prst="rect">
            <a:avLst/>
          </a:prstGeom>
          <a:solidFill>
            <a:srgbClr val="1A1005"/>
          </a:solidFill>
          <a:ln w="12700">
            <a:solidFill>
              <a:srgbClr val="CD7F32"/>
            </a:solidFill>
            <a:prstDash val="solid"/>
          </a:ln>
          <a:effectLst>
            <a:outerShdw blurRad="127000" dist="38100" dir="8100000" algn="bl" rotWithShape="0">
              <a:srgbClr val="000000">
                <a:alpha val="20000"/>
              </a:srgbClr>
            </a:outerShdw>
          </a:effectLst>
        </p:spPr>
      </p:sp>
      <p:sp>
        <p:nvSpPr>
          <p:cNvPr id="7" name="Shape 5"/>
          <p:cNvSpPr/>
          <p:nvPr/>
        </p:nvSpPr>
        <p:spPr>
          <a:xfrm>
            <a:off x="274320" y="914400"/>
            <a:ext cx="2852928" cy="749808"/>
          </a:xfrm>
          <a:prstGeom prst="rect">
            <a:avLst/>
          </a:prstGeom>
          <a:solidFill>
            <a:srgbClr val="CD7F32"/>
          </a:solidFill>
        </p:spPr>
      </p:sp>
      <p:sp>
        <p:nvSpPr>
          <p:cNvPr id="8" name="Text 6"/>
          <p:cNvSpPr/>
          <p:nvPr/>
        </p:nvSpPr>
        <p:spPr>
          <a:xfrm>
            <a:off x="365760" y="950976"/>
            <a:ext cx="2194560" cy="384048"/>
          </a:xfrm>
          <a:prstGeom prst="rect">
            <a:avLst/>
          </a:prstGeom>
          <a:noFill/>
        </p:spPr>
        <p:txBody>
          <a:bodyPr wrap="square" lIns="0" tIns="0" rIns="0" bIns="0" rtlCol="0" anchor="ctr"/>
          <a:lstStyle/>
          <a:p>
            <a:pPr marL="0" indent="0">
              <a:buNone/>
            </a:pPr>
            <a:r>
              <a:rPr lang="en-US" sz="1800" b="1" dirty="0">
                <a:solidFill>
                  <a:srgbClr val="0A1628"/>
                </a:solidFill>
                <a:latin typeface="Calibri" panose="020F0502020204030204" pitchFamily="34" charset="0"/>
                <a:ea typeface="Calibri" panose="020F0502020204030204" pitchFamily="34" charset="-122"/>
                <a:cs typeface="Calibri" panose="020F0502020204030204" pitchFamily="34" charset="-120"/>
              </a:rPr>
              <a:t>BRONZE</a:t>
            </a:r>
            <a:endParaRPr lang="en-US" sz="1800" dirty="0"/>
          </a:p>
        </p:txBody>
      </p:sp>
      <p:sp>
        <p:nvSpPr>
          <p:cNvPr id="9" name="Text 7"/>
          <p:cNvSpPr/>
          <p:nvPr/>
        </p:nvSpPr>
        <p:spPr>
          <a:xfrm>
            <a:off x="365760" y="1353312"/>
            <a:ext cx="2194560" cy="256032"/>
          </a:xfrm>
          <a:prstGeom prst="rect">
            <a:avLst/>
          </a:prstGeom>
          <a:noFill/>
        </p:spPr>
        <p:txBody>
          <a:bodyPr wrap="square" lIns="0" tIns="0" rIns="0" bIns="0" rtlCol="0" anchor="ctr"/>
          <a:lstStyle/>
          <a:p>
            <a:pPr marL="0" indent="0">
              <a:buNone/>
            </a:pPr>
            <a:r>
              <a:rPr lang="en-US" sz="950" dirty="0">
                <a:solidFill>
                  <a:srgbClr val="0A1628"/>
                </a:solidFill>
                <a:latin typeface="Calibri" panose="020F0502020204030204" pitchFamily="34" charset="0"/>
                <a:ea typeface="Calibri" panose="020F0502020204030204" pitchFamily="34" charset="-122"/>
                <a:cs typeface="Calibri" panose="020F0502020204030204" pitchFamily="34" charset="-120"/>
              </a:rPr>
              <a:t>Raw Ingestion</a:t>
            </a:r>
            <a:endParaRPr lang="en-US" sz="950" dirty="0"/>
          </a:p>
        </p:txBody>
      </p:sp>
      <p:pic>
        <p:nvPicPr>
          <p:cNvPr id="10" name="Image 0" descr="preencoded.png"/>
          <p:cNvPicPr>
            <a:picLocks noChangeAspect="1"/>
          </p:cNvPicPr>
          <p:nvPr/>
        </p:nvPicPr>
        <p:blipFill>
          <a:blip r:embed="rId1"/>
          <a:stretch>
            <a:fillRect/>
          </a:stretch>
        </p:blipFill>
        <p:spPr>
          <a:xfrm>
            <a:off x="2670048" y="969264"/>
            <a:ext cx="402336" cy="402336"/>
          </a:xfrm>
          <a:prstGeom prst="rect">
            <a:avLst/>
          </a:prstGeom>
        </p:spPr>
      </p:pic>
      <p:sp>
        <p:nvSpPr>
          <p:cNvPr id="11" name="Shape 8"/>
          <p:cNvSpPr/>
          <p:nvPr/>
        </p:nvSpPr>
        <p:spPr>
          <a:xfrm>
            <a:off x="1444752" y="1783080"/>
            <a:ext cx="502920" cy="502920"/>
          </a:xfrm>
          <a:prstGeom prst="ellipse">
            <a:avLst/>
          </a:prstGeom>
          <a:solidFill>
            <a:srgbClr val="CD7F32">
              <a:alpha val="80000"/>
            </a:srgbClr>
          </a:solidFill>
        </p:spPr>
      </p:sp>
      <p:sp>
        <p:nvSpPr>
          <p:cNvPr id="12" name="Text 9"/>
          <p:cNvSpPr/>
          <p:nvPr/>
        </p:nvSpPr>
        <p:spPr>
          <a:xfrm>
            <a:off x="1444752" y="1783080"/>
            <a:ext cx="502920" cy="502920"/>
          </a:xfrm>
          <a:prstGeom prst="rect">
            <a:avLst/>
          </a:prstGeom>
          <a:noFill/>
        </p:spPr>
        <p:txBody>
          <a:bodyPr wrap="square" rtlCol="0" anchor="ctr"/>
          <a:lstStyle/>
          <a:p>
            <a:pPr marL="0" indent="0" algn="ctr">
              <a:buNone/>
            </a:pPr>
            <a:r>
              <a:rPr lang="en-US" sz="1600" b="1" dirty="0">
                <a:solidFill>
                  <a:srgbClr val="0A1628"/>
                </a:solidFill>
                <a:latin typeface="Calibri" panose="020F0502020204030204" pitchFamily="34" charset="0"/>
                <a:ea typeface="Calibri" panose="020F0502020204030204" pitchFamily="34" charset="-122"/>
                <a:cs typeface="Calibri" panose="020F0502020204030204" pitchFamily="34" charset="-120"/>
              </a:rPr>
              <a:t>1</a:t>
            </a:r>
            <a:endParaRPr lang="en-US" sz="1600" dirty="0"/>
          </a:p>
        </p:txBody>
      </p:sp>
      <p:sp>
        <p:nvSpPr>
          <p:cNvPr id="13" name="Shape 10"/>
          <p:cNvSpPr/>
          <p:nvPr/>
        </p:nvSpPr>
        <p:spPr>
          <a:xfrm>
            <a:off x="384048" y="2423160"/>
            <a:ext cx="2633472" cy="530352"/>
          </a:xfrm>
          <a:prstGeom prst="rect">
            <a:avLst/>
          </a:prstGeom>
          <a:solidFill>
            <a:srgbClr val="FFFFFF">
              <a:alpha val="6000"/>
            </a:srgbClr>
          </a:solidFill>
        </p:spPr>
      </p:sp>
      <p:pic>
        <p:nvPicPr>
          <p:cNvPr id="14" name="Image 1" descr="preencoded.png"/>
          <p:cNvPicPr>
            <a:picLocks noChangeAspect="1"/>
          </p:cNvPicPr>
          <p:nvPr/>
        </p:nvPicPr>
        <p:blipFill>
          <a:blip r:embed="rId2"/>
          <a:stretch>
            <a:fillRect/>
          </a:stretch>
        </p:blipFill>
        <p:spPr>
          <a:xfrm>
            <a:off x="438912" y="2578608"/>
            <a:ext cx="201168" cy="201168"/>
          </a:xfrm>
          <a:prstGeom prst="rect">
            <a:avLst/>
          </a:prstGeom>
        </p:spPr>
      </p:pic>
      <p:sp>
        <p:nvSpPr>
          <p:cNvPr id="15" name="Text 11"/>
          <p:cNvSpPr/>
          <p:nvPr/>
        </p:nvSpPr>
        <p:spPr>
          <a:xfrm>
            <a:off x="694944" y="2496312"/>
            <a:ext cx="2286000" cy="384048"/>
          </a:xfrm>
          <a:prstGeom prst="rect">
            <a:avLst/>
          </a:prstGeom>
          <a:noFill/>
        </p:spPr>
        <p:txBody>
          <a:bodyPr wrap="square" lIns="0" tIns="0" rIns="0" bIns="0" rtlCol="0" anchor="ctr"/>
          <a:lstStyle/>
          <a:p>
            <a:pPr marL="0" indent="0">
              <a:buNone/>
            </a:pPr>
            <a:r>
              <a:rPr lang="en-US" sz="850" dirty="0">
                <a:solidFill>
                  <a:srgbClr val="B0C4D8"/>
                </a:solidFill>
                <a:latin typeface="Calibri" panose="020F0502020204030204" pitchFamily="34" charset="0"/>
                <a:ea typeface="Calibri" panose="020F0502020204030204" pitchFamily="34" charset="-122"/>
                <a:cs typeface="Calibri" panose="020F0502020204030204" pitchFamily="34" charset="-120"/>
              </a:rPr>
              <a:t>S3: movie-analytics-platform-data</a:t>
            </a:r>
            <a:endParaRPr lang="en-US" sz="850" dirty="0"/>
          </a:p>
        </p:txBody>
      </p:sp>
      <p:sp>
        <p:nvSpPr>
          <p:cNvPr id="16" name="Shape 12"/>
          <p:cNvSpPr/>
          <p:nvPr/>
        </p:nvSpPr>
        <p:spPr>
          <a:xfrm>
            <a:off x="384048" y="3035808"/>
            <a:ext cx="2633472" cy="530352"/>
          </a:xfrm>
          <a:prstGeom prst="rect">
            <a:avLst/>
          </a:prstGeom>
          <a:solidFill>
            <a:srgbClr val="FFFFFF">
              <a:alpha val="6000"/>
            </a:srgbClr>
          </a:solidFill>
        </p:spPr>
      </p:sp>
      <p:pic>
        <p:nvPicPr>
          <p:cNvPr id="17" name="Image 2" descr="preencoded.png"/>
          <p:cNvPicPr>
            <a:picLocks noChangeAspect="1"/>
          </p:cNvPicPr>
          <p:nvPr/>
        </p:nvPicPr>
        <p:blipFill>
          <a:blip r:embed="rId2"/>
          <a:stretch>
            <a:fillRect/>
          </a:stretch>
        </p:blipFill>
        <p:spPr>
          <a:xfrm>
            <a:off x="438912" y="3191256"/>
            <a:ext cx="201168" cy="201168"/>
          </a:xfrm>
          <a:prstGeom prst="rect">
            <a:avLst/>
          </a:prstGeom>
        </p:spPr>
      </p:pic>
      <p:sp>
        <p:nvSpPr>
          <p:cNvPr id="18" name="Text 13"/>
          <p:cNvSpPr/>
          <p:nvPr/>
        </p:nvSpPr>
        <p:spPr>
          <a:xfrm>
            <a:off x="694944" y="3108960"/>
            <a:ext cx="2286000" cy="384048"/>
          </a:xfrm>
          <a:prstGeom prst="rect">
            <a:avLst/>
          </a:prstGeom>
          <a:noFill/>
        </p:spPr>
        <p:txBody>
          <a:bodyPr wrap="square" lIns="0" tIns="0" rIns="0" bIns="0" rtlCol="0" anchor="ctr"/>
          <a:lstStyle/>
          <a:p>
            <a:pPr marL="0" indent="0">
              <a:buNone/>
            </a:pPr>
            <a:r>
              <a:rPr lang="en-US" sz="850" dirty="0">
                <a:solidFill>
                  <a:srgbClr val="B0C4D8"/>
                </a:solidFill>
                <a:latin typeface="Calibri" panose="020F0502020204030204" pitchFamily="34" charset="0"/>
                <a:ea typeface="Calibri" panose="020F0502020204030204" pitchFamily="34" charset="-122"/>
                <a:cs typeface="Calibri" panose="020F0502020204030204" pitchFamily="34" charset="-120"/>
              </a:rPr>
              <a:t>6 CSV files: raw1/ → bronze1/</a:t>
            </a:r>
            <a:endParaRPr lang="en-US" sz="850" dirty="0"/>
          </a:p>
        </p:txBody>
      </p:sp>
      <p:sp>
        <p:nvSpPr>
          <p:cNvPr id="19" name="Shape 14"/>
          <p:cNvSpPr/>
          <p:nvPr/>
        </p:nvSpPr>
        <p:spPr>
          <a:xfrm>
            <a:off x="384048" y="3648456"/>
            <a:ext cx="2633472" cy="530352"/>
          </a:xfrm>
          <a:prstGeom prst="rect">
            <a:avLst/>
          </a:prstGeom>
          <a:solidFill>
            <a:srgbClr val="FFFFFF">
              <a:alpha val="6000"/>
            </a:srgbClr>
          </a:solidFill>
        </p:spPr>
      </p:sp>
      <p:pic>
        <p:nvPicPr>
          <p:cNvPr id="20" name="Image 3" descr="preencoded.png"/>
          <p:cNvPicPr>
            <a:picLocks noChangeAspect="1"/>
          </p:cNvPicPr>
          <p:nvPr/>
        </p:nvPicPr>
        <p:blipFill>
          <a:blip r:embed="rId2"/>
          <a:stretch>
            <a:fillRect/>
          </a:stretch>
        </p:blipFill>
        <p:spPr>
          <a:xfrm>
            <a:off x="438912" y="3803904"/>
            <a:ext cx="201168" cy="201168"/>
          </a:xfrm>
          <a:prstGeom prst="rect">
            <a:avLst/>
          </a:prstGeom>
        </p:spPr>
      </p:pic>
      <p:sp>
        <p:nvSpPr>
          <p:cNvPr id="21" name="Text 15"/>
          <p:cNvSpPr/>
          <p:nvPr/>
        </p:nvSpPr>
        <p:spPr>
          <a:xfrm>
            <a:off x="694944" y="3721608"/>
            <a:ext cx="2286000" cy="384048"/>
          </a:xfrm>
          <a:prstGeom prst="rect">
            <a:avLst/>
          </a:prstGeom>
          <a:noFill/>
        </p:spPr>
        <p:txBody>
          <a:bodyPr wrap="square" lIns="0" tIns="0" rIns="0" bIns="0" rtlCol="0" anchor="ctr"/>
          <a:lstStyle/>
          <a:p>
            <a:pPr marL="0" indent="0">
              <a:buNone/>
            </a:pPr>
            <a:r>
              <a:rPr lang="en-US" sz="850" dirty="0">
                <a:solidFill>
                  <a:srgbClr val="B0C4D8"/>
                </a:solidFill>
                <a:latin typeface="Calibri" panose="020F0502020204030204" pitchFamily="34" charset="0"/>
                <a:ea typeface="Calibri" panose="020F0502020204030204" pitchFamily="34" charset="-122"/>
                <a:cs typeface="Calibri" panose="020F0502020204030204" pitchFamily="34" charset="-120"/>
              </a:rPr>
              <a:t>boto3.copy_object() — zero transform</a:t>
            </a:r>
            <a:endParaRPr lang="en-US" sz="850" dirty="0"/>
          </a:p>
        </p:txBody>
      </p:sp>
      <p:sp>
        <p:nvSpPr>
          <p:cNvPr id="22" name="Shape 16"/>
          <p:cNvSpPr/>
          <p:nvPr/>
        </p:nvSpPr>
        <p:spPr>
          <a:xfrm>
            <a:off x="384048" y="4261104"/>
            <a:ext cx="2633472" cy="530352"/>
          </a:xfrm>
          <a:prstGeom prst="rect">
            <a:avLst/>
          </a:prstGeom>
          <a:solidFill>
            <a:srgbClr val="FFFFFF">
              <a:alpha val="6000"/>
            </a:srgbClr>
          </a:solidFill>
        </p:spPr>
      </p:sp>
      <p:pic>
        <p:nvPicPr>
          <p:cNvPr id="23" name="Image 4" descr="preencoded.png"/>
          <p:cNvPicPr>
            <a:picLocks noChangeAspect="1"/>
          </p:cNvPicPr>
          <p:nvPr/>
        </p:nvPicPr>
        <p:blipFill>
          <a:blip r:embed="rId2"/>
          <a:stretch>
            <a:fillRect/>
          </a:stretch>
        </p:blipFill>
        <p:spPr>
          <a:xfrm>
            <a:off x="438912" y="4416552"/>
            <a:ext cx="201168" cy="201168"/>
          </a:xfrm>
          <a:prstGeom prst="rect">
            <a:avLst/>
          </a:prstGeom>
        </p:spPr>
      </p:pic>
      <p:sp>
        <p:nvSpPr>
          <p:cNvPr id="24" name="Text 17"/>
          <p:cNvSpPr/>
          <p:nvPr/>
        </p:nvSpPr>
        <p:spPr>
          <a:xfrm>
            <a:off x="694944" y="4334256"/>
            <a:ext cx="2286000" cy="384048"/>
          </a:xfrm>
          <a:prstGeom prst="rect">
            <a:avLst/>
          </a:prstGeom>
          <a:noFill/>
        </p:spPr>
        <p:txBody>
          <a:bodyPr wrap="square" lIns="0" tIns="0" rIns="0" bIns="0" rtlCol="0" anchor="ctr"/>
          <a:lstStyle/>
          <a:p>
            <a:pPr marL="0" indent="0">
              <a:buNone/>
            </a:pPr>
            <a:r>
              <a:rPr lang="en-US" sz="850" dirty="0">
                <a:solidFill>
                  <a:srgbClr val="B0C4D8"/>
                </a:solidFill>
                <a:latin typeface="Calibri" panose="020F0502020204030204" pitchFamily="34" charset="0"/>
                <a:ea typeface="Calibri" panose="020F0502020204030204" pitchFamily="34" charset="-122"/>
                <a:cs typeface="Calibri" panose="020F0502020204030204" pitchFamily="34" charset="-120"/>
              </a:rPr>
              <a:t>Preserves exact source fidelity</a:t>
            </a:r>
            <a:endParaRPr lang="en-US" sz="850" dirty="0"/>
          </a:p>
        </p:txBody>
      </p:sp>
      <p:sp>
        <p:nvSpPr>
          <p:cNvPr id="25" name="Shape 18"/>
          <p:cNvSpPr/>
          <p:nvPr/>
        </p:nvSpPr>
        <p:spPr>
          <a:xfrm>
            <a:off x="3127248" y="2697480"/>
            <a:ext cx="411480" cy="411480"/>
          </a:xfrm>
          <a:prstGeom prst="ellipse">
            <a:avLst/>
          </a:prstGeom>
          <a:solidFill>
            <a:srgbClr val="FFFFFF">
              <a:alpha val="15000"/>
            </a:srgbClr>
          </a:solidFill>
        </p:spPr>
      </p:sp>
      <p:sp>
        <p:nvSpPr>
          <p:cNvPr id="26" name="Text 19"/>
          <p:cNvSpPr/>
          <p:nvPr/>
        </p:nvSpPr>
        <p:spPr>
          <a:xfrm>
            <a:off x="3127248" y="2606040"/>
            <a:ext cx="411480" cy="502920"/>
          </a:xfrm>
          <a:prstGeom prst="rect">
            <a:avLst/>
          </a:prstGeom>
          <a:noFill/>
        </p:spPr>
        <p:txBody>
          <a:bodyPr wrap="square" rtlCol="0" anchor="ctr"/>
          <a:lstStyle/>
          <a:p>
            <a:pPr marL="0" indent="0" algn="ctr">
              <a:buNone/>
            </a:pPr>
            <a:r>
              <a:rPr lang="en-US" sz="2200" dirty="0">
                <a:solidFill>
                  <a:srgbClr val="FFFFFF"/>
                </a:solidFill>
                <a:latin typeface="Calibri" panose="020F0502020204030204" pitchFamily="34" charset="0"/>
                <a:ea typeface="Calibri" panose="020F0502020204030204" pitchFamily="34" charset="-122"/>
                <a:cs typeface="Calibri" panose="020F0502020204030204" pitchFamily="34" charset="-120"/>
              </a:rPr>
              <a:t>→</a:t>
            </a:r>
            <a:endParaRPr lang="en-US" sz="2200" dirty="0"/>
          </a:p>
        </p:txBody>
      </p:sp>
      <p:sp>
        <p:nvSpPr>
          <p:cNvPr id="27" name="Shape 20"/>
          <p:cNvSpPr/>
          <p:nvPr/>
        </p:nvSpPr>
        <p:spPr>
          <a:xfrm>
            <a:off x="3264408" y="914400"/>
            <a:ext cx="2852928" cy="4023360"/>
          </a:xfrm>
          <a:prstGeom prst="rect">
            <a:avLst/>
          </a:prstGeom>
          <a:solidFill>
            <a:srgbClr val="071420"/>
          </a:solidFill>
          <a:ln w="12700">
            <a:solidFill>
              <a:srgbClr val="8AAFC0"/>
            </a:solidFill>
            <a:prstDash val="solid"/>
          </a:ln>
          <a:effectLst>
            <a:outerShdw blurRad="127000" dist="38100" dir="8100000" algn="bl" rotWithShape="0">
              <a:srgbClr val="000000">
                <a:alpha val="20000"/>
              </a:srgbClr>
            </a:outerShdw>
          </a:effectLst>
        </p:spPr>
      </p:sp>
      <p:sp>
        <p:nvSpPr>
          <p:cNvPr id="28" name="Shape 21"/>
          <p:cNvSpPr/>
          <p:nvPr/>
        </p:nvSpPr>
        <p:spPr>
          <a:xfrm>
            <a:off x="3264408" y="914400"/>
            <a:ext cx="2852928" cy="749808"/>
          </a:xfrm>
          <a:prstGeom prst="rect">
            <a:avLst/>
          </a:prstGeom>
          <a:solidFill>
            <a:srgbClr val="8AAFC0"/>
          </a:solidFill>
        </p:spPr>
      </p:sp>
      <p:sp>
        <p:nvSpPr>
          <p:cNvPr id="29" name="Text 22"/>
          <p:cNvSpPr/>
          <p:nvPr/>
        </p:nvSpPr>
        <p:spPr>
          <a:xfrm>
            <a:off x="3355848" y="950976"/>
            <a:ext cx="2194560" cy="384048"/>
          </a:xfrm>
          <a:prstGeom prst="rect">
            <a:avLst/>
          </a:prstGeom>
          <a:noFill/>
        </p:spPr>
        <p:txBody>
          <a:bodyPr wrap="square" lIns="0" tIns="0" rIns="0" bIns="0" rtlCol="0" anchor="ctr"/>
          <a:lstStyle/>
          <a:p>
            <a:pPr marL="0" indent="0">
              <a:buNone/>
            </a:pPr>
            <a:r>
              <a:rPr lang="en-US" sz="1800" b="1" dirty="0">
                <a:solidFill>
                  <a:srgbClr val="0A1628"/>
                </a:solidFill>
                <a:latin typeface="Calibri" panose="020F0502020204030204" pitchFamily="34" charset="0"/>
                <a:ea typeface="Calibri" panose="020F0502020204030204" pitchFamily="34" charset="-122"/>
                <a:cs typeface="Calibri" panose="020F0502020204030204" pitchFamily="34" charset="-120"/>
              </a:rPr>
              <a:t>SILVER</a:t>
            </a:r>
            <a:endParaRPr lang="en-US" sz="1800" dirty="0"/>
          </a:p>
        </p:txBody>
      </p:sp>
      <p:sp>
        <p:nvSpPr>
          <p:cNvPr id="30" name="Text 23"/>
          <p:cNvSpPr/>
          <p:nvPr/>
        </p:nvSpPr>
        <p:spPr>
          <a:xfrm>
            <a:off x="3355848" y="1353312"/>
            <a:ext cx="2194560" cy="256032"/>
          </a:xfrm>
          <a:prstGeom prst="rect">
            <a:avLst/>
          </a:prstGeom>
          <a:noFill/>
        </p:spPr>
        <p:txBody>
          <a:bodyPr wrap="square" lIns="0" tIns="0" rIns="0" bIns="0" rtlCol="0" anchor="ctr"/>
          <a:lstStyle/>
          <a:p>
            <a:pPr marL="0" indent="0">
              <a:buNone/>
            </a:pPr>
            <a:r>
              <a:rPr lang="en-US" sz="950" dirty="0">
                <a:solidFill>
                  <a:srgbClr val="0A1628"/>
                </a:solidFill>
                <a:latin typeface="Calibri" panose="020F0502020204030204" pitchFamily="34" charset="0"/>
                <a:ea typeface="Calibri" panose="020F0502020204030204" pitchFamily="34" charset="-122"/>
                <a:cs typeface="Calibri" panose="020F0502020204030204" pitchFamily="34" charset="-120"/>
              </a:rPr>
              <a:t>Cleaned, Standardized &amp; Star Schema</a:t>
            </a:r>
            <a:endParaRPr lang="en-US" sz="950" dirty="0"/>
          </a:p>
        </p:txBody>
      </p:sp>
      <p:pic>
        <p:nvPicPr>
          <p:cNvPr id="31" name="Image 5" descr="preencoded.png"/>
          <p:cNvPicPr>
            <a:picLocks noChangeAspect="1"/>
          </p:cNvPicPr>
          <p:nvPr/>
        </p:nvPicPr>
        <p:blipFill>
          <a:blip r:embed="rId3"/>
          <a:stretch>
            <a:fillRect/>
          </a:stretch>
        </p:blipFill>
        <p:spPr>
          <a:xfrm>
            <a:off x="5660136" y="969264"/>
            <a:ext cx="402336" cy="402336"/>
          </a:xfrm>
          <a:prstGeom prst="rect">
            <a:avLst/>
          </a:prstGeom>
        </p:spPr>
      </p:pic>
      <p:sp>
        <p:nvSpPr>
          <p:cNvPr id="32" name="Shape 24"/>
          <p:cNvSpPr/>
          <p:nvPr/>
        </p:nvSpPr>
        <p:spPr>
          <a:xfrm>
            <a:off x="4434840" y="1783080"/>
            <a:ext cx="502920" cy="502920"/>
          </a:xfrm>
          <a:prstGeom prst="ellipse">
            <a:avLst/>
          </a:prstGeom>
          <a:solidFill>
            <a:srgbClr val="8AAFC0">
              <a:alpha val="80000"/>
            </a:srgbClr>
          </a:solidFill>
        </p:spPr>
      </p:sp>
      <p:sp>
        <p:nvSpPr>
          <p:cNvPr id="33" name="Text 25"/>
          <p:cNvSpPr/>
          <p:nvPr/>
        </p:nvSpPr>
        <p:spPr>
          <a:xfrm>
            <a:off x="4434840" y="1783080"/>
            <a:ext cx="502920" cy="502920"/>
          </a:xfrm>
          <a:prstGeom prst="rect">
            <a:avLst/>
          </a:prstGeom>
          <a:noFill/>
        </p:spPr>
        <p:txBody>
          <a:bodyPr wrap="square" rtlCol="0" anchor="ctr"/>
          <a:lstStyle/>
          <a:p>
            <a:pPr marL="0" indent="0" algn="ctr">
              <a:buNone/>
            </a:pPr>
            <a:r>
              <a:rPr lang="en-US" sz="1600" b="1" dirty="0">
                <a:solidFill>
                  <a:srgbClr val="0A1628"/>
                </a:solidFill>
                <a:latin typeface="Calibri" panose="020F0502020204030204" pitchFamily="34" charset="0"/>
                <a:ea typeface="Calibri" panose="020F0502020204030204" pitchFamily="34" charset="-122"/>
                <a:cs typeface="Calibri" panose="020F0502020204030204" pitchFamily="34" charset="-120"/>
              </a:rPr>
              <a:t>2</a:t>
            </a:r>
            <a:endParaRPr lang="en-US" sz="1600" dirty="0"/>
          </a:p>
        </p:txBody>
      </p:sp>
      <p:sp>
        <p:nvSpPr>
          <p:cNvPr id="34" name="Shape 26"/>
          <p:cNvSpPr/>
          <p:nvPr/>
        </p:nvSpPr>
        <p:spPr>
          <a:xfrm>
            <a:off x="3374136" y="2423160"/>
            <a:ext cx="2633472" cy="530352"/>
          </a:xfrm>
          <a:prstGeom prst="rect">
            <a:avLst/>
          </a:prstGeom>
          <a:solidFill>
            <a:srgbClr val="FFFFFF">
              <a:alpha val="6000"/>
            </a:srgbClr>
          </a:solidFill>
        </p:spPr>
      </p:sp>
      <p:pic>
        <p:nvPicPr>
          <p:cNvPr id="35" name="Image 6" descr="preencoded.png"/>
          <p:cNvPicPr>
            <a:picLocks noChangeAspect="1"/>
          </p:cNvPicPr>
          <p:nvPr/>
        </p:nvPicPr>
        <p:blipFill>
          <a:blip r:embed="rId2"/>
          <a:stretch>
            <a:fillRect/>
          </a:stretch>
        </p:blipFill>
        <p:spPr>
          <a:xfrm>
            <a:off x="3429000" y="2578608"/>
            <a:ext cx="201168" cy="201168"/>
          </a:xfrm>
          <a:prstGeom prst="rect">
            <a:avLst/>
          </a:prstGeom>
        </p:spPr>
      </p:pic>
      <p:sp>
        <p:nvSpPr>
          <p:cNvPr id="36" name="Text 27"/>
          <p:cNvSpPr/>
          <p:nvPr/>
        </p:nvSpPr>
        <p:spPr>
          <a:xfrm>
            <a:off x="3685032" y="2496312"/>
            <a:ext cx="2286000" cy="384048"/>
          </a:xfrm>
          <a:prstGeom prst="rect">
            <a:avLst/>
          </a:prstGeom>
          <a:noFill/>
        </p:spPr>
        <p:txBody>
          <a:bodyPr wrap="square" lIns="0" tIns="0" rIns="0" bIns="0" rtlCol="0" anchor="ctr"/>
          <a:lstStyle/>
          <a:p>
            <a:pPr marL="0" indent="0">
              <a:buNone/>
            </a:pPr>
            <a:r>
              <a:rPr lang="en-US" sz="850" dirty="0">
                <a:solidFill>
                  <a:srgbClr val="B0C4D8"/>
                </a:solidFill>
                <a:latin typeface="Calibri" panose="020F0502020204030204" pitchFamily="34" charset="0"/>
                <a:ea typeface="Calibri" panose="020F0502020204030204" pitchFamily="34" charset="-122"/>
                <a:cs typeface="Calibri" panose="020F0502020204030204" pitchFamily="34" charset="-120"/>
              </a:rPr>
              <a:t>Column standardization &amp; null fills</a:t>
            </a:r>
            <a:endParaRPr lang="en-US" sz="850" dirty="0"/>
          </a:p>
        </p:txBody>
      </p:sp>
      <p:sp>
        <p:nvSpPr>
          <p:cNvPr id="37" name="Shape 28"/>
          <p:cNvSpPr/>
          <p:nvPr/>
        </p:nvSpPr>
        <p:spPr>
          <a:xfrm>
            <a:off x="3374136" y="3035808"/>
            <a:ext cx="2633472" cy="530352"/>
          </a:xfrm>
          <a:prstGeom prst="rect">
            <a:avLst/>
          </a:prstGeom>
          <a:solidFill>
            <a:srgbClr val="FFFFFF">
              <a:alpha val="6000"/>
            </a:srgbClr>
          </a:solidFill>
        </p:spPr>
      </p:sp>
      <p:pic>
        <p:nvPicPr>
          <p:cNvPr id="38" name="Image 7" descr="preencoded.png"/>
          <p:cNvPicPr>
            <a:picLocks noChangeAspect="1"/>
          </p:cNvPicPr>
          <p:nvPr/>
        </p:nvPicPr>
        <p:blipFill>
          <a:blip r:embed="rId2"/>
          <a:stretch>
            <a:fillRect/>
          </a:stretch>
        </p:blipFill>
        <p:spPr>
          <a:xfrm>
            <a:off x="3429000" y="3191256"/>
            <a:ext cx="201168" cy="201168"/>
          </a:xfrm>
          <a:prstGeom prst="rect">
            <a:avLst/>
          </a:prstGeom>
        </p:spPr>
      </p:pic>
      <p:sp>
        <p:nvSpPr>
          <p:cNvPr id="39" name="Text 29"/>
          <p:cNvSpPr/>
          <p:nvPr/>
        </p:nvSpPr>
        <p:spPr>
          <a:xfrm>
            <a:off x="3685032" y="3108960"/>
            <a:ext cx="2286000" cy="384048"/>
          </a:xfrm>
          <a:prstGeom prst="rect">
            <a:avLst/>
          </a:prstGeom>
          <a:noFill/>
        </p:spPr>
        <p:txBody>
          <a:bodyPr wrap="square" lIns="0" tIns="0" rIns="0" bIns="0" rtlCol="0" anchor="ctr"/>
          <a:lstStyle/>
          <a:p>
            <a:pPr marL="0" indent="0">
              <a:buNone/>
            </a:pPr>
            <a:r>
              <a:rPr lang="en-US" sz="850" dirty="0">
                <a:solidFill>
                  <a:srgbClr val="B0C4D8"/>
                </a:solidFill>
                <a:latin typeface="Calibri" panose="020F0502020204030204" pitchFamily="34" charset="0"/>
                <a:ea typeface="Calibri" panose="020F0502020204030204" pitchFamily="34" charset="-122"/>
                <a:cs typeface="Calibri" panose="020F0502020204030204" pitchFamily="34" charset="-120"/>
              </a:rPr>
              <a:t>OTT: Netflix, Amazon, Disney, Movies</a:t>
            </a:r>
            <a:endParaRPr lang="en-US" sz="850" dirty="0"/>
          </a:p>
        </p:txBody>
      </p:sp>
      <p:sp>
        <p:nvSpPr>
          <p:cNvPr id="40" name="Shape 30"/>
          <p:cNvSpPr/>
          <p:nvPr/>
        </p:nvSpPr>
        <p:spPr>
          <a:xfrm>
            <a:off x="3374136" y="3648456"/>
            <a:ext cx="2633472" cy="530352"/>
          </a:xfrm>
          <a:prstGeom prst="rect">
            <a:avLst/>
          </a:prstGeom>
          <a:solidFill>
            <a:srgbClr val="FFFFFF">
              <a:alpha val="6000"/>
            </a:srgbClr>
          </a:solidFill>
        </p:spPr>
      </p:sp>
      <p:pic>
        <p:nvPicPr>
          <p:cNvPr id="41" name="Image 8" descr="preencoded.png"/>
          <p:cNvPicPr>
            <a:picLocks noChangeAspect="1"/>
          </p:cNvPicPr>
          <p:nvPr/>
        </p:nvPicPr>
        <p:blipFill>
          <a:blip r:embed="rId2"/>
          <a:stretch>
            <a:fillRect/>
          </a:stretch>
        </p:blipFill>
        <p:spPr>
          <a:xfrm>
            <a:off x="3429000" y="3803904"/>
            <a:ext cx="201168" cy="201168"/>
          </a:xfrm>
          <a:prstGeom prst="rect">
            <a:avLst/>
          </a:prstGeom>
        </p:spPr>
      </p:pic>
      <p:sp>
        <p:nvSpPr>
          <p:cNvPr id="42" name="Text 31"/>
          <p:cNvSpPr/>
          <p:nvPr/>
        </p:nvSpPr>
        <p:spPr>
          <a:xfrm>
            <a:off x="3685032" y="3721608"/>
            <a:ext cx="2286000" cy="384048"/>
          </a:xfrm>
          <a:prstGeom prst="rect">
            <a:avLst/>
          </a:prstGeom>
          <a:noFill/>
        </p:spPr>
        <p:txBody>
          <a:bodyPr wrap="square" lIns="0" tIns="0" rIns="0" bIns="0" rtlCol="0" anchor="ctr"/>
          <a:lstStyle/>
          <a:p>
            <a:pPr marL="0" indent="0">
              <a:buNone/>
            </a:pPr>
            <a:r>
              <a:rPr lang="en-US" sz="850" dirty="0">
                <a:solidFill>
                  <a:srgbClr val="B0C4D8"/>
                </a:solidFill>
                <a:latin typeface="Calibri" panose="020F0502020204030204" pitchFamily="34" charset="0"/>
                <a:ea typeface="Calibri" panose="020F0502020204030204" pitchFamily="34" charset="-122"/>
                <a:cs typeface="Calibri" panose="020F0502020204030204" pitchFamily="34" charset="-120"/>
              </a:rPr>
              <a:t>Separate: Film Locations, Theatres</a:t>
            </a:r>
            <a:endParaRPr lang="en-US" sz="850" dirty="0"/>
          </a:p>
        </p:txBody>
      </p:sp>
      <p:sp>
        <p:nvSpPr>
          <p:cNvPr id="43" name="Shape 32"/>
          <p:cNvSpPr/>
          <p:nvPr/>
        </p:nvSpPr>
        <p:spPr>
          <a:xfrm>
            <a:off x="3374136" y="4261104"/>
            <a:ext cx="2633472" cy="530352"/>
          </a:xfrm>
          <a:prstGeom prst="rect">
            <a:avLst/>
          </a:prstGeom>
          <a:solidFill>
            <a:srgbClr val="FFFFFF">
              <a:alpha val="6000"/>
            </a:srgbClr>
          </a:solidFill>
        </p:spPr>
      </p:sp>
      <p:pic>
        <p:nvPicPr>
          <p:cNvPr id="44" name="Image 9" descr="preencoded.png"/>
          <p:cNvPicPr>
            <a:picLocks noChangeAspect="1"/>
          </p:cNvPicPr>
          <p:nvPr/>
        </p:nvPicPr>
        <p:blipFill>
          <a:blip r:embed="rId2"/>
          <a:stretch>
            <a:fillRect/>
          </a:stretch>
        </p:blipFill>
        <p:spPr>
          <a:xfrm>
            <a:off x="3429000" y="4416552"/>
            <a:ext cx="201168" cy="201168"/>
          </a:xfrm>
          <a:prstGeom prst="rect">
            <a:avLst/>
          </a:prstGeom>
        </p:spPr>
      </p:pic>
      <p:sp>
        <p:nvSpPr>
          <p:cNvPr id="45" name="Text 33"/>
          <p:cNvSpPr/>
          <p:nvPr/>
        </p:nvSpPr>
        <p:spPr>
          <a:xfrm>
            <a:off x="3685032" y="4334256"/>
            <a:ext cx="2286000" cy="384048"/>
          </a:xfrm>
          <a:prstGeom prst="rect">
            <a:avLst/>
          </a:prstGeom>
          <a:noFill/>
        </p:spPr>
        <p:txBody>
          <a:bodyPr wrap="square" lIns="0" tIns="0" rIns="0" bIns="0" rtlCol="0" anchor="ctr"/>
          <a:lstStyle/>
          <a:p>
            <a:pPr marL="0" indent="0">
              <a:buNone/>
            </a:pPr>
            <a:r>
              <a:rPr lang="en-US" sz="850" dirty="0">
                <a:solidFill>
                  <a:srgbClr val="B0C4D8"/>
                </a:solidFill>
                <a:latin typeface="Calibri" panose="020F0502020204030204" pitchFamily="34" charset="0"/>
                <a:ea typeface="Calibri" panose="020F0502020204030204" pitchFamily="34" charset="-122"/>
                <a:cs typeface="Calibri" panose="020F0502020204030204" pitchFamily="34" charset="-120"/>
              </a:rPr>
              <a:t>Star Schema: 1 Fact + 4 Dim tables</a:t>
            </a:r>
            <a:endParaRPr lang="en-US" sz="850" dirty="0"/>
          </a:p>
        </p:txBody>
      </p:sp>
      <p:sp>
        <p:nvSpPr>
          <p:cNvPr id="46" name="Shape 34"/>
          <p:cNvSpPr/>
          <p:nvPr/>
        </p:nvSpPr>
        <p:spPr>
          <a:xfrm>
            <a:off x="6117336" y="2697480"/>
            <a:ext cx="411480" cy="411480"/>
          </a:xfrm>
          <a:prstGeom prst="ellipse">
            <a:avLst/>
          </a:prstGeom>
          <a:solidFill>
            <a:srgbClr val="FFFFFF">
              <a:alpha val="15000"/>
            </a:srgbClr>
          </a:solidFill>
        </p:spPr>
      </p:sp>
      <p:sp>
        <p:nvSpPr>
          <p:cNvPr id="47" name="Text 35"/>
          <p:cNvSpPr/>
          <p:nvPr/>
        </p:nvSpPr>
        <p:spPr>
          <a:xfrm>
            <a:off x="6117336" y="2606040"/>
            <a:ext cx="411480" cy="502920"/>
          </a:xfrm>
          <a:prstGeom prst="rect">
            <a:avLst/>
          </a:prstGeom>
          <a:noFill/>
        </p:spPr>
        <p:txBody>
          <a:bodyPr wrap="square" rtlCol="0" anchor="ctr"/>
          <a:lstStyle/>
          <a:p>
            <a:pPr marL="0" indent="0" algn="ctr">
              <a:buNone/>
            </a:pPr>
            <a:r>
              <a:rPr lang="en-US" sz="2200" dirty="0">
                <a:solidFill>
                  <a:srgbClr val="FFFFFF"/>
                </a:solidFill>
                <a:latin typeface="Calibri" panose="020F0502020204030204" pitchFamily="34" charset="0"/>
                <a:ea typeface="Calibri" panose="020F0502020204030204" pitchFamily="34" charset="-122"/>
                <a:cs typeface="Calibri" panose="020F0502020204030204" pitchFamily="34" charset="-120"/>
              </a:rPr>
              <a:t>→</a:t>
            </a:r>
            <a:endParaRPr lang="en-US" sz="2200" dirty="0"/>
          </a:p>
        </p:txBody>
      </p:sp>
      <p:sp>
        <p:nvSpPr>
          <p:cNvPr id="48" name="Shape 36"/>
          <p:cNvSpPr/>
          <p:nvPr/>
        </p:nvSpPr>
        <p:spPr>
          <a:xfrm>
            <a:off x="6254496" y="914400"/>
            <a:ext cx="2852928" cy="4023360"/>
          </a:xfrm>
          <a:prstGeom prst="rect">
            <a:avLst/>
          </a:prstGeom>
          <a:solidFill>
            <a:srgbClr val="181400"/>
          </a:solidFill>
          <a:ln w="12700">
            <a:solidFill>
              <a:srgbClr val="FFD700"/>
            </a:solidFill>
            <a:prstDash val="solid"/>
          </a:ln>
          <a:effectLst>
            <a:outerShdw blurRad="127000" dist="38100" dir="8100000" algn="bl" rotWithShape="0">
              <a:srgbClr val="000000">
                <a:alpha val="20000"/>
              </a:srgbClr>
            </a:outerShdw>
          </a:effectLst>
        </p:spPr>
      </p:sp>
      <p:sp>
        <p:nvSpPr>
          <p:cNvPr id="49" name="Shape 37"/>
          <p:cNvSpPr/>
          <p:nvPr/>
        </p:nvSpPr>
        <p:spPr>
          <a:xfrm>
            <a:off x="6254496" y="914400"/>
            <a:ext cx="2852928" cy="749808"/>
          </a:xfrm>
          <a:prstGeom prst="rect">
            <a:avLst/>
          </a:prstGeom>
          <a:solidFill>
            <a:srgbClr val="FFD700"/>
          </a:solidFill>
        </p:spPr>
      </p:sp>
      <p:sp>
        <p:nvSpPr>
          <p:cNvPr id="50" name="Text 38"/>
          <p:cNvSpPr/>
          <p:nvPr/>
        </p:nvSpPr>
        <p:spPr>
          <a:xfrm>
            <a:off x="6345936" y="950976"/>
            <a:ext cx="2194560" cy="384048"/>
          </a:xfrm>
          <a:prstGeom prst="rect">
            <a:avLst/>
          </a:prstGeom>
          <a:noFill/>
        </p:spPr>
        <p:txBody>
          <a:bodyPr wrap="square" lIns="0" tIns="0" rIns="0" bIns="0" rtlCol="0" anchor="ctr"/>
          <a:lstStyle/>
          <a:p>
            <a:pPr marL="0" indent="0">
              <a:buNone/>
            </a:pPr>
            <a:r>
              <a:rPr lang="en-US" sz="1800" b="1" dirty="0">
                <a:solidFill>
                  <a:srgbClr val="0A1628"/>
                </a:solidFill>
                <a:latin typeface="Calibri" panose="020F0502020204030204" pitchFamily="34" charset="0"/>
                <a:ea typeface="Calibri" panose="020F0502020204030204" pitchFamily="34" charset="-122"/>
                <a:cs typeface="Calibri" panose="020F0502020204030204" pitchFamily="34" charset="-120"/>
              </a:rPr>
              <a:t>GOLD</a:t>
            </a:r>
            <a:endParaRPr lang="en-US" sz="1800" dirty="0"/>
          </a:p>
        </p:txBody>
      </p:sp>
      <p:sp>
        <p:nvSpPr>
          <p:cNvPr id="51" name="Text 39"/>
          <p:cNvSpPr/>
          <p:nvPr/>
        </p:nvSpPr>
        <p:spPr>
          <a:xfrm>
            <a:off x="6345936" y="1353312"/>
            <a:ext cx="2194560" cy="256032"/>
          </a:xfrm>
          <a:prstGeom prst="rect">
            <a:avLst/>
          </a:prstGeom>
          <a:noFill/>
        </p:spPr>
        <p:txBody>
          <a:bodyPr wrap="square" lIns="0" tIns="0" rIns="0" bIns="0" rtlCol="0" anchor="ctr"/>
          <a:lstStyle/>
          <a:p>
            <a:pPr marL="0" indent="0">
              <a:buNone/>
            </a:pPr>
            <a:r>
              <a:rPr lang="en-US" sz="950" dirty="0">
                <a:solidFill>
                  <a:srgbClr val="0A1628"/>
                </a:solidFill>
                <a:latin typeface="Calibri" panose="020F0502020204030204" pitchFamily="34" charset="0"/>
                <a:ea typeface="Calibri" panose="020F0502020204030204" pitchFamily="34" charset="-122"/>
                <a:cs typeface="Calibri" panose="020F0502020204030204" pitchFamily="34" charset="-120"/>
              </a:rPr>
              <a:t>Aggregated Analytics View</a:t>
            </a:r>
            <a:endParaRPr lang="en-US" sz="950" dirty="0"/>
          </a:p>
        </p:txBody>
      </p:sp>
      <p:pic>
        <p:nvPicPr>
          <p:cNvPr id="52" name="Image 10" descr="preencoded.png"/>
          <p:cNvPicPr>
            <a:picLocks noChangeAspect="1"/>
          </p:cNvPicPr>
          <p:nvPr/>
        </p:nvPicPr>
        <p:blipFill>
          <a:blip r:embed="rId4"/>
          <a:stretch>
            <a:fillRect/>
          </a:stretch>
        </p:blipFill>
        <p:spPr>
          <a:xfrm>
            <a:off x="8650224" y="969264"/>
            <a:ext cx="402336" cy="402336"/>
          </a:xfrm>
          <a:prstGeom prst="rect">
            <a:avLst/>
          </a:prstGeom>
        </p:spPr>
      </p:pic>
      <p:sp>
        <p:nvSpPr>
          <p:cNvPr id="53" name="Shape 40"/>
          <p:cNvSpPr/>
          <p:nvPr/>
        </p:nvSpPr>
        <p:spPr>
          <a:xfrm>
            <a:off x="7424928" y="1783080"/>
            <a:ext cx="502920" cy="502920"/>
          </a:xfrm>
          <a:prstGeom prst="ellipse">
            <a:avLst/>
          </a:prstGeom>
          <a:solidFill>
            <a:srgbClr val="FFD700">
              <a:alpha val="80000"/>
            </a:srgbClr>
          </a:solidFill>
        </p:spPr>
      </p:sp>
      <p:sp>
        <p:nvSpPr>
          <p:cNvPr id="54" name="Text 41"/>
          <p:cNvSpPr/>
          <p:nvPr/>
        </p:nvSpPr>
        <p:spPr>
          <a:xfrm>
            <a:off x="7424928" y="1783080"/>
            <a:ext cx="502920" cy="502920"/>
          </a:xfrm>
          <a:prstGeom prst="rect">
            <a:avLst/>
          </a:prstGeom>
          <a:noFill/>
        </p:spPr>
        <p:txBody>
          <a:bodyPr wrap="square" rtlCol="0" anchor="ctr"/>
          <a:lstStyle/>
          <a:p>
            <a:pPr marL="0" indent="0" algn="ctr">
              <a:buNone/>
            </a:pPr>
            <a:r>
              <a:rPr lang="en-US" sz="1600" b="1" dirty="0">
                <a:solidFill>
                  <a:srgbClr val="0A1628"/>
                </a:solidFill>
                <a:latin typeface="Calibri" panose="020F0502020204030204" pitchFamily="34" charset="0"/>
                <a:ea typeface="Calibri" panose="020F0502020204030204" pitchFamily="34" charset="-122"/>
                <a:cs typeface="Calibri" panose="020F0502020204030204" pitchFamily="34" charset="-120"/>
              </a:rPr>
              <a:t>3</a:t>
            </a:r>
            <a:endParaRPr lang="en-US" sz="1600" dirty="0"/>
          </a:p>
        </p:txBody>
      </p:sp>
      <p:sp>
        <p:nvSpPr>
          <p:cNvPr id="55" name="Shape 42"/>
          <p:cNvSpPr/>
          <p:nvPr/>
        </p:nvSpPr>
        <p:spPr>
          <a:xfrm>
            <a:off x="6364224" y="2423160"/>
            <a:ext cx="2633472" cy="530352"/>
          </a:xfrm>
          <a:prstGeom prst="rect">
            <a:avLst/>
          </a:prstGeom>
          <a:solidFill>
            <a:srgbClr val="FFFFFF">
              <a:alpha val="6000"/>
            </a:srgbClr>
          </a:solidFill>
        </p:spPr>
      </p:sp>
      <p:pic>
        <p:nvPicPr>
          <p:cNvPr id="56" name="Image 11" descr="preencoded.png"/>
          <p:cNvPicPr>
            <a:picLocks noChangeAspect="1"/>
          </p:cNvPicPr>
          <p:nvPr/>
        </p:nvPicPr>
        <p:blipFill>
          <a:blip r:embed="rId2"/>
          <a:stretch>
            <a:fillRect/>
          </a:stretch>
        </p:blipFill>
        <p:spPr>
          <a:xfrm>
            <a:off x="6419088" y="2578608"/>
            <a:ext cx="201168" cy="201168"/>
          </a:xfrm>
          <a:prstGeom prst="rect">
            <a:avLst/>
          </a:prstGeom>
        </p:spPr>
      </p:pic>
      <p:sp>
        <p:nvSpPr>
          <p:cNvPr id="57" name="Text 43"/>
          <p:cNvSpPr/>
          <p:nvPr/>
        </p:nvSpPr>
        <p:spPr>
          <a:xfrm>
            <a:off x="6675120" y="2496312"/>
            <a:ext cx="2286000" cy="384048"/>
          </a:xfrm>
          <a:prstGeom prst="rect">
            <a:avLst/>
          </a:prstGeom>
          <a:noFill/>
        </p:spPr>
        <p:txBody>
          <a:bodyPr wrap="square" lIns="0" tIns="0" rIns="0" bIns="0" rtlCol="0" anchor="ctr"/>
          <a:lstStyle/>
          <a:p>
            <a:pPr marL="0" indent="0">
              <a:buNone/>
            </a:pPr>
            <a:r>
              <a:rPr lang="en-US" sz="850" dirty="0">
                <a:solidFill>
                  <a:srgbClr val="B0C4D8"/>
                </a:solidFill>
                <a:latin typeface="Calibri" panose="020F0502020204030204" pitchFamily="34" charset="0"/>
                <a:ea typeface="Calibri" panose="020F0502020204030204" pitchFamily="34" charset="-122"/>
                <a:cs typeface="Calibri" panose="020F0502020204030204" pitchFamily="34" charset="-120"/>
              </a:rPr>
              <a:t>vw_movie_analytics (Full View)</a:t>
            </a:r>
            <a:endParaRPr lang="en-US" sz="850" dirty="0"/>
          </a:p>
        </p:txBody>
      </p:sp>
      <p:sp>
        <p:nvSpPr>
          <p:cNvPr id="58" name="Shape 44"/>
          <p:cNvSpPr/>
          <p:nvPr/>
        </p:nvSpPr>
        <p:spPr>
          <a:xfrm>
            <a:off x="6364224" y="3035808"/>
            <a:ext cx="2633472" cy="530352"/>
          </a:xfrm>
          <a:prstGeom prst="rect">
            <a:avLst/>
          </a:prstGeom>
          <a:solidFill>
            <a:srgbClr val="FFFFFF">
              <a:alpha val="6000"/>
            </a:srgbClr>
          </a:solidFill>
        </p:spPr>
      </p:sp>
      <p:pic>
        <p:nvPicPr>
          <p:cNvPr id="59" name="Image 12" descr="preencoded.png"/>
          <p:cNvPicPr>
            <a:picLocks noChangeAspect="1"/>
          </p:cNvPicPr>
          <p:nvPr/>
        </p:nvPicPr>
        <p:blipFill>
          <a:blip r:embed="rId2"/>
          <a:stretch>
            <a:fillRect/>
          </a:stretch>
        </p:blipFill>
        <p:spPr>
          <a:xfrm>
            <a:off x="6419088" y="3191256"/>
            <a:ext cx="201168" cy="201168"/>
          </a:xfrm>
          <a:prstGeom prst="rect">
            <a:avLst/>
          </a:prstGeom>
        </p:spPr>
      </p:pic>
      <p:sp>
        <p:nvSpPr>
          <p:cNvPr id="60" name="Text 45"/>
          <p:cNvSpPr/>
          <p:nvPr/>
        </p:nvSpPr>
        <p:spPr>
          <a:xfrm>
            <a:off x="6675120" y="3108960"/>
            <a:ext cx="2286000" cy="384048"/>
          </a:xfrm>
          <a:prstGeom prst="rect">
            <a:avLst/>
          </a:prstGeom>
          <a:noFill/>
        </p:spPr>
        <p:txBody>
          <a:bodyPr wrap="square" lIns="0" tIns="0" rIns="0" bIns="0" rtlCol="0" anchor="ctr"/>
          <a:lstStyle/>
          <a:p>
            <a:pPr marL="0" indent="0">
              <a:buNone/>
            </a:pPr>
            <a:r>
              <a:rPr lang="en-US" sz="850" dirty="0">
                <a:solidFill>
                  <a:srgbClr val="B0C4D8"/>
                </a:solidFill>
                <a:latin typeface="Calibri" panose="020F0502020204030204" pitchFamily="34" charset="0"/>
                <a:ea typeface="Calibri" panose="020F0502020204030204" pitchFamily="34" charset="-122"/>
                <a:cs typeface="Calibri" panose="020F0502020204030204" pitchFamily="34" charset="-120"/>
              </a:rPr>
              <a:t>Pre-aggregated for dashboard queries</a:t>
            </a:r>
            <a:endParaRPr lang="en-US" sz="850" dirty="0"/>
          </a:p>
        </p:txBody>
      </p:sp>
      <p:sp>
        <p:nvSpPr>
          <p:cNvPr id="61" name="Shape 46"/>
          <p:cNvSpPr/>
          <p:nvPr/>
        </p:nvSpPr>
        <p:spPr>
          <a:xfrm>
            <a:off x="6364224" y="3648456"/>
            <a:ext cx="2633472" cy="530352"/>
          </a:xfrm>
          <a:prstGeom prst="rect">
            <a:avLst/>
          </a:prstGeom>
          <a:solidFill>
            <a:srgbClr val="FFFFFF">
              <a:alpha val="6000"/>
            </a:srgbClr>
          </a:solidFill>
        </p:spPr>
      </p:sp>
      <p:pic>
        <p:nvPicPr>
          <p:cNvPr id="62" name="Image 13" descr="preencoded.png"/>
          <p:cNvPicPr>
            <a:picLocks noChangeAspect="1"/>
          </p:cNvPicPr>
          <p:nvPr/>
        </p:nvPicPr>
        <p:blipFill>
          <a:blip r:embed="rId2"/>
          <a:stretch>
            <a:fillRect/>
          </a:stretch>
        </p:blipFill>
        <p:spPr>
          <a:xfrm>
            <a:off x="6419088" y="3803904"/>
            <a:ext cx="201168" cy="201168"/>
          </a:xfrm>
          <a:prstGeom prst="rect">
            <a:avLst/>
          </a:prstGeom>
        </p:spPr>
      </p:pic>
      <p:sp>
        <p:nvSpPr>
          <p:cNvPr id="63" name="Text 47"/>
          <p:cNvSpPr/>
          <p:nvPr/>
        </p:nvSpPr>
        <p:spPr>
          <a:xfrm>
            <a:off x="6675120" y="3721608"/>
            <a:ext cx="2286000" cy="384048"/>
          </a:xfrm>
          <a:prstGeom prst="rect">
            <a:avLst/>
          </a:prstGeom>
          <a:noFill/>
        </p:spPr>
        <p:txBody>
          <a:bodyPr wrap="square" lIns="0" tIns="0" rIns="0" bIns="0" rtlCol="0" anchor="ctr"/>
          <a:lstStyle/>
          <a:p>
            <a:pPr marL="0" indent="0">
              <a:buNone/>
            </a:pPr>
            <a:r>
              <a:rPr lang="en-US" sz="850" dirty="0">
                <a:solidFill>
                  <a:srgbClr val="B0C4D8"/>
                </a:solidFill>
                <a:latin typeface="Calibri" panose="020F0502020204030204" pitchFamily="34" charset="0"/>
                <a:ea typeface="Calibri" panose="020F0502020204030204" pitchFamily="34" charset="-122"/>
                <a:cs typeface="Calibri" panose="020F0502020204030204" pitchFamily="34" charset="-120"/>
              </a:rPr>
              <a:t>Joined across all Silver tables</a:t>
            </a:r>
            <a:endParaRPr lang="en-US" sz="850" dirty="0"/>
          </a:p>
        </p:txBody>
      </p:sp>
      <p:sp>
        <p:nvSpPr>
          <p:cNvPr id="64" name="Shape 48"/>
          <p:cNvSpPr/>
          <p:nvPr/>
        </p:nvSpPr>
        <p:spPr>
          <a:xfrm>
            <a:off x="6364224" y="4261104"/>
            <a:ext cx="2633472" cy="530352"/>
          </a:xfrm>
          <a:prstGeom prst="rect">
            <a:avLst/>
          </a:prstGeom>
          <a:solidFill>
            <a:srgbClr val="FFFFFF">
              <a:alpha val="6000"/>
            </a:srgbClr>
          </a:solidFill>
        </p:spPr>
      </p:sp>
      <p:pic>
        <p:nvPicPr>
          <p:cNvPr id="65" name="Image 14" descr="preencoded.png"/>
          <p:cNvPicPr>
            <a:picLocks noChangeAspect="1"/>
          </p:cNvPicPr>
          <p:nvPr/>
        </p:nvPicPr>
        <p:blipFill>
          <a:blip r:embed="rId2"/>
          <a:stretch>
            <a:fillRect/>
          </a:stretch>
        </p:blipFill>
        <p:spPr>
          <a:xfrm>
            <a:off x="6419088" y="4416552"/>
            <a:ext cx="201168" cy="201168"/>
          </a:xfrm>
          <a:prstGeom prst="rect">
            <a:avLst/>
          </a:prstGeom>
        </p:spPr>
      </p:pic>
      <p:sp>
        <p:nvSpPr>
          <p:cNvPr id="66" name="Text 49"/>
          <p:cNvSpPr/>
          <p:nvPr/>
        </p:nvSpPr>
        <p:spPr>
          <a:xfrm>
            <a:off x="6675120" y="4334256"/>
            <a:ext cx="2286000" cy="384048"/>
          </a:xfrm>
          <a:prstGeom prst="rect">
            <a:avLst/>
          </a:prstGeom>
          <a:noFill/>
        </p:spPr>
        <p:txBody>
          <a:bodyPr wrap="square" lIns="0" tIns="0" rIns="0" bIns="0" rtlCol="0" anchor="ctr"/>
          <a:lstStyle/>
          <a:p>
            <a:pPr marL="0" indent="0">
              <a:buNone/>
            </a:pPr>
            <a:r>
              <a:rPr lang="en-US" sz="850" dirty="0">
                <a:solidFill>
                  <a:srgbClr val="B0C4D8"/>
                </a:solidFill>
                <a:latin typeface="Calibri" panose="020F0502020204030204" pitchFamily="34" charset="0"/>
                <a:ea typeface="Calibri" panose="020F0502020204030204" pitchFamily="34" charset="-122"/>
                <a:cs typeface="Calibri" panose="020F0502020204030204" pitchFamily="34" charset="-120"/>
              </a:rPr>
              <a:t>Loaded to Snowflake Gold layer</a:t>
            </a:r>
            <a:endParaRPr lang="en-US" sz="850" dirty="0"/>
          </a:p>
        </p:txBody>
      </p:sp>
      <p:sp>
        <p:nvSpPr>
          <p:cNvPr id="67" name="Shape 50"/>
          <p:cNvSpPr/>
          <p:nvPr/>
        </p:nvSpPr>
        <p:spPr>
          <a:xfrm>
            <a:off x="274320" y="4773168"/>
            <a:ext cx="8595360" cy="274320"/>
          </a:xfrm>
          <a:prstGeom prst="rect">
            <a:avLst/>
          </a:prstGeom>
          <a:solidFill>
            <a:srgbClr val="132A4E"/>
          </a:solidFill>
        </p:spPr>
      </p:sp>
      <p:sp>
        <p:nvSpPr>
          <p:cNvPr id="68" name="Text 51"/>
          <p:cNvSpPr/>
          <p:nvPr/>
        </p:nvSpPr>
        <p:spPr>
          <a:xfrm>
            <a:off x="274320" y="4773168"/>
            <a:ext cx="8595360" cy="274320"/>
          </a:xfrm>
          <a:prstGeom prst="rect">
            <a:avLst/>
          </a:prstGeom>
          <a:noFill/>
        </p:spPr>
        <p:txBody>
          <a:bodyPr wrap="square" rtlCol="0" anchor="ctr"/>
          <a:lstStyle/>
          <a:p>
            <a:pPr marL="0" indent="0" algn="ctr">
              <a:buNone/>
            </a:pPr>
            <a:r>
              <a:rPr lang="en-US" sz="900" dirty="0">
                <a:solidFill>
                  <a:srgbClr val="00D4AA"/>
                </a:solidFill>
                <a:latin typeface="Calibri" panose="020F0502020204030204" pitchFamily="34" charset="0"/>
                <a:ea typeface="Calibri" panose="020F0502020204030204" pitchFamily="34" charset="-122"/>
                <a:cs typeface="Calibri" panose="020F0502020204030204" pitchFamily="34" charset="-120"/>
              </a:rPr>
              <a:t>Each layer stored in AWS S3 as Parquet  ·  Orchestrated by Apache Airflow  ·  Final destination: Snowflake DWH</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A1628"/>
          </a:solidFill>
        </p:spPr>
      </p:sp>
      <p:sp>
        <p:nvSpPr>
          <p:cNvPr id="3" name="Shape 1"/>
          <p:cNvSpPr/>
          <p:nvPr/>
        </p:nvSpPr>
        <p:spPr>
          <a:xfrm>
            <a:off x="0" y="0"/>
            <a:ext cx="201168" cy="777240"/>
          </a:xfrm>
          <a:prstGeom prst="rect">
            <a:avLst/>
          </a:prstGeom>
          <a:solidFill>
            <a:srgbClr val="9B6DFF"/>
          </a:solidFill>
        </p:spPr>
      </p:sp>
      <p:sp>
        <p:nvSpPr>
          <p:cNvPr id="4" name="Text 2"/>
          <p:cNvSpPr/>
          <p:nvPr/>
        </p:nvSpPr>
        <p:spPr>
          <a:xfrm>
            <a:off x="411480" y="0"/>
            <a:ext cx="8229600" cy="777240"/>
          </a:xfrm>
          <a:prstGeom prst="rect">
            <a:avLst/>
          </a:prstGeom>
          <a:noFill/>
        </p:spPr>
        <p:txBody>
          <a:bodyPr wrap="square" lIns="0" tIns="0" rIns="0" bIns="0" rtlCol="0" anchor="ctr"/>
          <a:lstStyle/>
          <a:p>
            <a:pPr marL="0" indent="0">
              <a:buNone/>
            </a:pPr>
            <a:r>
              <a:rPr lang="en-US" sz="2400" b="1" dirty="0">
                <a:solidFill>
                  <a:srgbClr val="FFFFFF"/>
                </a:solidFill>
                <a:latin typeface="Calibri" panose="020F0502020204030204" pitchFamily="34" charset="0"/>
                <a:ea typeface="Calibri" panose="020F0502020204030204" pitchFamily="34" charset="-122"/>
                <a:cs typeface="Calibri" panose="020F0502020204030204" pitchFamily="34" charset="-120"/>
              </a:rPr>
              <a:t>APACHE AIRFLOW PIPELINE</a:t>
            </a:r>
            <a:endParaRPr lang="en-US" sz="2400" dirty="0"/>
          </a:p>
        </p:txBody>
      </p:sp>
      <p:sp>
        <p:nvSpPr>
          <p:cNvPr id="5" name="Text 3"/>
          <p:cNvSpPr/>
          <p:nvPr/>
        </p:nvSpPr>
        <p:spPr>
          <a:xfrm>
            <a:off x="411480" y="475488"/>
            <a:ext cx="8229600" cy="274320"/>
          </a:xfrm>
          <a:prstGeom prst="rect">
            <a:avLst/>
          </a:prstGeom>
          <a:noFill/>
        </p:spPr>
        <p:txBody>
          <a:bodyPr wrap="square" lIns="0" tIns="0" rIns="0" bIns="0" rtlCol="0" anchor="ctr"/>
          <a:lstStyle/>
          <a:p>
            <a:pPr marL="0" indent="0">
              <a:buNone/>
            </a:pPr>
            <a:r>
              <a:rPr lang="en-US" sz="1000" dirty="0">
                <a:solidFill>
                  <a:srgbClr val="9B6DFF"/>
                </a:solidFill>
                <a:latin typeface="Calibri" panose="020F0502020204030204" pitchFamily="34" charset="0"/>
                <a:ea typeface="Calibri" panose="020F0502020204030204" pitchFamily="34" charset="-122"/>
                <a:cs typeface="Calibri" panose="020F0502020204030204" pitchFamily="34" charset="-120"/>
              </a:rPr>
              <a:t>DAG: movie_analytics_pipeline</a:t>
            </a:r>
            <a:endParaRPr lang="en-US" sz="1000" dirty="0"/>
          </a:p>
        </p:txBody>
      </p:sp>
      <p:sp>
        <p:nvSpPr>
          <p:cNvPr id="6" name="Shape 4"/>
          <p:cNvSpPr/>
          <p:nvPr/>
        </p:nvSpPr>
        <p:spPr>
          <a:xfrm>
            <a:off x="274320" y="2240280"/>
            <a:ext cx="8595360" cy="146304"/>
          </a:xfrm>
          <a:prstGeom prst="rect">
            <a:avLst/>
          </a:prstGeom>
          <a:solidFill>
            <a:srgbClr val="D0DCEA"/>
          </a:solidFill>
        </p:spPr>
      </p:sp>
      <p:sp>
        <p:nvSpPr>
          <p:cNvPr id="7" name="Shape 5"/>
          <p:cNvSpPr/>
          <p:nvPr/>
        </p:nvSpPr>
        <p:spPr>
          <a:xfrm>
            <a:off x="228600" y="1965960"/>
            <a:ext cx="548640" cy="566928"/>
          </a:xfrm>
          <a:prstGeom prst="ellipse">
            <a:avLst/>
          </a:prstGeom>
          <a:solidFill>
            <a:srgbClr val="4CAF50"/>
          </a:solidFill>
        </p:spPr>
      </p:sp>
      <p:sp>
        <p:nvSpPr>
          <p:cNvPr id="8" name="Text 6"/>
          <p:cNvSpPr/>
          <p:nvPr/>
        </p:nvSpPr>
        <p:spPr>
          <a:xfrm>
            <a:off x="228600" y="1965960"/>
            <a:ext cx="548640" cy="566928"/>
          </a:xfrm>
          <a:prstGeom prst="rect">
            <a:avLst/>
          </a:prstGeom>
          <a:noFill/>
        </p:spPr>
        <p:txBody>
          <a:bodyPr wrap="square" rtlCol="0" anchor="ctr"/>
          <a:lstStyle/>
          <a:p>
            <a:pPr marL="0" indent="0" algn="ctr">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9" name="Shape 7"/>
          <p:cNvSpPr/>
          <p:nvPr/>
        </p:nvSpPr>
        <p:spPr>
          <a:xfrm>
            <a:off x="822960" y="1984248"/>
            <a:ext cx="530352" cy="530352"/>
          </a:xfrm>
          <a:prstGeom prst="ellipse">
            <a:avLst/>
          </a:prstGeom>
          <a:solidFill>
            <a:srgbClr val="CD7F32"/>
          </a:solidFill>
          <a:effectLst>
            <a:outerShdw blurRad="127000" dist="38100" dir="8100000" algn="bl" rotWithShape="0">
              <a:srgbClr val="000000">
                <a:alpha val="20000"/>
              </a:srgbClr>
            </a:outerShdw>
          </a:effectLst>
        </p:spPr>
      </p:sp>
      <p:sp>
        <p:nvSpPr>
          <p:cNvPr id="10" name="Text 8"/>
          <p:cNvSpPr/>
          <p:nvPr/>
        </p:nvSpPr>
        <p:spPr>
          <a:xfrm>
            <a:off x="822960" y="1984248"/>
            <a:ext cx="530352" cy="530352"/>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400" dirty="0"/>
          </a:p>
        </p:txBody>
      </p:sp>
      <p:sp>
        <p:nvSpPr>
          <p:cNvPr id="11" name="Shape 9"/>
          <p:cNvSpPr/>
          <p:nvPr/>
        </p:nvSpPr>
        <p:spPr>
          <a:xfrm>
            <a:off x="438912" y="2651760"/>
            <a:ext cx="1280160" cy="2286000"/>
          </a:xfrm>
          <a:prstGeom prst="rect">
            <a:avLst/>
          </a:prstGeom>
          <a:solidFill>
            <a:srgbClr val="FFFFFF"/>
          </a:solidFill>
          <a:ln w="12700">
            <a:solidFill>
              <a:srgbClr val="CD7F32"/>
            </a:solidFill>
            <a:prstDash val="solid"/>
          </a:ln>
          <a:effectLst>
            <a:outerShdw blurRad="127000" dist="38100" dir="8100000" algn="bl" rotWithShape="0">
              <a:srgbClr val="000000">
                <a:alpha val="20000"/>
              </a:srgbClr>
            </a:outerShdw>
          </a:effectLst>
        </p:spPr>
      </p:sp>
      <p:sp>
        <p:nvSpPr>
          <p:cNvPr id="12" name="Shape 10"/>
          <p:cNvSpPr/>
          <p:nvPr/>
        </p:nvSpPr>
        <p:spPr>
          <a:xfrm>
            <a:off x="438912" y="2651760"/>
            <a:ext cx="1280160" cy="438912"/>
          </a:xfrm>
          <a:prstGeom prst="rect">
            <a:avLst/>
          </a:prstGeom>
          <a:solidFill>
            <a:srgbClr val="CD7F32"/>
          </a:solidFill>
        </p:spPr>
      </p:sp>
      <p:sp>
        <p:nvSpPr>
          <p:cNvPr id="13" name="Text 11"/>
          <p:cNvSpPr/>
          <p:nvPr/>
        </p:nvSpPr>
        <p:spPr>
          <a:xfrm>
            <a:off x="457200" y="2660904"/>
            <a:ext cx="1243584" cy="420624"/>
          </a:xfrm>
          <a:prstGeom prst="rect">
            <a:avLst/>
          </a:prstGeom>
          <a:noFill/>
        </p:spPr>
        <p:txBody>
          <a:bodyPr wrap="square" lIns="0" tIns="0" rIns="0" bIns="0" rtlCol="0" anchor="ctr"/>
          <a:lstStyle/>
          <a:p>
            <a:pPr marL="0" indent="0" algn="ctr">
              <a:buNone/>
            </a:pPr>
            <a:r>
              <a:rPr lang="en-US" sz="800" b="1" dirty="0">
                <a:solidFill>
                  <a:srgbClr val="FFFFFF"/>
                </a:solidFill>
                <a:latin typeface="Calibri" panose="020F0502020204030204" pitchFamily="34" charset="0"/>
                <a:ea typeface="Calibri" panose="020F0502020204030204" pitchFamily="34" charset="-122"/>
                <a:cs typeface="Calibri" panose="020F0502020204030204" pitchFamily="34" charset="-120"/>
              </a:rPr>
              <a:t>bronze_layer</a:t>
            </a:r>
            <a:endParaRPr lang="en-US" sz="800" dirty="0"/>
          </a:p>
        </p:txBody>
      </p:sp>
      <p:sp>
        <p:nvSpPr>
          <p:cNvPr id="14" name="Text 12"/>
          <p:cNvSpPr/>
          <p:nvPr/>
        </p:nvSpPr>
        <p:spPr>
          <a:xfrm>
            <a:off x="457200" y="3127248"/>
            <a:ext cx="1243584" cy="256032"/>
          </a:xfrm>
          <a:prstGeom prst="rect">
            <a:avLst/>
          </a:prstGeom>
          <a:noFill/>
        </p:spPr>
        <p:txBody>
          <a:bodyPr wrap="square" lIns="0" tIns="0" rIns="0" bIns="0" rtlCol="0" anchor="ctr"/>
          <a:lstStyle/>
          <a:p>
            <a:pPr marL="0" indent="0" algn="ctr">
              <a:buNone/>
            </a:pPr>
            <a:r>
              <a:rPr lang="en-US" sz="750" dirty="0">
                <a:solidFill>
                  <a:srgbClr val="7A8EA8"/>
                </a:solidFill>
                <a:latin typeface="Consolas" panose="020B0609020204030204" pitchFamily="34" charset="0"/>
                <a:ea typeface="Consolas" panose="020B0609020204030204" pitchFamily="34" charset="-122"/>
                <a:cs typeface="Consolas" panose="020B0609020204030204" pitchFamily="34" charset="-120"/>
              </a:rPr>
              <a:t>bronze_reader.py</a:t>
            </a:r>
            <a:endParaRPr lang="en-US" sz="750" dirty="0"/>
          </a:p>
        </p:txBody>
      </p:sp>
      <p:sp>
        <p:nvSpPr>
          <p:cNvPr id="15" name="Text 13"/>
          <p:cNvSpPr/>
          <p:nvPr/>
        </p:nvSpPr>
        <p:spPr>
          <a:xfrm>
            <a:off x="475488" y="3429000"/>
            <a:ext cx="1225296" cy="256032"/>
          </a:xfrm>
          <a:prstGeom prst="rect">
            <a:avLst/>
          </a:prstGeom>
          <a:noFill/>
        </p:spPr>
        <p:txBody>
          <a:bodyPr wrap="square" lIns="0" tIns="0" rIns="0" bIns="0" rtlCol="0" anchor="ctr"/>
          <a:lstStyle/>
          <a:p>
            <a:pPr marL="0" indent="0" algn="ctr">
              <a:buNone/>
            </a:pPr>
            <a:r>
              <a:rPr lang="en-US" sz="800" dirty="0">
                <a:solidFill>
                  <a:srgbClr val="2A3D55"/>
                </a:solidFill>
                <a:latin typeface="Calibri" panose="020F0502020204030204" pitchFamily="34" charset="0"/>
                <a:ea typeface="Calibri" panose="020F0502020204030204" pitchFamily="34" charset="-122"/>
                <a:cs typeface="Calibri" panose="020F0502020204030204" pitchFamily="34" charset="-120"/>
              </a:rPr>
              <a:t>boto3 S3</a:t>
            </a:r>
            <a:endParaRPr lang="en-US" sz="800" dirty="0"/>
          </a:p>
        </p:txBody>
      </p:sp>
      <p:sp>
        <p:nvSpPr>
          <p:cNvPr id="16" name="Text 14"/>
          <p:cNvSpPr/>
          <p:nvPr/>
        </p:nvSpPr>
        <p:spPr>
          <a:xfrm>
            <a:off x="475488" y="3703320"/>
            <a:ext cx="1225296" cy="256032"/>
          </a:xfrm>
          <a:prstGeom prst="rect">
            <a:avLst/>
          </a:prstGeom>
          <a:noFill/>
        </p:spPr>
        <p:txBody>
          <a:bodyPr wrap="square" lIns="0" tIns="0" rIns="0" bIns="0" rtlCol="0" anchor="ctr"/>
          <a:lstStyle/>
          <a:p>
            <a:pPr marL="0" indent="0" algn="ctr">
              <a:buNone/>
            </a:pPr>
            <a:r>
              <a:rPr lang="en-US" sz="800" dirty="0">
                <a:solidFill>
                  <a:srgbClr val="2A3D55"/>
                </a:solidFill>
                <a:latin typeface="Calibri" panose="020F0502020204030204" pitchFamily="34" charset="0"/>
                <a:ea typeface="Calibri" panose="020F0502020204030204" pitchFamily="34" charset="-122"/>
                <a:cs typeface="Calibri" panose="020F0502020204030204" pitchFamily="34" charset="-120"/>
              </a:rPr>
              <a:t>copy raw1/</a:t>
            </a:r>
            <a:endParaRPr lang="en-US" sz="800" dirty="0"/>
          </a:p>
        </p:txBody>
      </p:sp>
      <p:sp>
        <p:nvSpPr>
          <p:cNvPr id="17" name="Text 15"/>
          <p:cNvSpPr/>
          <p:nvPr/>
        </p:nvSpPr>
        <p:spPr>
          <a:xfrm>
            <a:off x="475488" y="3977640"/>
            <a:ext cx="1225296" cy="256032"/>
          </a:xfrm>
          <a:prstGeom prst="rect">
            <a:avLst/>
          </a:prstGeom>
          <a:noFill/>
        </p:spPr>
        <p:txBody>
          <a:bodyPr wrap="square" lIns="0" tIns="0" rIns="0" bIns="0" rtlCol="0" anchor="ctr"/>
          <a:lstStyle/>
          <a:p>
            <a:pPr marL="0" indent="0" algn="ctr">
              <a:buNone/>
            </a:pPr>
            <a:r>
              <a:rPr lang="en-US" sz="800" dirty="0">
                <a:solidFill>
                  <a:srgbClr val="2A3D55"/>
                </a:solidFill>
                <a:latin typeface="Calibri" panose="020F0502020204030204" pitchFamily="34" charset="0"/>
                <a:ea typeface="Calibri" panose="020F0502020204030204" pitchFamily="34" charset="-122"/>
                <a:cs typeface="Calibri" panose="020F0502020204030204" pitchFamily="34" charset="-120"/>
              </a:rPr>
              <a:t>→ bronze1/</a:t>
            </a:r>
            <a:endParaRPr lang="en-US" sz="800" dirty="0"/>
          </a:p>
        </p:txBody>
      </p:sp>
      <p:sp>
        <p:nvSpPr>
          <p:cNvPr id="18" name="Text 16"/>
          <p:cNvSpPr/>
          <p:nvPr/>
        </p:nvSpPr>
        <p:spPr>
          <a:xfrm>
            <a:off x="475488" y="4251960"/>
            <a:ext cx="1225296" cy="256032"/>
          </a:xfrm>
          <a:prstGeom prst="rect">
            <a:avLst/>
          </a:prstGeom>
          <a:noFill/>
        </p:spPr>
        <p:txBody>
          <a:bodyPr wrap="square" lIns="0" tIns="0" rIns="0" bIns="0" rtlCol="0" anchor="ctr"/>
          <a:lstStyle/>
          <a:p>
            <a:pPr marL="0" indent="0" algn="ctr">
              <a:buNone/>
            </a:pPr>
            <a:r>
              <a:rPr lang="en-US" sz="800" dirty="0">
                <a:solidFill>
                  <a:srgbClr val="2A3D55"/>
                </a:solidFill>
                <a:latin typeface="Calibri" panose="020F0502020204030204" pitchFamily="34" charset="0"/>
                <a:ea typeface="Calibri" panose="020F0502020204030204" pitchFamily="34" charset="-122"/>
                <a:cs typeface="Calibri" panose="020F0502020204030204" pitchFamily="34" charset="-120"/>
              </a:rPr>
              <a:t>5 CSV files</a:t>
            </a:r>
            <a:endParaRPr lang="en-US" sz="800" dirty="0"/>
          </a:p>
        </p:txBody>
      </p:sp>
      <p:sp>
        <p:nvSpPr>
          <p:cNvPr id="19" name="Text 17"/>
          <p:cNvSpPr/>
          <p:nvPr/>
        </p:nvSpPr>
        <p:spPr>
          <a:xfrm>
            <a:off x="475488" y="4526280"/>
            <a:ext cx="1225296" cy="256032"/>
          </a:xfrm>
          <a:prstGeom prst="rect">
            <a:avLst/>
          </a:prstGeom>
          <a:noFill/>
        </p:spPr>
        <p:txBody>
          <a:bodyPr wrap="square" lIns="0" tIns="0" rIns="0" bIns="0" rtlCol="0" anchor="ctr"/>
          <a:lstStyle/>
          <a:p>
            <a:pPr marL="0" indent="0" algn="ctr">
              <a:buNone/>
            </a:pPr>
            <a:r>
              <a:rPr lang="en-US" sz="800" dirty="0">
                <a:solidFill>
                  <a:srgbClr val="2A3D55"/>
                </a:solidFill>
                <a:latin typeface="Calibri" panose="020F0502020204030204" pitchFamily="34" charset="0"/>
                <a:ea typeface="Calibri" panose="020F0502020204030204" pitchFamily="34" charset="-122"/>
                <a:cs typeface="Calibri" panose="020F0502020204030204" pitchFamily="34" charset="-120"/>
              </a:rPr>
              <a:t>No transform</a:t>
            </a:r>
            <a:endParaRPr lang="en-US" sz="800" dirty="0"/>
          </a:p>
        </p:txBody>
      </p:sp>
      <p:sp>
        <p:nvSpPr>
          <p:cNvPr id="20" name="Text 18"/>
          <p:cNvSpPr/>
          <p:nvPr/>
        </p:nvSpPr>
        <p:spPr>
          <a:xfrm>
            <a:off x="1389888" y="2029968"/>
            <a:ext cx="274320" cy="411480"/>
          </a:xfrm>
          <a:prstGeom prst="rect">
            <a:avLst/>
          </a:prstGeom>
          <a:noFill/>
        </p:spPr>
        <p:txBody>
          <a:bodyPr wrap="square" rtlCol="0" anchor="ctr"/>
          <a:lstStyle/>
          <a:p>
            <a:pPr marL="0" indent="0" algn="ctr">
              <a:buNone/>
            </a:pPr>
            <a:r>
              <a:rPr lang="en-US" sz="1800" dirty="0">
                <a:solidFill>
                  <a:srgbClr val="6A8AAA"/>
                </a:solidFill>
                <a:latin typeface="Calibri" panose="020F0502020204030204" pitchFamily="34" charset="0"/>
                <a:ea typeface="Calibri" panose="020F0502020204030204" pitchFamily="34" charset="-122"/>
                <a:cs typeface="Calibri" panose="020F0502020204030204" pitchFamily="34" charset="-120"/>
              </a:rPr>
              <a:t>→</a:t>
            </a:r>
            <a:endParaRPr lang="en-US" sz="1800" dirty="0"/>
          </a:p>
        </p:txBody>
      </p:sp>
      <p:sp>
        <p:nvSpPr>
          <p:cNvPr id="21" name="Shape 19"/>
          <p:cNvSpPr/>
          <p:nvPr/>
        </p:nvSpPr>
        <p:spPr>
          <a:xfrm>
            <a:off x="3017520" y="1984248"/>
            <a:ext cx="530352" cy="530352"/>
          </a:xfrm>
          <a:prstGeom prst="ellipse">
            <a:avLst/>
          </a:prstGeom>
          <a:solidFill>
            <a:srgbClr val="7A9BAD"/>
          </a:solidFill>
          <a:effectLst>
            <a:outerShdw blurRad="127000" dist="38100" dir="8100000" algn="bl" rotWithShape="0">
              <a:srgbClr val="000000">
                <a:alpha val="20000"/>
              </a:srgbClr>
            </a:outerShdw>
          </a:effectLst>
        </p:spPr>
      </p:sp>
      <p:sp>
        <p:nvSpPr>
          <p:cNvPr id="22" name="Text 20"/>
          <p:cNvSpPr/>
          <p:nvPr/>
        </p:nvSpPr>
        <p:spPr>
          <a:xfrm>
            <a:off x="3017520" y="1984248"/>
            <a:ext cx="530352" cy="530352"/>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400" dirty="0"/>
          </a:p>
        </p:txBody>
      </p:sp>
      <p:sp>
        <p:nvSpPr>
          <p:cNvPr id="23" name="Shape 21"/>
          <p:cNvSpPr/>
          <p:nvPr/>
        </p:nvSpPr>
        <p:spPr>
          <a:xfrm>
            <a:off x="2633472" y="2651760"/>
            <a:ext cx="1280160" cy="2286000"/>
          </a:xfrm>
          <a:prstGeom prst="rect">
            <a:avLst/>
          </a:prstGeom>
          <a:solidFill>
            <a:srgbClr val="FFFFFF"/>
          </a:solidFill>
          <a:ln w="12700">
            <a:solidFill>
              <a:srgbClr val="7A9BAD"/>
            </a:solidFill>
            <a:prstDash val="solid"/>
          </a:ln>
          <a:effectLst>
            <a:outerShdw blurRad="127000" dist="38100" dir="8100000" algn="bl" rotWithShape="0">
              <a:srgbClr val="000000">
                <a:alpha val="20000"/>
              </a:srgbClr>
            </a:outerShdw>
          </a:effectLst>
        </p:spPr>
      </p:sp>
      <p:sp>
        <p:nvSpPr>
          <p:cNvPr id="24" name="Shape 22"/>
          <p:cNvSpPr/>
          <p:nvPr/>
        </p:nvSpPr>
        <p:spPr>
          <a:xfrm>
            <a:off x="2633472" y="2651760"/>
            <a:ext cx="1280160" cy="438912"/>
          </a:xfrm>
          <a:prstGeom prst="rect">
            <a:avLst/>
          </a:prstGeom>
          <a:solidFill>
            <a:srgbClr val="7A9BAD"/>
          </a:solidFill>
        </p:spPr>
      </p:sp>
      <p:sp>
        <p:nvSpPr>
          <p:cNvPr id="25" name="Text 23"/>
          <p:cNvSpPr/>
          <p:nvPr/>
        </p:nvSpPr>
        <p:spPr>
          <a:xfrm>
            <a:off x="2651760" y="2660904"/>
            <a:ext cx="1243584" cy="420624"/>
          </a:xfrm>
          <a:prstGeom prst="rect">
            <a:avLst/>
          </a:prstGeom>
          <a:noFill/>
        </p:spPr>
        <p:txBody>
          <a:bodyPr wrap="square" lIns="0" tIns="0" rIns="0" bIns="0" rtlCol="0" anchor="ctr"/>
          <a:lstStyle/>
          <a:p>
            <a:pPr marL="0" indent="0" algn="ctr">
              <a:buNone/>
            </a:pPr>
            <a:r>
              <a:rPr lang="en-US" sz="800" b="1" dirty="0">
                <a:solidFill>
                  <a:srgbClr val="FFFFFF"/>
                </a:solidFill>
                <a:latin typeface="Calibri" panose="020F0502020204030204" pitchFamily="34" charset="0"/>
                <a:ea typeface="Calibri" panose="020F0502020204030204" pitchFamily="34" charset="-122"/>
                <a:cs typeface="Calibri" panose="020F0502020204030204" pitchFamily="34" charset="-120"/>
              </a:rPr>
              <a:t>silver_layer</a:t>
            </a:r>
            <a:endParaRPr lang="en-US" sz="800" dirty="0"/>
          </a:p>
        </p:txBody>
      </p:sp>
      <p:sp>
        <p:nvSpPr>
          <p:cNvPr id="26" name="Text 24"/>
          <p:cNvSpPr/>
          <p:nvPr/>
        </p:nvSpPr>
        <p:spPr>
          <a:xfrm>
            <a:off x="2651760" y="3127248"/>
            <a:ext cx="1243584" cy="256032"/>
          </a:xfrm>
          <a:prstGeom prst="rect">
            <a:avLst/>
          </a:prstGeom>
          <a:noFill/>
        </p:spPr>
        <p:txBody>
          <a:bodyPr wrap="square" lIns="0" tIns="0" rIns="0" bIns="0" rtlCol="0" anchor="ctr"/>
          <a:lstStyle/>
          <a:p>
            <a:pPr marL="0" indent="0" algn="ctr">
              <a:buNone/>
            </a:pPr>
            <a:r>
              <a:rPr lang="en-US" sz="750" dirty="0">
                <a:solidFill>
                  <a:srgbClr val="7A8EA8"/>
                </a:solidFill>
                <a:latin typeface="Consolas" panose="020B0609020204030204" pitchFamily="34" charset="0"/>
                <a:ea typeface="Consolas" panose="020B0609020204030204" pitchFamily="34" charset="-122"/>
                <a:cs typeface="Consolas" panose="020B0609020204030204" pitchFamily="34" charset="-120"/>
              </a:rPr>
              <a:t>silver_transform.py</a:t>
            </a:r>
            <a:endParaRPr lang="en-US" sz="750" dirty="0"/>
          </a:p>
        </p:txBody>
      </p:sp>
      <p:sp>
        <p:nvSpPr>
          <p:cNvPr id="27" name="Text 25"/>
          <p:cNvSpPr/>
          <p:nvPr/>
        </p:nvSpPr>
        <p:spPr>
          <a:xfrm>
            <a:off x="2670048" y="3429000"/>
            <a:ext cx="1225296" cy="256032"/>
          </a:xfrm>
          <a:prstGeom prst="rect">
            <a:avLst/>
          </a:prstGeom>
          <a:noFill/>
        </p:spPr>
        <p:txBody>
          <a:bodyPr wrap="square" lIns="0" tIns="0" rIns="0" bIns="0" rtlCol="0" anchor="ctr"/>
          <a:lstStyle/>
          <a:p>
            <a:pPr marL="0" indent="0" algn="ctr">
              <a:buNone/>
            </a:pPr>
            <a:r>
              <a:rPr lang="en-US" sz="800" dirty="0">
                <a:solidFill>
                  <a:srgbClr val="2A3D55"/>
                </a:solidFill>
                <a:latin typeface="Calibri" panose="020F0502020204030204" pitchFamily="34" charset="0"/>
                <a:ea typeface="Calibri" panose="020F0502020204030204" pitchFamily="34" charset="-122"/>
                <a:cs typeface="Calibri" panose="020F0502020204030204" pitchFamily="34" charset="-120"/>
              </a:rPr>
              <a:t>pyspark</a:t>
            </a:r>
            <a:endParaRPr lang="en-US" sz="800" dirty="0"/>
          </a:p>
        </p:txBody>
      </p:sp>
      <p:sp>
        <p:nvSpPr>
          <p:cNvPr id="28" name="Text 26"/>
          <p:cNvSpPr/>
          <p:nvPr/>
        </p:nvSpPr>
        <p:spPr>
          <a:xfrm>
            <a:off x="2670048" y="3703320"/>
            <a:ext cx="1225296" cy="256032"/>
          </a:xfrm>
          <a:prstGeom prst="rect">
            <a:avLst/>
          </a:prstGeom>
          <a:noFill/>
        </p:spPr>
        <p:txBody>
          <a:bodyPr wrap="square" lIns="0" tIns="0" rIns="0" bIns="0" rtlCol="0" anchor="ctr"/>
          <a:lstStyle/>
          <a:p>
            <a:pPr marL="0" indent="0" algn="ctr">
              <a:buNone/>
            </a:pPr>
            <a:r>
              <a:rPr lang="en-US" sz="800" dirty="0">
                <a:solidFill>
                  <a:srgbClr val="2A3D55"/>
                </a:solidFill>
                <a:latin typeface="Calibri" panose="020F0502020204030204" pitchFamily="34" charset="0"/>
                <a:ea typeface="Calibri" panose="020F0502020204030204" pitchFamily="34" charset="-122"/>
                <a:cs typeface="Calibri" panose="020F0502020204030204" pitchFamily="34" charset="-120"/>
              </a:rPr>
              <a:t>std columns</a:t>
            </a:r>
            <a:endParaRPr lang="en-US" sz="800" dirty="0"/>
          </a:p>
        </p:txBody>
      </p:sp>
      <p:sp>
        <p:nvSpPr>
          <p:cNvPr id="29" name="Text 27"/>
          <p:cNvSpPr/>
          <p:nvPr/>
        </p:nvSpPr>
        <p:spPr>
          <a:xfrm>
            <a:off x="2670048" y="3977640"/>
            <a:ext cx="1225296" cy="256032"/>
          </a:xfrm>
          <a:prstGeom prst="rect">
            <a:avLst/>
          </a:prstGeom>
          <a:noFill/>
        </p:spPr>
        <p:txBody>
          <a:bodyPr wrap="square" lIns="0" tIns="0" rIns="0" bIns="0" rtlCol="0" anchor="ctr"/>
          <a:lstStyle/>
          <a:p>
            <a:pPr marL="0" indent="0" algn="ctr">
              <a:buNone/>
            </a:pPr>
            <a:r>
              <a:rPr lang="en-US" sz="800" dirty="0">
                <a:solidFill>
                  <a:srgbClr val="2A3D55"/>
                </a:solidFill>
                <a:latin typeface="Calibri" panose="020F0502020204030204" pitchFamily="34" charset="0"/>
                <a:ea typeface="Calibri" panose="020F0502020204030204" pitchFamily="34" charset="-122"/>
                <a:cs typeface="Calibri" panose="020F0502020204030204" pitchFamily="34" charset="-120"/>
              </a:rPr>
              <a:t>4 OTT + meta</a:t>
            </a:r>
            <a:endParaRPr lang="en-US" sz="800" dirty="0"/>
          </a:p>
        </p:txBody>
      </p:sp>
      <p:sp>
        <p:nvSpPr>
          <p:cNvPr id="30" name="Text 28"/>
          <p:cNvSpPr/>
          <p:nvPr/>
        </p:nvSpPr>
        <p:spPr>
          <a:xfrm>
            <a:off x="2670048" y="4251960"/>
            <a:ext cx="1225296" cy="256032"/>
          </a:xfrm>
          <a:prstGeom prst="rect">
            <a:avLst/>
          </a:prstGeom>
          <a:noFill/>
        </p:spPr>
        <p:txBody>
          <a:bodyPr wrap="square" lIns="0" tIns="0" rIns="0" bIns="0" rtlCol="0" anchor="ctr"/>
          <a:lstStyle/>
          <a:p>
            <a:pPr marL="0" indent="0" algn="ctr">
              <a:buNone/>
            </a:pPr>
            <a:r>
              <a:rPr lang="en-US" sz="800" dirty="0">
                <a:solidFill>
                  <a:srgbClr val="2A3D55"/>
                </a:solidFill>
                <a:latin typeface="Calibri" panose="020F0502020204030204" pitchFamily="34" charset="0"/>
                <a:ea typeface="Calibri" panose="020F0502020204030204" pitchFamily="34" charset="-122"/>
                <a:cs typeface="Calibri" panose="020F0502020204030204" pitchFamily="34" charset="-120"/>
              </a:rPr>
              <a:t>locations</a:t>
            </a:r>
            <a:endParaRPr lang="en-US" sz="800" dirty="0"/>
          </a:p>
        </p:txBody>
      </p:sp>
      <p:sp>
        <p:nvSpPr>
          <p:cNvPr id="31" name="Text 29"/>
          <p:cNvSpPr/>
          <p:nvPr/>
        </p:nvSpPr>
        <p:spPr>
          <a:xfrm>
            <a:off x="2670048" y="4526280"/>
            <a:ext cx="1225296" cy="256032"/>
          </a:xfrm>
          <a:prstGeom prst="rect">
            <a:avLst/>
          </a:prstGeom>
          <a:noFill/>
        </p:spPr>
        <p:txBody>
          <a:bodyPr wrap="square" lIns="0" tIns="0" rIns="0" bIns="0" rtlCol="0" anchor="ctr"/>
          <a:lstStyle/>
          <a:p>
            <a:pPr marL="0" indent="0" algn="ctr">
              <a:buNone/>
            </a:pPr>
            <a:r>
              <a:rPr lang="en-US" sz="800" dirty="0">
                <a:solidFill>
                  <a:srgbClr val="2A3D55"/>
                </a:solidFill>
                <a:latin typeface="Calibri" panose="020F0502020204030204" pitchFamily="34" charset="0"/>
                <a:ea typeface="Calibri" panose="020F0502020204030204" pitchFamily="34" charset="-122"/>
                <a:cs typeface="Calibri" panose="020F0502020204030204" pitchFamily="34" charset="-120"/>
              </a:rPr>
              <a:t>→ Parquet</a:t>
            </a:r>
            <a:endParaRPr lang="en-US" sz="800" dirty="0"/>
          </a:p>
        </p:txBody>
      </p:sp>
      <p:sp>
        <p:nvSpPr>
          <p:cNvPr id="32" name="Text 30"/>
          <p:cNvSpPr/>
          <p:nvPr/>
        </p:nvSpPr>
        <p:spPr>
          <a:xfrm>
            <a:off x="3584448" y="2029968"/>
            <a:ext cx="274320" cy="411480"/>
          </a:xfrm>
          <a:prstGeom prst="rect">
            <a:avLst/>
          </a:prstGeom>
          <a:noFill/>
        </p:spPr>
        <p:txBody>
          <a:bodyPr wrap="square" rtlCol="0" anchor="ctr"/>
          <a:lstStyle/>
          <a:p>
            <a:pPr marL="0" indent="0" algn="ctr">
              <a:buNone/>
            </a:pPr>
            <a:r>
              <a:rPr lang="en-US" sz="1800" dirty="0">
                <a:solidFill>
                  <a:srgbClr val="6A8AAA"/>
                </a:solidFill>
                <a:latin typeface="Calibri" panose="020F0502020204030204" pitchFamily="34" charset="0"/>
                <a:ea typeface="Calibri" panose="020F0502020204030204" pitchFamily="34" charset="-122"/>
                <a:cs typeface="Calibri" panose="020F0502020204030204" pitchFamily="34" charset="-120"/>
              </a:rPr>
              <a:t>→</a:t>
            </a:r>
            <a:endParaRPr lang="en-US" sz="1800" dirty="0"/>
          </a:p>
        </p:txBody>
      </p:sp>
      <p:sp>
        <p:nvSpPr>
          <p:cNvPr id="33" name="Shape 31"/>
          <p:cNvSpPr/>
          <p:nvPr/>
        </p:nvSpPr>
        <p:spPr>
          <a:xfrm>
            <a:off x="5212080" y="1984248"/>
            <a:ext cx="530352" cy="530352"/>
          </a:xfrm>
          <a:prstGeom prst="ellipse">
            <a:avLst/>
          </a:prstGeom>
          <a:solidFill>
            <a:srgbClr val="C9A84C"/>
          </a:solidFill>
          <a:effectLst>
            <a:outerShdw blurRad="127000" dist="38100" dir="8100000" algn="bl" rotWithShape="0">
              <a:srgbClr val="000000">
                <a:alpha val="20000"/>
              </a:srgbClr>
            </a:outerShdw>
          </a:effectLst>
        </p:spPr>
      </p:sp>
      <p:sp>
        <p:nvSpPr>
          <p:cNvPr id="34" name="Text 32"/>
          <p:cNvSpPr/>
          <p:nvPr/>
        </p:nvSpPr>
        <p:spPr>
          <a:xfrm>
            <a:off x="5212080" y="1984248"/>
            <a:ext cx="530352" cy="530352"/>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400" dirty="0"/>
          </a:p>
        </p:txBody>
      </p:sp>
      <p:sp>
        <p:nvSpPr>
          <p:cNvPr id="35" name="Shape 33"/>
          <p:cNvSpPr/>
          <p:nvPr/>
        </p:nvSpPr>
        <p:spPr>
          <a:xfrm>
            <a:off x="4828032" y="2651760"/>
            <a:ext cx="1280160" cy="2286000"/>
          </a:xfrm>
          <a:prstGeom prst="rect">
            <a:avLst/>
          </a:prstGeom>
          <a:solidFill>
            <a:srgbClr val="FFFFFF"/>
          </a:solidFill>
          <a:ln w="12700">
            <a:solidFill>
              <a:srgbClr val="C9A84C"/>
            </a:solidFill>
            <a:prstDash val="solid"/>
          </a:ln>
          <a:effectLst>
            <a:outerShdw blurRad="127000" dist="38100" dir="8100000" algn="bl" rotWithShape="0">
              <a:srgbClr val="000000">
                <a:alpha val="20000"/>
              </a:srgbClr>
            </a:outerShdw>
          </a:effectLst>
        </p:spPr>
      </p:sp>
      <p:sp>
        <p:nvSpPr>
          <p:cNvPr id="36" name="Shape 34"/>
          <p:cNvSpPr/>
          <p:nvPr/>
        </p:nvSpPr>
        <p:spPr>
          <a:xfrm>
            <a:off x="4828032" y="2651760"/>
            <a:ext cx="1280160" cy="438912"/>
          </a:xfrm>
          <a:prstGeom prst="rect">
            <a:avLst/>
          </a:prstGeom>
          <a:solidFill>
            <a:srgbClr val="C9A84C"/>
          </a:solidFill>
        </p:spPr>
      </p:sp>
      <p:sp>
        <p:nvSpPr>
          <p:cNvPr id="37" name="Text 35"/>
          <p:cNvSpPr/>
          <p:nvPr/>
        </p:nvSpPr>
        <p:spPr>
          <a:xfrm>
            <a:off x="4846320" y="2660904"/>
            <a:ext cx="1243584" cy="420624"/>
          </a:xfrm>
          <a:prstGeom prst="rect">
            <a:avLst/>
          </a:prstGeom>
          <a:noFill/>
        </p:spPr>
        <p:txBody>
          <a:bodyPr wrap="square" lIns="0" tIns="0" rIns="0" bIns="0" rtlCol="0" anchor="ctr"/>
          <a:lstStyle/>
          <a:p>
            <a:pPr marL="0" indent="0" algn="ctr">
              <a:buNone/>
            </a:pPr>
            <a:r>
              <a:rPr lang="en-US" sz="800" b="1" dirty="0">
                <a:solidFill>
                  <a:srgbClr val="FFFFFF"/>
                </a:solidFill>
                <a:latin typeface="Calibri" panose="020F0502020204030204" pitchFamily="34" charset="0"/>
                <a:ea typeface="Calibri" panose="020F0502020204030204" pitchFamily="34" charset="-122"/>
                <a:cs typeface="Calibri" panose="020F0502020204030204" pitchFamily="34" charset="-120"/>
              </a:rPr>
              <a:t>gold_layer</a:t>
            </a:r>
            <a:endParaRPr lang="en-US" sz="800" dirty="0"/>
          </a:p>
        </p:txBody>
      </p:sp>
      <p:sp>
        <p:nvSpPr>
          <p:cNvPr id="38" name="Text 36"/>
          <p:cNvSpPr/>
          <p:nvPr/>
        </p:nvSpPr>
        <p:spPr>
          <a:xfrm>
            <a:off x="4846320" y="3127248"/>
            <a:ext cx="1243584" cy="256032"/>
          </a:xfrm>
          <a:prstGeom prst="rect">
            <a:avLst/>
          </a:prstGeom>
          <a:noFill/>
        </p:spPr>
        <p:txBody>
          <a:bodyPr wrap="square" lIns="0" tIns="0" rIns="0" bIns="0" rtlCol="0" anchor="ctr"/>
          <a:lstStyle/>
          <a:p>
            <a:pPr marL="0" indent="0" algn="ctr">
              <a:buNone/>
            </a:pPr>
            <a:r>
              <a:rPr lang="en-US" sz="750" dirty="0">
                <a:solidFill>
                  <a:srgbClr val="7A8EA8"/>
                </a:solidFill>
                <a:latin typeface="Consolas" panose="020B0609020204030204" pitchFamily="34" charset="0"/>
                <a:ea typeface="Consolas" panose="020B0609020204030204" pitchFamily="34" charset="-122"/>
                <a:cs typeface="Consolas" panose="020B0609020204030204" pitchFamily="34" charset="-120"/>
              </a:rPr>
              <a:t>gold_transform.py</a:t>
            </a:r>
            <a:endParaRPr lang="en-US" sz="750" dirty="0"/>
          </a:p>
        </p:txBody>
      </p:sp>
      <p:sp>
        <p:nvSpPr>
          <p:cNvPr id="39" name="Text 37"/>
          <p:cNvSpPr/>
          <p:nvPr/>
        </p:nvSpPr>
        <p:spPr>
          <a:xfrm>
            <a:off x="4864608" y="3429000"/>
            <a:ext cx="1225296" cy="256032"/>
          </a:xfrm>
          <a:prstGeom prst="rect">
            <a:avLst/>
          </a:prstGeom>
          <a:noFill/>
        </p:spPr>
        <p:txBody>
          <a:bodyPr wrap="square" lIns="0" tIns="0" rIns="0" bIns="0" rtlCol="0" anchor="ctr"/>
          <a:lstStyle/>
          <a:p>
            <a:pPr marL="0" indent="0" algn="ctr">
              <a:buNone/>
            </a:pPr>
            <a:r>
              <a:rPr lang="en-US" sz="800" dirty="0">
                <a:solidFill>
                  <a:srgbClr val="2A3D55"/>
                </a:solidFill>
                <a:latin typeface="Calibri" panose="020F0502020204030204" pitchFamily="34" charset="0"/>
                <a:ea typeface="Calibri" panose="020F0502020204030204" pitchFamily="34" charset="-122"/>
                <a:cs typeface="Calibri" panose="020F0502020204030204" pitchFamily="34" charset="-120"/>
              </a:rPr>
              <a:t>Analytics View</a:t>
            </a:r>
            <a:endParaRPr lang="en-US" sz="800" dirty="0"/>
          </a:p>
        </p:txBody>
      </p:sp>
      <p:sp>
        <p:nvSpPr>
          <p:cNvPr id="40" name="Text 38"/>
          <p:cNvSpPr/>
          <p:nvPr/>
        </p:nvSpPr>
        <p:spPr>
          <a:xfrm>
            <a:off x="4864608" y="3703320"/>
            <a:ext cx="1225296" cy="256032"/>
          </a:xfrm>
          <a:prstGeom prst="rect">
            <a:avLst/>
          </a:prstGeom>
          <a:noFill/>
        </p:spPr>
        <p:txBody>
          <a:bodyPr wrap="square" lIns="0" tIns="0" rIns="0" bIns="0" rtlCol="0" anchor="ctr"/>
          <a:lstStyle/>
          <a:p>
            <a:pPr marL="0" indent="0" algn="ctr">
              <a:buNone/>
            </a:pPr>
            <a:r>
              <a:rPr lang="en-US" sz="800" dirty="0">
                <a:solidFill>
                  <a:srgbClr val="2A3D55"/>
                </a:solidFill>
                <a:latin typeface="Calibri" panose="020F0502020204030204" pitchFamily="34" charset="0"/>
                <a:ea typeface="Calibri" panose="020F0502020204030204" pitchFamily="34" charset="-122"/>
                <a:cs typeface="Calibri" panose="020F0502020204030204" pitchFamily="34" charset="-120"/>
              </a:rPr>
              <a:t>SCD Type 2</a:t>
            </a:r>
            <a:endParaRPr lang="en-US" sz="800" dirty="0"/>
          </a:p>
        </p:txBody>
      </p:sp>
      <p:sp>
        <p:nvSpPr>
          <p:cNvPr id="41" name="Text 39"/>
          <p:cNvSpPr/>
          <p:nvPr/>
        </p:nvSpPr>
        <p:spPr>
          <a:xfrm>
            <a:off x="4864608" y="3977640"/>
            <a:ext cx="1225296" cy="256032"/>
          </a:xfrm>
          <a:prstGeom prst="rect">
            <a:avLst/>
          </a:prstGeom>
          <a:noFill/>
        </p:spPr>
        <p:txBody>
          <a:bodyPr wrap="square" lIns="0" tIns="0" rIns="0" bIns="0" rtlCol="0" anchor="ctr"/>
          <a:lstStyle/>
          <a:p>
            <a:pPr marL="0" indent="0" algn="ctr">
              <a:buNone/>
            </a:pPr>
            <a:r>
              <a:rPr lang="en-US" sz="800" dirty="0">
                <a:solidFill>
                  <a:srgbClr val="2A3D55"/>
                </a:solidFill>
                <a:latin typeface="Calibri" panose="020F0502020204030204" pitchFamily="34" charset="0"/>
                <a:ea typeface="Calibri" panose="020F0502020204030204" pitchFamily="34" charset="-122"/>
                <a:cs typeface="Calibri" panose="020F0502020204030204" pitchFamily="34" charset="-120"/>
              </a:rPr>
              <a:t>vw_movie_analytics</a:t>
            </a:r>
            <a:endParaRPr lang="en-US" sz="800" dirty="0"/>
          </a:p>
        </p:txBody>
      </p:sp>
      <p:sp>
        <p:nvSpPr>
          <p:cNvPr id="42" name="Text 40"/>
          <p:cNvSpPr/>
          <p:nvPr/>
        </p:nvSpPr>
        <p:spPr>
          <a:xfrm>
            <a:off x="4864608" y="4251960"/>
            <a:ext cx="1225296" cy="256032"/>
          </a:xfrm>
          <a:prstGeom prst="rect">
            <a:avLst/>
          </a:prstGeom>
          <a:noFill/>
        </p:spPr>
        <p:txBody>
          <a:bodyPr wrap="square" lIns="0" tIns="0" rIns="0" bIns="0" rtlCol="0" anchor="ctr"/>
          <a:lstStyle/>
          <a:p>
            <a:pPr marL="0" indent="0" algn="ctr">
              <a:buNone/>
            </a:pPr>
            <a:r>
              <a:rPr lang="en-US" sz="800" dirty="0">
                <a:solidFill>
                  <a:srgbClr val="2A3D55"/>
                </a:solidFill>
                <a:latin typeface="Calibri" panose="020F0502020204030204" pitchFamily="34" charset="0"/>
                <a:ea typeface="Calibri" panose="020F0502020204030204" pitchFamily="34" charset="-122"/>
                <a:cs typeface="Calibri" panose="020F0502020204030204" pitchFamily="34" charset="-120"/>
              </a:rPr>
              <a:t>Aggregated Gold</a:t>
            </a:r>
            <a:endParaRPr lang="en-US" sz="800" dirty="0"/>
          </a:p>
        </p:txBody>
      </p:sp>
      <p:sp>
        <p:nvSpPr>
          <p:cNvPr id="43" name="Text 41"/>
          <p:cNvSpPr/>
          <p:nvPr/>
        </p:nvSpPr>
        <p:spPr>
          <a:xfrm>
            <a:off x="4864608" y="4526280"/>
            <a:ext cx="1225296" cy="256032"/>
          </a:xfrm>
          <a:prstGeom prst="rect">
            <a:avLst/>
          </a:prstGeom>
          <a:noFill/>
        </p:spPr>
        <p:txBody>
          <a:bodyPr wrap="square" lIns="0" tIns="0" rIns="0" bIns="0" rtlCol="0" anchor="ctr"/>
          <a:lstStyle/>
          <a:p>
            <a:pPr marL="0" indent="0" algn="ctr">
              <a:buNone/>
            </a:pPr>
            <a:r>
              <a:rPr lang="en-US" sz="800" dirty="0">
                <a:solidFill>
                  <a:srgbClr val="2A3D55"/>
                </a:solidFill>
                <a:latin typeface="Calibri" panose="020F0502020204030204" pitchFamily="34" charset="0"/>
                <a:ea typeface="Calibri" panose="020F0502020204030204" pitchFamily="34" charset="-122"/>
                <a:cs typeface="Calibri" panose="020F0502020204030204" pitchFamily="34" charset="-120"/>
              </a:rPr>
              <a:t>→ Parquet</a:t>
            </a:r>
            <a:endParaRPr lang="en-US" sz="800" dirty="0"/>
          </a:p>
        </p:txBody>
      </p:sp>
      <p:sp>
        <p:nvSpPr>
          <p:cNvPr id="44" name="Text 42"/>
          <p:cNvSpPr/>
          <p:nvPr/>
        </p:nvSpPr>
        <p:spPr>
          <a:xfrm>
            <a:off x="5779008" y="2029968"/>
            <a:ext cx="274320" cy="411480"/>
          </a:xfrm>
          <a:prstGeom prst="rect">
            <a:avLst/>
          </a:prstGeom>
          <a:noFill/>
        </p:spPr>
        <p:txBody>
          <a:bodyPr wrap="square" rtlCol="0" anchor="ctr"/>
          <a:lstStyle/>
          <a:p>
            <a:pPr marL="0" indent="0" algn="ctr">
              <a:buNone/>
            </a:pPr>
            <a:r>
              <a:rPr lang="en-US" sz="1800" dirty="0">
                <a:solidFill>
                  <a:srgbClr val="6A8AAA"/>
                </a:solidFill>
                <a:latin typeface="Calibri" panose="020F0502020204030204" pitchFamily="34" charset="0"/>
                <a:ea typeface="Calibri" panose="020F0502020204030204" pitchFamily="34" charset="-122"/>
                <a:cs typeface="Calibri" panose="020F0502020204030204" pitchFamily="34" charset="-120"/>
              </a:rPr>
              <a:t>→</a:t>
            </a:r>
            <a:endParaRPr lang="en-US" sz="1800" dirty="0"/>
          </a:p>
        </p:txBody>
      </p:sp>
      <p:sp>
        <p:nvSpPr>
          <p:cNvPr id="45" name="Shape 43"/>
          <p:cNvSpPr/>
          <p:nvPr/>
        </p:nvSpPr>
        <p:spPr>
          <a:xfrm>
            <a:off x="7406640" y="1984248"/>
            <a:ext cx="530352" cy="530352"/>
          </a:xfrm>
          <a:prstGeom prst="ellipse">
            <a:avLst/>
          </a:prstGeom>
          <a:solidFill>
            <a:srgbClr val="29B5E8"/>
          </a:solidFill>
          <a:effectLst>
            <a:outerShdw blurRad="127000" dist="38100" dir="8100000" algn="bl" rotWithShape="0">
              <a:srgbClr val="000000">
                <a:alpha val="20000"/>
              </a:srgbClr>
            </a:outerShdw>
          </a:effectLst>
        </p:spPr>
      </p:sp>
      <p:sp>
        <p:nvSpPr>
          <p:cNvPr id="46" name="Text 44"/>
          <p:cNvSpPr/>
          <p:nvPr/>
        </p:nvSpPr>
        <p:spPr>
          <a:xfrm>
            <a:off x="7406640" y="1984248"/>
            <a:ext cx="530352" cy="530352"/>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400" dirty="0"/>
          </a:p>
        </p:txBody>
      </p:sp>
      <p:sp>
        <p:nvSpPr>
          <p:cNvPr id="47" name="Shape 45"/>
          <p:cNvSpPr/>
          <p:nvPr/>
        </p:nvSpPr>
        <p:spPr>
          <a:xfrm>
            <a:off x="7022592" y="2651760"/>
            <a:ext cx="1280160" cy="2286000"/>
          </a:xfrm>
          <a:prstGeom prst="rect">
            <a:avLst/>
          </a:prstGeom>
          <a:solidFill>
            <a:srgbClr val="FFFFFF"/>
          </a:solidFill>
          <a:ln w="12700">
            <a:solidFill>
              <a:srgbClr val="29B5E8"/>
            </a:solidFill>
            <a:prstDash val="solid"/>
          </a:ln>
          <a:effectLst>
            <a:outerShdw blurRad="127000" dist="38100" dir="8100000" algn="bl" rotWithShape="0">
              <a:srgbClr val="000000">
                <a:alpha val="20000"/>
              </a:srgbClr>
            </a:outerShdw>
          </a:effectLst>
        </p:spPr>
      </p:sp>
      <p:sp>
        <p:nvSpPr>
          <p:cNvPr id="48" name="Shape 46"/>
          <p:cNvSpPr/>
          <p:nvPr/>
        </p:nvSpPr>
        <p:spPr>
          <a:xfrm>
            <a:off x="7022592" y="2651760"/>
            <a:ext cx="1280160" cy="438912"/>
          </a:xfrm>
          <a:prstGeom prst="rect">
            <a:avLst/>
          </a:prstGeom>
          <a:solidFill>
            <a:srgbClr val="29B5E8"/>
          </a:solidFill>
        </p:spPr>
      </p:sp>
      <p:sp>
        <p:nvSpPr>
          <p:cNvPr id="49" name="Text 47"/>
          <p:cNvSpPr/>
          <p:nvPr/>
        </p:nvSpPr>
        <p:spPr>
          <a:xfrm>
            <a:off x="7040880" y="2660904"/>
            <a:ext cx="1243584" cy="420624"/>
          </a:xfrm>
          <a:prstGeom prst="rect">
            <a:avLst/>
          </a:prstGeom>
          <a:noFill/>
        </p:spPr>
        <p:txBody>
          <a:bodyPr wrap="square" lIns="0" tIns="0" rIns="0" bIns="0" rtlCol="0" anchor="ctr"/>
          <a:lstStyle/>
          <a:p>
            <a:pPr marL="0" indent="0" algn="ctr">
              <a:buNone/>
            </a:pPr>
            <a:r>
              <a:rPr lang="en-US" sz="800" b="1" dirty="0">
                <a:solidFill>
                  <a:srgbClr val="FFFFFF"/>
                </a:solidFill>
                <a:latin typeface="Calibri" panose="020F0502020204030204" pitchFamily="34" charset="0"/>
                <a:ea typeface="Calibri" panose="020F0502020204030204" pitchFamily="34" charset="-122"/>
                <a:cs typeface="Calibri" panose="020F0502020204030204" pitchFamily="34" charset="-120"/>
              </a:rPr>
              <a:t>snowflake_load</a:t>
            </a:r>
            <a:endParaRPr lang="en-US" sz="800" dirty="0"/>
          </a:p>
        </p:txBody>
      </p:sp>
      <p:sp>
        <p:nvSpPr>
          <p:cNvPr id="50" name="Text 48"/>
          <p:cNvSpPr/>
          <p:nvPr/>
        </p:nvSpPr>
        <p:spPr>
          <a:xfrm>
            <a:off x="7040880" y="3127248"/>
            <a:ext cx="1243584" cy="256032"/>
          </a:xfrm>
          <a:prstGeom prst="rect">
            <a:avLst/>
          </a:prstGeom>
          <a:noFill/>
        </p:spPr>
        <p:txBody>
          <a:bodyPr wrap="square" lIns="0" tIns="0" rIns="0" bIns="0" rtlCol="0" anchor="ctr"/>
          <a:lstStyle/>
          <a:p>
            <a:pPr marL="0" indent="0" algn="ctr">
              <a:buNone/>
            </a:pPr>
            <a:r>
              <a:rPr lang="en-US" sz="750" dirty="0">
                <a:solidFill>
                  <a:srgbClr val="7A8EA8"/>
                </a:solidFill>
                <a:latin typeface="Consolas" panose="020B0609020204030204" pitchFamily="34" charset="0"/>
                <a:ea typeface="Consolas" panose="020B0609020204030204" pitchFamily="34" charset="-122"/>
                <a:cs typeface="Consolas" panose="020B0609020204030204" pitchFamily="34" charset="-120"/>
              </a:rPr>
              <a:t>snowflake_load.py</a:t>
            </a:r>
            <a:endParaRPr lang="en-US" sz="750" dirty="0"/>
          </a:p>
        </p:txBody>
      </p:sp>
      <p:sp>
        <p:nvSpPr>
          <p:cNvPr id="51" name="Text 49"/>
          <p:cNvSpPr/>
          <p:nvPr/>
        </p:nvSpPr>
        <p:spPr>
          <a:xfrm>
            <a:off x="7059168" y="3429000"/>
            <a:ext cx="1225296" cy="256032"/>
          </a:xfrm>
          <a:prstGeom prst="rect">
            <a:avLst/>
          </a:prstGeom>
          <a:noFill/>
        </p:spPr>
        <p:txBody>
          <a:bodyPr wrap="square" lIns="0" tIns="0" rIns="0" bIns="0" rtlCol="0" anchor="ctr"/>
          <a:lstStyle/>
          <a:p>
            <a:pPr marL="0" indent="0" algn="ctr">
              <a:buNone/>
            </a:pPr>
            <a:r>
              <a:rPr lang="en-US" sz="800" dirty="0">
                <a:solidFill>
                  <a:srgbClr val="2A3D55"/>
                </a:solidFill>
                <a:latin typeface="Calibri" panose="020F0502020204030204" pitchFamily="34" charset="0"/>
                <a:ea typeface="Calibri" panose="020F0502020204030204" pitchFamily="34" charset="-122"/>
                <a:cs typeface="Calibri" panose="020F0502020204030204" pitchFamily="34" charset="-120"/>
              </a:rPr>
              <a:t>COPY INTO</a:t>
            </a:r>
            <a:endParaRPr lang="en-US" sz="800" dirty="0"/>
          </a:p>
        </p:txBody>
      </p:sp>
      <p:sp>
        <p:nvSpPr>
          <p:cNvPr id="52" name="Text 50"/>
          <p:cNvSpPr/>
          <p:nvPr/>
        </p:nvSpPr>
        <p:spPr>
          <a:xfrm>
            <a:off x="7059168" y="3703320"/>
            <a:ext cx="1225296" cy="256032"/>
          </a:xfrm>
          <a:prstGeom prst="rect">
            <a:avLst/>
          </a:prstGeom>
          <a:noFill/>
        </p:spPr>
        <p:txBody>
          <a:bodyPr wrap="square" lIns="0" tIns="0" rIns="0" bIns="0" rtlCol="0" anchor="ctr"/>
          <a:lstStyle/>
          <a:p>
            <a:pPr marL="0" indent="0" algn="ctr">
              <a:buNone/>
            </a:pPr>
            <a:r>
              <a:rPr lang="en-US" sz="800" dirty="0">
                <a:solidFill>
                  <a:srgbClr val="2A3D55"/>
                </a:solidFill>
                <a:latin typeface="Calibri" panose="020F0502020204030204" pitchFamily="34" charset="0"/>
                <a:ea typeface="Calibri" panose="020F0502020204030204" pitchFamily="34" charset="-122"/>
                <a:cs typeface="Calibri" panose="020F0502020204030204" pitchFamily="34" charset="-120"/>
              </a:rPr>
              <a:t>6 tables</a:t>
            </a:r>
            <a:endParaRPr lang="en-US" sz="800" dirty="0"/>
          </a:p>
        </p:txBody>
      </p:sp>
      <p:sp>
        <p:nvSpPr>
          <p:cNvPr id="53" name="Text 51"/>
          <p:cNvSpPr/>
          <p:nvPr/>
        </p:nvSpPr>
        <p:spPr>
          <a:xfrm>
            <a:off x="7059168" y="3977640"/>
            <a:ext cx="1225296" cy="256032"/>
          </a:xfrm>
          <a:prstGeom prst="rect">
            <a:avLst/>
          </a:prstGeom>
          <a:noFill/>
        </p:spPr>
        <p:txBody>
          <a:bodyPr wrap="square" lIns="0" tIns="0" rIns="0" bIns="0" rtlCol="0" anchor="ctr"/>
          <a:lstStyle/>
          <a:p>
            <a:pPr marL="0" indent="0" algn="ctr">
              <a:buNone/>
            </a:pPr>
            <a:r>
              <a:rPr lang="en-US" sz="800" dirty="0">
                <a:solidFill>
                  <a:srgbClr val="2A3D55"/>
                </a:solidFill>
                <a:latin typeface="Calibri" panose="020F0502020204030204" pitchFamily="34" charset="0"/>
                <a:ea typeface="Calibri" panose="020F0502020204030204" pitchFamily="34" charset="-122"/>
                <a:cs typeface="Calibri" panose="020F0502020204030204" pitchFamily="34" charset="-120"/>
              </a:rPr>
              <a:t>Parquet</a:t>
            </a:r>
            <a:endParaRPr lang="en-US" sz="800" dirty="0"/>
          </a:p>
        </p:txBody>
      </p:sp>
      <p:sp>
        <p:nvSpPr>
          <p:cNvPr id="54" name="Text 52"/>
          <p:cNvSpPr/>
          <p:nvPr/>
        </p:nvSpPr>
        <p:spPr>
          <a:xfrm>
            <a:off x="7059168" y="4251960"/>
            <a:ext cx="1225296" cy="256032"/>
          </a:xfrm>
          <a:prstGeom prst="rect">
            <a:avLst/>
          </a:prstGeom>
          <a:noFill/>
        </p:spPr>
        <p:txBody>
          <a:bodyPr wrap="square" lIns="0" tIns="0" rIns="0" bIns="0" rtlCol="0" anchor="ctr"/>
          <a:lstStyle/>
          <a:p>
            <a:pPr marL="0" indent="0" algn="ctr">
              <a:buNone/>
            </a:pPr>
            <a:r>
              <a:rPr lang="en-US" sz="800" dirty="0">
                <a:solidFill>
                  <a:srgbClr val="2A3D55"/>
                </a:solidFill>
                <a:latin typeface="Calibri" panose="020F0502020204030204" pitchFamily="34" charset="0"/>
                <a:ea typeface="Calibri" panose="020F0502020204030204" pitchFamily="34" charset="-122"/>
                <a:cs typeface="Calibri" panose="020F0502020204030204" pitchFamily="34" charset="-120"/>
              </a:rPr>
              <a:t>→ Snowflake</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0D4AA"/>
          </a:solidFill>
        </p:spPr>
      </p:sp>
      <p:sp>
        <p:nvSpPr>
          <p:cNvPr id="3" name="Shape 1"/>
          <p:cNvSpPr/>
          <p:nvPr/>
        </p:nvSpPr>
        <p:spPr>
          <a:xfrm>
            <a:off x="201168" y="0"/>
            <a:ext cx="8942832" cy="777240"/>
          </a:xfrm>
          <a:prstGeom prst="rect">
            <a:avLst/>
          </a:prstGeom>
          <a:solidFill>
            <a:srgbClr val="0F2240"/>
          </a:solidFill>
        </p:spPr>
      </p:sp>
      <p:sp>
        <p:nvSpPr>
          <p:cNvPr id="4" name="Text 2"/>
          <p:cNvSpPr/>
          <p:nvPr/>
        </p:nvSpPr>
        <p:spPr>
          <a:xfrm>
            <a:off x="457200" y="0"/>
            <a:ext cx="8229600" cy="777240"/>
          </a:xfrm>
          <a:prstGeom prst="rect">
            <a:avLst/>
          </a:prstGeom>
          <a:noFill/>
        </p:spPr>
        <p:txBody>
          <a:bodyPr wrap="square" lIns="0" tIns="0" rIns="0" bIns="0" rtlCol="0" anchor="ctr"/>
          <a:lstStyle/>
          <a:p>
            <a:pPr marL="0" indent="0">
              <a:buNone/>
            </a:pPr>
            <a:r>
              <a:rPr lang="en-US" sz="2400" b="1" dirty="0">
                <a:solidFill>
                  <a:srgbClr val="FFFFFF"/>
                </a:solidFill>
                <a:latin typeface="Calibri" panose="020F0502020204030204" pitchFamily="34" charset="0"/>
              </a:rPr>
              <a:t>END-TO-END ARCHITECTURE</a:t>
            </a:r>
            <a:endParaRPr lang="en-US" sz="2400" b="1" dirty="0">
              <a:solidFill>
                <a:srgbClr val="FFFFFF"/>
              </a:solidFill>
              <a:latin typeface="Calibri" panose="020F0502020204030204" pitchFamily="34" charset="0"/>
            </a:endParaRPr>
          </a:p>
        </p:txBody>
      </p:sp>
      <p:pic>
        <p:nvPicPr>
          <p:cNvPr id="6" name="Picture 5" descr="WhatsApp Image 2026-03-21 at 21.33.17"/>
          <p:cNvPicPr>
            <a:picLocks noChangeAspect="1"/>
          </p:cNvPicPr>
          <p:nvPr/>
        </p:nvPicPr>
        <p:blipFill>
          <a:blip r:embed="rId1"/>
          <a:stretch>
            <a:fillRect/>
          </a:stretch>
        </p:blipFill>
        <p:spPr>
          <a:xfrm>
            <a:off x="482600" y="771525"/>
            <a:ext cx="8497570" cy="435800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0D4AA"/>
          </a:solidFill>
        </p:spPr>
      </p:sp>
      <p:sp>
        <p:nvSpPr>
          <p:cNvPr id="3" name="Shape 1"/>
          <p:cNvSpPr/>
          <p:nvPr/>
        </p:nvSpPr>
        <p:spPr>
          <a:xfrm>
            <a:off x="201168" y="0"/>
            <a:ext cx="8942832" cy="777240"/>
          </a:xfrm>
          <a:prstGeom prst="rect">
            <a:avLst/>
          </a:prstGeom>
          <a:solidFill>
            <a:srgbClr val="0F2240"/>
          </a:solidFill>
        </p:spPr>
      </p:sp>
      <p:sp>
        <p:nvSpPr>
          <p:cNvPr id="4" name="Title"/>
          <p:cNvSpPr/>
          <p:nvPr/>
        </p:nvSpPr>
        <p:spPr>
          <a:xfrm>
            <a:off x="457200" y="0"/>
            <a:ext cx="8229600" cy="777240"/>
          </a:xfrm>
          <a:prstGeom prst="rect">
            <a:avLst/>
          </a:prstGeom>
          <a:noFill/>
        </p:spPr>
        <p:txBody>
          <a:bodyPr wrap="square" lIns="0" tIns="0" rIns="0" bIns="0" rtlCol="0" anchor="ctr"/>
          <a:lstStyle/>
          <a:p>
            <a:pPr marL="0" indent="0">
              <a:buNone/>
            </a:pPr>
            <a:r>
              <a:rPr lang="en-US" sz="2400" b="1" dirty="0">
                <a:solidFill>
                  <a:srgbClr val="FFFFFF"/>
                </a:solidFill>
                <a:latin typeface="Calibri" panose="020F0502020204030204" pitchFamily="34" charset="0"/>
              </a:rPr>
              <a:t>STAR SCHEMA  —  SILVER LAYER</a:t>
            </a:r>
            <a:endParaRPr lang="en-US" sz="2400" b="1" dirty="0">
              <a:solidFill>
                <a:srgbClr val="FFFFFF"/>
              </a:solidFill>
              <a:latin typeface="Calibri" panose="020F0502020204030204" pitchFamily="34" charset="0"/>
            </a:endParaRPr>
          </a:p>
        </p:txBody>
      </p:sp>
      <p:sp>
        <p:nvSpPr>
          <p:cNvPr id="10" name="FactBg"/>
          <p:cNvSpPr/>
          <p:nvPr/>
        </p:nvSpPr>
        <p:spPr>
          <a:xfrm>
            <a:off x="3200400" y="1000000"/>
            <a:ext cx="2743200" cy="3143500"/>
          </a:xfrm>
          <a:prstGeom prst="rect">
            <a:avLst/>
          </a:prstGeom>
          <a:solidFill>
            <a:srgbClr val="061020"/>
          </a:solidFill>
          <a:ln w="25400">
            <a:solidFill>
              <a:srgbClr val="F5A623"/>
            </a:solidFill>
            <a:prstDash val="solid"/>
          </a:ln>
          <a:effectLst>
            <a:outerShdw blurRad="190500" dist="114300" dir="5400000" rotWithShape="0">
              <a:srgbClr val="F5A623">
                <a:alpha val="25000"/>
              </a:srgbClr>
            </a:outerShdw>
          </a:effectLst>
        </p:spPr>
      </p:sp>
      <p:sp>
        <p:nvSpPr>
          <p:cNvPr id="11" name="FactHeader"/>
          <p:cNvSpPr/>
          <p:nvPr/>
        </p:nvSpPr>
        <p:spPr>
          <a:xfrm>
            <a:off x="3200400" y="1000000"/>
            <a:ext cx="2743200" cy="420000"/>
          </a:xfrm>
          <a:prstGeom prst="rect">
            <a:avLst/>
          </a:prstGeom>
          <a:solidFill>
            <a:srgbClr val="F5A623"/>
          </a:solidFill>
        </p:spPr>
      </p:sp>
      <p:sp>
        <p:nvSpPr>
          <p:cNvPr id="12" name="FactHeaderTxt"/>
          <p:cNvSpPr/>
          <p:nvPr/>
        </p:nvSpPr>
        <p:spPr>
          <a:xfrm>
            <a:off x="3200400" y="1000000"/>
            <a:ext cx="2743200" cy="420000"/>
          </a:xfrm>
          <a:prstGeom prst="rect">
            <a:avLst/>
          </a:prstGeom>
          <a:noFill/>
        </p:spPr>
        <p:txBody>
          <a:bodyPr wrap="square" lIns="91440" tIns="0" rIns="91440" bIns="0" rtlCol="0" anchor="ctr"/>
          <a:lstStyle/>
          <a:p>
            <a:pPr marL="0" indent="0" algn="ctr">
              <a:buNone/>
            </a:pPr>
            <a:r>
              <a:rPr lang="en-US" sz="1400" b="1" dirty="0">
                <a:solidFill>
                  <a:srgbClr val="0A1628"/>
                </a:solidFill>
                <a:latin typeface="Calibri" panose="020F0502020204030204" pitchFamily="34" charset="0"/>
              </a:rPr>
              <a:t>★ fact_movie_analytics</a:t>
            </a:r>
            <a:endParaRPr lang="en-US" sz="1400" b="1" dirty="0">
              <a:solidFill>
                <a:srgbClr val="0A1628"/>
              </a:solidFill>
              <a:latin typeface="Calibri" panose="020F0502020204030204" pitchFamily="34" charset="0"/>
            </a:endParaRPr>
          </a:p>
        </p:txBody>
      </p:sp>
      <p:sp>
        <p:nvSpPr>
          <p:cNvPr id="13" name="FSep1"/>
          <p:cNvSpPr/>
          <p:nvPr/>
        </p:nvSpPr>
        <p:spPr>
          <a:xfrm>
            <a:off x="3200400" y="1420000"/>
            <a:ext cx="2743200" cy="9144"/>
          </a:xfrm>
          <a:prstGeom prst="rect">
            <a:avLst/>
          </a:prstGeom>
          <a:solidFill>
            <a:srgbClr val="1E3A5F"/>
          </a:solidFill>
        </p:spPr>
      </p:sp>
      <p:sp>
        <p:nvSpPr>
          <p:cNvPr id="14" name="FRow1L"/>
          <p:cNvSpPr/>
          <p:nvPr/>
        </p:nvSpPr>
        <p:spPr>
          <a:xfrm>
            <a:off x="3255264" y="1435000"/>
            <a:ext cx="1700784" cy="201168"/>
          </a:xfrm>
          <a:prstGeom prst="rect">
            <a:avLst/>
          </a:prstGeom>
          <a:noFill/>
        </p:spPr>
        <p:txBody>
          <a:bodyPr wrap="square" lIns="0" tIns="0" rIns="0" bIns="0" rtlCol="0" anchor="ctr"/>
          <a:lstStyle/>
          <a:p>
            <a:pPr marL="0" indent="0">
              <a:buNone/>
            </a:pPr>
            <a:r>
              <a:rPr lang="en-US" sz="900" b="1" dirty="0">
                <a:solidFill>
                  <a:srgbClr val="F5A623"/>
                </a:solidFill>
                <a:latin typeface="Calibri" panose="020F0502020204030204" pitchFamily="34" charset="0"/>
              </a:rPr>
              <a:t>PK  fact_id</a:t>
            </a:r>
            <a:endParaRPr lang="en-US" sz="900" b="1" dirty="0">
              <a:solidFill>
                <a:srgbClr val="F5A623"/>
              </a:solidFill>
              <a:latin typeface="Calibri" panose="020F0502020204030204" pitchFamily="34" charset="0"/>
            </a:endParaRPr>
          </a:p>
        </p:txBody>
      </p:sp>
      <p:sp>
        <p:nvSpPr>
          <p:cNvPr id="15" name="FRow1R"/>
          <p:cNvSpPr/>
          <p:nvPr/>
        </p:nvSpPr>
        <p:spPr>
          <a:xfrm>
            <a:off x="4879238" y="1435000"/>
            <a:ext cx="870509" cy="201168"/>
          </a:xfrm>
          <a:prstGeom prst="rect">
            <a:avLst/>
          </a:prstGeom>
          <a:noFill/>
        </p:spPr>
        <p:txBody>
          <a:bodyPr wrap="square" lIns="0" tIns="0" rIns="0" bIns="0" rtlCol="0" anchor="ctr"/>
          <a:lstStyle/>
          <a:p>
            <a:pPr marL="0" indent="0" algn="r">
              <a:buNone/>
            </a:pPr>
            <a:r>
              <a:rPr lang="en-US" sz="900" dirty="0">
                <a:solidFill>
                  <a:srgbClr val="7A8EA8"/>
                </a:solidFill>
                <a:latin typeface="Calibri" panose="020F0502020204030204" pitchFamily="34" charset="0"/>
              </a:rPr>
              <a:t>INT</a:t>
            </a:r>
            <a:endParaRPr lang="en-US" sz="900" dirty="0">
              <a:solidFill>
                <a:srgbClr val="7A8EA8"/>
              </a:solidFill>
              <a:latin typeface="Calibri" panose="020F0502020204030204" pitchFamily="34" charset="0"/>
            </a:endParaRPr>
          </a:p>
        </p:txBody>
      </p:sp>
      <p:sp>
        <p:nvSpPr>
          <p:cNvPr id="16" name="FRow2L"/>
          <p:cNvSpPr/>
          <p:nvPr/>
        </p:nvSpPr>
        <p:spPr>
          <a:xfrm>
            <a:off x="3255264" y="1655000"/>
            <a:ext cx="1700784" cy="201168"/>
          </a:xfrm>
          <a:prstGeom prst="rect">
            <a:avLst/>
          </a:prstGeom>
          <a:noFill/>
        </p:spPr>
        <p:txBody>
          <a:bodyPr wrap="square" lIns="0" tIns="0" rIns="0" bIns="0" rtlCol="0" anchor="ctr"/>
          <a:lstStyle/>
          <a:p>
            <a:pPr marL="0" indent="0">
              <a:buNone/>
            </a:pPr>
            <a:r>
              <a:rPr lang="en-US" sz="900" b="1" dirty="0">
                <a:solidFill>
                  <a:srgbClr val="00D4AA"/>
                </a:solidFill>
                <a:latin typeface="Calibri" panose="020F0502020204030204" pitchFamily="34" charset="0"/>
              </a:rPr>
              <a:t>FK  movie_id</a:t>
            </a:r>
            <a:endParaRPr lang="en-US" sz="900" b="1" dirty="0">
              <a:solidFill>
                <a:srgbClr val="00D4AA"/>
              </a:solidFill>
              <a:latin typeface="Calibri" panose="020F0502020204030204" pitchFamily="34" charset="0"/>
            </a:endParaRPr>
          </a:p>
        </p:txBody>
      </p:sp>
      <p:sp>
        <p:nvSpPr>
          <p:cNvPr id="17" name="FRow2R"/>
          <p:cNvSpPr/>
          <p:nvPr/>
        </p:nvSpPr>
        <p:spPr>
          <a:xfrm>
            <a:off x="4879238" y="1655000"/>
            <a:ext cx="870509" cy="201168"/>
          </a:xfrm>
          <a:prstGeom prst="rect">
            <a:avLst/>
          </a:prstGeom>
          <a:noFill/>
        </p:spPr>
        <p:txBody>
          <a:bodyPr wrap="square" lIns="0" tIns="0" rIns="0" bIns="0" rtlCol="0" anchor="ctr"/>
          <a:lstStyle/>
          <a:p>
            <a:pPr marL="0" indent="0" algn="r">
              <a:buNone/>
            </a:pPr>
            <a:r>
              <a:rPr lang="en-US" sz="900" dirty="0">
                <a:solidFill>
                  <a:srgbClr val="7A8EA8"/>
                </a:solidFill>
                <a:latin typeface="Calibri" panose="020F0502020204030204" pitchFamily="34" charset="0"/>
              </a:rPr>
              <a:t>INT</a:t>
            </a:r>
            <a:endParaRPr lang="en-US" sz="900" dirty="0">
              <a:solidFill>
                <a:srgbClr val="7A8EA8"/>
              </a:solidFill>
              <a:latin typeface="Calibri" panose="020F0502020204030204" pitchFamily="34" charset="0"/>
            </a:endParaRPr>
          </a:p>
        </p:txBody>
      </p:sp>
      <p:sp>
        <p:nvSpPr>
          <p:cNvPr id="18" name="FRow3L"/>
          <p:cNvSpPr/>
          <p:nvPr/>
        </p:nvSpPr>
        <p:spPr>
          <a:xfrm>
            <a:off x="3255264" y="1870000"/>
            <a:ext cx="1700784" cy="201168"/>
          </a:xfrm>
          <a:prstGeom prst="rect">
            <a:avLst/>
          </a:prstGeom>
          <a:noFill/>
        </p:spPr>
        <p:txBody>
          <a:bodyPr wrap="square" lIns="0" tIns="0" rIns="0" bIns="0" rtlCol="0" anchor="ctr"/>
          <a:lstStyle/>
          <a:p>
            <a:pPr marL="0" indent="0">
              <a:buNone/>
            </a:pPr>
            <a:r>
              <a:rPr lang="en-US" sz="900" b="1" dirty="0">
                <a:solidFill>
                  <a:srgbClr val="00D4AA"/>
                </a:solidFill>
                <a:latin typeface="Calibri" panose="020F0502020204030204" pitchFamily="34" charset="0"/>
              </a:rPr>
              <a:t>FK  platform_id</a:t>
            </a:r>
            <a:endParaRPr lang="en-US" sz="900" b="1" dirty="0">
              <a:solidFill>
                <a:srgbClr val="00D4AA"/>
              </a:solidFill>
              <a:latin typeface="Calibri" panose="020F0502020204030204" pitchFamily="34" charset="0"/>
            </a:endParaRPr>
          </a:p>
        </p:txBody>
      </p:sp>
      <p:sp>
        <p:nvSpPr>
          <p:cNvPr id="19" name="FRow3R"/>
          <p:cNvSpPr/>
          <p:nvPr/>
        </p:nvSpPr>
        <p:spPr>
          <a:xfrm>
            <a:off x="4879238" y="1870000"/>
            <a:ext cx="870509" cy="201168"/>
          </a:xfrm>
          <a:prstGeom prst="rect">
            <a:avLst/>
          </a:prstGeom>
          <a:noFill/>
        </p:spPr>
        <p:txBody>
          <a:bodyPr wrap="square" lIns="0" tIns="0" rIns="0" bIns="0" rtlCol="0" anchor="ctr"/>
          <a:lstStyle/>
          <a:p>
            <a:pPr marL="0" indent="0" algn="r">
              <a:buNone/>
            </a:pPr>
            <a:r>
              <a:rPr lang="en-US" sz="900" dirty="0">
                <a:solidFill>
                  <a:srgbClr val="7A8EA8"/>
                </a:solidFill>
                <a:latin typeface="Calibri" panose="020F0502020204030204" pitchFamily="34" charset="0"/>
              </a:rPr>
              <a:t>INT</a:t>
            </a:r>
            <a:endParaRPr lang="en-US" sz="900" dirty="0">
              <a:solidFill>
                <a:srgbClr val="7A8EA8"/>
              </a:solidFill>
              <a:latin typeface="Calibri" panose="020F0502020204030204" pitchFamily="34" charset="0"/>
            </a:endParaRPr>
          </a:p>
        </p:txBody>
      </p:sp>
      <p:sp>
        <p:nvSpPr>
          <p:cNvPr id="20" name="FRow4L"/>
          <p:cNvSpPr/>
          <p:nvPr/>
        </p:nvSpPr>
        <p:spPr>
          <a:xfrm>
            <a:off x="3255264" y="2085000"/>
            <a:ext cx="1700784" cy="201168"/>
          </a:xfrm>
          <a:prstGeom prst="rect">
            <a:avLst/>
          </a:prstGeom>
          <a:noFill/>
        </p:spPr>
        <p:txBody>
          <a:bodyPr wrap="square" lIns="0" tIns="0" rIns="0" bIns="0" rtlCol="0" anchor="ctr"/>
          <a:lstStyle/>
          <a:p>
            <a:pPr marL="0" indent="0">
              <a:buNone/>
            </a:pPr>
            <a:r>
              <a:rPr lang="en-US" sz="900" b="1" dirty="0">
                <a:solidFill>
                  <a:srgbClr val="00D4AA"/>
                </a:solidFill>
                <a:latin typeface="Calibri" panose="020F0502020204030204" pitchFamily="34" charset="0"/>
              </a:rPr>
              <a:t>FK  theatre_id</a:t>
            </a:r>
            <a:endParaRPr lang="en-US" sz="900" b="1" dirty="0">
              <a:solidFill>
                <a:srgbClr val="00D4AA"/>
              </a:solidFill>
              <a:latin typeface="Calibri" panose="020F0502020204030204" pitchFamily="34" charset="0"/>
            </a:endParaRPr>
          </a:p>
        </p:txBody>
      </p:sp>
      <p:sp>
        <p:nvSpPr>
          <p:cNvPr id="21" name="FRow4R"/>
          <p:cNvSpPr/>
          <p:nvPr/>
        </p:nvSpPr>
        <p:spPr>
          <a:xfrm>
            <a:off x="4879238" y="2085000"/>
            <a:ext cx="870509" cy="201168"/>
          </a:xfrm>
          <a:prstGeom prst="rect">
            <a:avLst/>
          </a:prstGeom>
          <a:noFill/>
        </p:spPr>
        <p:txBody>
          <a:bodyPr wrap="square" lIns="0" tIns="0" rIns="0" bIns="0" rtlCol="0" anchor="ctr"/>
          <a:lstStyle/>
          <a:p>
            <a:pPr marL="0" indent="0" algn="r">
              <a:buNone/>
            </a:pPr>
            <a:r>
              <a:rPr lang="en-US" sz="900" dirty="0">
                <a:solidFill>
                  <a:srgbClr val="7A8EA8"/>
                </a:solidFill>
                <a:latin typeface="Calibri" panose="020F0502020204030204" pitchFamily="34" charset="0"/>
              </a:rPr>
              <a:t>INT</a:t>
            </a:r>
            <a:endParaRPr lang="en-US" sz="900" dirty="0">
              <a:solidFill>
                <a:srgbClr val="7A8EA8"/>
              </a:solidFill>
              <a:latin typeface="Calibri" panose="020F0502020204030204" pitchFamily="34" charset="0"/>
            </a:endParaRPr>
          </a:p>
        </p:txBody>
      </p:sp>
      <p:sp>
        <p:nvSpPr>
          <p:cNvPr id="22" name="FRow5L"/>
          <p:cNvSpPr/>
          <p:nvPr/>
        </p:nvSpPr>
        <p:spPr>
          <a:xfrm>
            <a:off x="3255264" y="2300000"/>
            <a:ext cx="1700784" cy="201168"/>
          </a:xfrm>
          <a:prstGeom prst="rect">
            <a:avLst/>
          </a:prstGeom>
          <a:noFill/>
        </p:spPr>
        <p:txBody>
          <a:bodyPr wrap="square" lIns="0" tIns="0" rIns="0" bIns="0" rtlCol="0" anchor="ctr"/>
          <a:lstStyle/>
          <a:p>
            <a:pPr marL="0" indent="0">
              <a:buNone/>
            </a:pPr>
            <a:r>
              <a:rPr lang="en-US" sz="900" b="1" dirty="0">
                <a:solidFill>
                  <a:srgbClr val="00D4AA"/>
                </a:solidFill>
                <a:latin typeface="Calibri" panose="020F0502020204030204" pitchFamily="34" charset="0"/>
              </a:rPr>
              <a:t>FK  location_id</a:t>
            </a:r>
            <a:endParaRPr lang="en-US" sz="900" b="1" dirty="0">
              <a:solidFill>
                <a:srgbClr val="00D4AA"/>
              </a:solidFill>
              <a:latin typeface="Calibri" panose="020F0502020204030204" pitchFamily="34" charset="0"/>
            </a:endParaRPr>
          </a:p>
        </p:txBody>
      </p:sp>
      <p:sp>
        <p:nvSpPr>
          <p:cNvPr id="23" name="FRow5R"/>
          <p:cNvSpPr/>
          <p:nvPr/>
        </p:nvSpPr>
        <p:spPr>
          <a:xfrm>
            <a:off x="4879238" y="2300000"/>
            <a:ext cx="870509" cy="201168"/>
          </a:xfrm>
          <a:prstGeom prst="rect">
            <a:avLst/>
          </a:prstGeom>
          <a:noFill/>
        </p:spPr>
        <p:txBody>
          <a:bodyPr wrap="square" lIns="0" tIns="0" rIns="0" bIns="0" rtlCol="0" anchor="ctr"/>
          <a:lstStyle/>
          <a:p>
            <a:pPr marL="0" indent="0" algn="r">
              <a:buNone/>
            </a:pPr>
            <a:r>
              <a:rPr lang="en-US" sz="900" dirty="0">
                <a:solidFill>
                  <a:srgbClr val="7A8EA8"/>
                </a:solidFill>
                <a:latin typeface="Calibri" panose="020F0502020204030204" pitchFamily="34" charset="0"/>
              </a:rPr>
              <a:t>INT</a:t>
            </a:r>
            <a:endParaRPr lang="en-US" sz="900" dirty="0">
              <a:solidFill>
                <a:srgbClr val="7A8EA8"/>
              </a:solidFill>
              <a:latin typeface="Calibri" panose="020F0502020204030204" pitchFamily="34" charset="0"/>
            </a:endParaRPr>
          </a:p>
        </p:txBody>
      </p:sp>
      <p:sp>
        <p:nvSpPr>
          <p:cNvPr id="24" name="FRow6L"/>
          <p:cNvSpPr/>
          <p:nvPr/>
        </p:nvSpPr>
        <p:spPr>
          <a:xfrm>
            <a:off x="3255264" y="2515000"/>
            <a:ext cx="1700784" cy="201168"/>
          </a:xfrm>
          <a:prstGeom prst="rect">
            <a:avLst/>
          </a:prstGeom>
          <a:noFill/>
        </p:spPr>
        <p:txBody>
          <a:bodyPr wrap="square" lIns="0" tIns="0" rIns="0" bIns="0" rtlCol="0" anchor="ctr"/>
          <a:lstStyle/>
          <a:p>
            <a:pPr marL="0" indent="0">
              <a:buNone/>
            </a:pPr>
            <a:r>
              <a:rPr lang="en-US" sz="900" dirty="0">
                <a:solidFill>
                  <a:srgbClr val="B0C4D8"/>
                </a:solidFill>
                <a:latin typeface="Calibri" panose="020F0502020204030204" pitchFamily="34" charset="0"/>
              </a:rPr>
              <a:t>     release_year</a:t>
            </a:r>
            <a:endParaRPr lang="en-US" sz="900" dirty="0">
              <a:solidFill>
                <a:srgbClr val="B0C4D8"/>
              </a:solidFill>
              <a:latin typeface="Calibri" panose="020F0502020204030204" pitchFamily="34" charset="0"/>
            </a:endParaRPr>
          </a:p>
        </p:txBody>
      </p:sp>
      <p:sp>
        <p:nvSpPr>
          <p:cNvPr id="25" name="FRow6R"/>
          <p:cNvSpPr/>
          <p:nvPr/>
        </p:nvSpPr>
        <p:spPr>
          <a:xfrm>
            <a:off x="4879238" y="2515000"/>
            <a:ext cx="870509" cy="201168"/>
          </a:xfrm>
          <a:prstGeom prst="rect">
            <a:avLst/>
          </a:prstGeom>
          <a:noFill/>
        </p:spPr>
        <p:txBody>
          <a:bodyPr wrap="square" lIns="0" tIns="0" rIns="0" bIns="0" rtlCol="0" anchor="ctr"/>
          <a:lstStyle/>
          <a:p>
            <a:pPr marL="0" indent="0" algn="r">
              <a:buNone/>
            </a:pPr>
            <a:r>
              <a:rPr lang="en-US" sz="900" dirty="0">
                <a:solidFill>
                  <a:srgbClr val="7A8EA8"/>
                </a:solidFill>
                <a:latin typeface="Calibri" panose="020F0502020204030204" pitchFamily="34" charset="0"/>
              </a:rPr>
              <a:t>INT</a:t>
            </a:r>
            <a:endParaRPr lang="en-US" sz="900" dirty="0">
              <a:solidFill>
                <a:srgbClr val="7A8EA8"/>
              </a:solidFill>
              <a:latin typeface="Calibri" panose="020F0502020204030204" pitchFamily="34" charset="0"/>
            </a:endParaRPr>
          </a:p>
        </p:txBody>
      </p:sp>
      <p:sp>
        <p:nvSpPr>
          <p:cNvPr id="26" name="FRow7L"/>
          <p:cNvSpPr/>
          <p:nvPr/>
        </p:nvSpPr>
        <p:spPr>
          <a:xfrm>
            <a:off x="3255264" y="2730000"/>
            <a:ext cx="1700784" cy="201168"/>
          </a:xfrm>
          <a:prstGeom prst="rect">
            <a:avLst/>
          </a:prstGeom>
          <a:noFill/>
        </p:spPr>
        <p:txBody>
          <a:bodyPr wrap="square" lIns="0" tIns="0" rIns="0" bIns="0" rtlCol="0" anchor="ctr"/>
          <a:lstStyle/>
          <a:p>
            <a:pPr marL="0" indent="0">
              <a:buNone/>
            </a:pPr>
            <a:r>
              <a:rPr lang="en-US" sz="900" dirty="0">
                <a:solidFill>
                  <a:srgbClr val="B0C4D8"/>
                </a:solidFill>
                <a:latin typeface="Calibri" panose="020F0502020204030204" pitchFamily="34" charset="0"/>
              </a:rPr>
              <a:t>     avg_ticket_price</a:t>
            </a:r>
            <a:endParaRPr lang="en-US" sz="900" dirty="0">
              <a:solidFill>
                <a:srgbClr val="B0C4D8"/>
              </a:solidFill>
              <a:latin typeface="Calibri" panose="020F0502020204030204" pitchFamily="34" charset="0"/>
            </a:endParaRPr>
          </a:p>
        </p:txBody>
      </p:sp>
      <p:sp>
        <p:nvSpPr>
          <p:cNvPr id="27" name="FRow7R"/>
          <p:cNvSpPr/>
          <p:nvPr/>
        </p:nvSpPr>
        <p:spPr>
          <a:xfrm>
            <a:off x="4879238" y="2730000"/>
            <a:ext cx="870509" cy="201168"/>
          </a:xfrm>
          <a:prstGeom prst="rect">
            <a:avLst/>
          </a:prstGeom>
          <a:noFill/>
        </p:spPr>
        <p:txBody>
          <a:bodyPr wrap="square" lIns="0" tIns="0" rIns="0" bIns="0" rtlCol="0" anchor="ctr"/>
          <a:lstStyle/>
          <a:p>
            <a:pPr marL="0" indent="0" algn="r">
              <a:buNone/>
            </a:pPr>
            <a:r>
              <a:rPr lang="en-US" sz="900" dirty="0">
                <a:solidFill>
                  <a:srgbClr val="7A8EA8"/>
                </a:solidFill>
                <a:latin typeface="Calibri" panose="020F0502020204030204" pitchFamily="34" charset="0"/>
              </a:rPr>
              <a:t>FLOAT</a:t>
            </a:r>
            <a:endParaRPr lang="en-US" sz="900" dirty="0">
              <a:solidFill>
                <a:srgbClr val="7A8EA8"/>
              </a:solidFill>
              <a:latin typeface="Calibri" panose="020F0502020204030204" pitchFamily="34" charset="0"/>
            </a:endParaRPr>
          </a:p>
        </p:txBody>
      </p:sp>
      <p:sp>
        <p:nvSpPr>
          <p:cNvPr id="28" name="FRow8L"/>
          <p:cNvSpPr/>
          <p:nvPr/>
        </p:nvSpPr>
        <p:spPr>
          <a:xfrm>
            <a:off x="3255264" y="2945000"/>
            <a:ext cx="1700784" cy="201168"/>
          </a:xfrm>
          <a:prstGeom prst="rect">
            <a:avLst/>
          </a:prstGeom>
          <a:noFill/>
        </p:spPr>
        <p:txBody>
          <a:bodyPr wrap="square" lIns="0" tIns="0" rIns="0" bIns="0" rtlCol="0" anchor="ctr"/>
          <a:lstStyle/>
          <a:p>
            <a:pPr marL="0" indent="0">
              <a:buNone/>
            </a:pPr>
            <a:r>
              <a:rPr lang="en-US" sz="900" dirty="0">
                <a:solidFill>
                  <a:srgbClr val="B0C4D8"/>
                </a:solidFill>
                <a:latin typeface="Calibri" panose="020F0502020204030204" pitchFamily="34" charset="0"/>
              </a:rPr>
              <a:t>     total_seats</a:t>
            </a:r>
            <a:endParaRPr lang="en-US" sz="900" dirty="0">
              <a:solidFill>
                <a:srgbClr val="B0C4D8"/>
              </a:solidFill>
              <a:latin typeface="Calibri" panose="020F0502020204030204" pitchFamily="34" charset="0"/>
            </a:endParaRPr>
          </a:p>
        </p:txBody>
      </p:sp>
      <p:sp>
        <p:nvSpPr>
          <p:cNvPr id="29" name="FRow8R"/>
          <p:cNvSpPr/>
          <p:nvPr/>
        </p:nvSpPr>
        <p:spPr>
          <a:xfrm>
            <a:off x="4879238" y="2945000"/>
            <a:ext cx="870509" cy="201168"/>
          </a:xfrm>
          <a:prstGeom prst="rect">
            <a:avLst/>
          </a:prstGeom>
          <a:noFill/>
        </p:spPr>
        <p:txBody>
          <a:bodyPr wrap="square" lIns="0" tIns="0" rIns="0" bIns="0" rtlCol="0" anchor="ctr"/>
          <a:lstStyle/>
          <a:p>
            <a:pPr marL="0" indent="0" algn="r">
              <a:buNone/>
            </a:pPr>
            <a:r>
              <a:rPr lang="en-US" sz="900" dirty="0">
                <a:solidFill>
                  <a:srgbClr val="7A8EA8"/>
                </a:solidFill>
                <a:latin typeface="Calibri" panose="020F0502020204030204" pitchFamily="34" charset="0"/>
              </a:rPr>
              <a:t>INT</a:t>
            </a:r>
            <a:endParaRPr lang="en-US" sz="900" dirty="0">
              <a:solidFill>
                <a:srgbClr val="7A8EA8"/>
              </a:solidFill>
              <a:latin typeface="Calibri" panose="020F0502020204030204" pitchFamily="34" charset="0"/>
            </a:endParaRPr>
          </a:p>
        </p:txBody>
      </p:sp>
      <p:sp>
        <p:nvSpPr>
          <p:cNvPr id="30" name="FSCDNote"/>
          <p:cNvSpPr/>
          <p:nvPr/>
        </p:nvSpPr>
        <p:spPr>
          <a:xfrm>
            <a:off x="3200400" y="3370000"/>
            <a:ext cx="2743200" cy="420000"/>
          </a:xfrm>
          <a:prstGeom prst="rect">
            <a:avLst/>
          </a:prstGeom>
          <a:solidFill>
            <a:srgbClr val="0F2240"/>
          </a:solidFill>
        </p:spPr>
      </p:sp>
      <p:sp>
        <p:nvSpPr>
          <p:cNvPr id="31" name="FSCDNoteTxt"/>
          <p:cNvSpPr/>
          <p:nvPr/>
        </p:nvSpPr>
        <p:spPr>
          <a:xfrm>
            <a:off x="3200400" y="3370000"/>
            <a:ext cx="2743200" cy="420000"/>
          </a:xfrm>
          <a:prstGeom prst="rect">
            <a:avLst/>
          </a:prstGeom>
          <a:noFill/>
        </p:spPr>
        <p:txBody>
          <a:bodyPr wrap="square" lIns="91440" tIns="0" rIns="91440" bIns="0" rtlCol="0" anchor="ctr"/>
          <a:lstStyle/>
          <a:p>
            <a:pPr marL="0" indent="0" algn="ctr">
              <a:buNone/>
            </a:pPr>
            <a:r>
              <a:rPr lang="en-US" sz="800" dirty="0">
                <a:solidFill>
                  <a:srgbClr val="F5A623"/>
                </a:solidFill>
                <a:latin typeface="Calibri" panose="020F0502020204030204" pitchFamily="34" charset="0"/>
              </a:rPr>
              <a:t>SCD Type 2 on all dim tables</a:t>
            </a:r>
            <a:endParaRPr lang="en-US" sz="800" dirty="0">
              <a:solidFill>
                <a:srgbClr val="F5A623"/>
              </a:solidFill>
              <a:latin typeface="Calibri" panose="020F0502020204030204" pitchFamily="34" charset="0"/>
            </a:endParaRPr>
          </a:p>
        </p:txBody>
      </p:sp>
      <p:sp>
        <p:nvSpPr>
          <p:cNvPr id="40" name="DimMoviesBg"/>
          <p:cNvSpPr/>
          <p:nvPr/>
        </p:nvSpPr>
        <p:spPr>
          <a:xfrm>
            <a:off x="228600" y="868680"/>
            <a:ext cx="2743200" cy="1980000"/>
          </a:xfrm>
          <a:prstGeom prst="rect">
            <a:avLst/>
          </a:prstGeom>
          <a:solidFill>
            <a:srgbClr val="061020"/>
          </a:solidFill>
          <a:ln w="12700">
            <a:solidFill>
              <a:srgbClr val="9B6DFF"/>
            </a:solidFill>
            <a:prstDash val="solid"/>
          </a:ln>
        </p:spPr>
      </p:sp>
      <p:sp>
        <p:nvSpPr>
          <p:cNvPr id="41" name="DimMoviesHdr"/>
          <p:cNvSpPr/>
          <p:nvPr/>
        </p:nvSpPr>
        <p:spPr>
          <a:xfrm>
            <a:off x="228600" y="868680"/>
            <a:ext cx="2743200" cy="360000"/>
          </a:xfrm>
          <a:prstGeom prst="rect">
            <a:avLst/>
          </a:prstGeom>
          <a:solidFill>
            <a:srgbClr val="9B6DFF"/>
          </a:solidFill>
        </p:spPr>
      </p:sp>
      <p:sp>
        <p:nvSpPr>
          <p:cNvPr id="42" name="DimMoviesHdrTxt"/>
          <p:cNvSpPr/>
          <p:nvPr/>
        </p:nvSpPr>
        <p:spPr>
          <a:xfrm>
            <a:off x="228600" y="868680"/>
            <a:ext cx="2743200" cy="360000"/>
          </a:xfrm>
          <a:prstGeom prst="rect">
            <a:avLst/>
          </a:prstGeom>
          <a:noFill/>
        </p:spPr>
        <p:txBody>
          <a:bodyPr wrap="square" lIns="91440" tIns="0" rIns="91440" bIns="0" rtlCol="0" anchor="ctr"/>
          <a:lstStyle/>
          <a:p>
            <a:pPr marL="0" indent="0" algn="ctr">
              <a:buNone/>
            </a:pPr>
            <a:r>
              <a:rPr lang="en-US" sz="1100" b="1" dirty="0">
                <a:solidFill>
                  <a:srgbClr val="FFFFFF"/>
                </a:solidFill>
                <a:latin typeface="Calibri" panose="020F0502020204030204" pitchFamily="34" charset="0"/>
              </a:rPr>
              <a:t>dim_movies</a:t>
            </a:r>
            <a:endParaRPr lang="en-US" sz="1100" b="1" dirty="0">
              <a:solidFill>
                <a:srgbClr val="FFFFFF"/>
              </a:solidFill>
              <a:latin typeface="Calibri" panose="020F0502020204030204" pitchFamily="34" charset="0"/>
            </a:endParaRPr>
          </a:p>
        </p:txBody>
      </p:sp>
      <p:sp>
        <p:nvSpPr>
          <p:cNvPr id="43" name="DM1L"/>
          <p:cNvSpPr/>
          <p:nvPr/>
        </p:nvSpPr>
        <p:spPr>
          <a:xfrm>
            <a:off x="301752" y="1280000"/>
            <a:ext cx="1700784" cy="201168"/>
          </a:xfrm>
          <a:prstGeom prst="rect">
            <a:avLst/>
          </a:prstGeom>
          <a:noFill/>
        </p:spPr>
        <p:txBody>
          <a:bodyPr wrap="square" lIns="0" tIns="0" rIns="0" bIns="0" rtlCol="0" anchor="ctr"/>
          <a:lstStyle/>
          <a:p>
            <a:pPr marL="0" indent="0">
              <a:buNone/>
            </a:pPr>
            <a:r>
              <a:rPr lang="en-US" sz="900" b="1" dirty="0">
                <a:solidFill>
                  <a:srgbClr val="9B6DFF"/>
                </a:solidFill>
                <a:latin typeface="Calibri" panose="020F0502020204030204" pitchFamily="34" charset="0"/>
              </a:rPr>
              <a:t>PK  movie_id</a:t>
            </a:r>
            <a:endParaRPr lang="en-US" sz="900" b="1" dirty="0">
              <a:solidFill>
                <a:srgbClr val="9B6DFF"/>
              </a:solidFill>
              <a:latin typeface="Calibri" panose="020F0502020204030204" pitchFamily="34" charset="0"/>
            </a:endParaRPr>
          </a:p>
        </p:txBody>
      </p:sp>
      <p:sp>
        <p:nvSpPr>
          <p:cNvPr id="44" name="DM1R"/>
          <p:cNvSpPr/>
          <p:nvPr/>
        </p:nvSpPr>
        <p:spPr>
          <a:xfrm>
            <a:off x="1929384" y="1280000"/>
            <a:ext cx="932688" cy="201168"/>
          </a:xfrm>
          <a:prstGeom prst="rect">
            <a:avLst/>
          </a:prstGeom>
          <a:noFill/>
        </p:spPr>
        <p:txBody>
          <a:bodyPr wrap="square" lIns="0" tIns="0" rIns="0" bIns="0" rtlCol="0" anchor="ctr"/>
          <a:lstStyle/>
          <a:p>
            <a:pPr marL="0" indent="0" algn="r">
              <a:buNone/>
            </a:pPr>
            <a:r>
              <a:rPr lang="en-US" sz="900" dirty="0">
                <a:solidFill>
                  <a:srgbClr val="7A8EA8"/>
                </a:solidFill>
                <a:latin typeface="Calibri" panose="020F0502020204030204" pitchFamily="34" charset="0"/>
              </a:rPr>
              <a:t>INT</a:t>
            </a:r>
            <a:endParaRPr lang="en-US" sz="900" dirty="0">
              <a:solidFill>
                <a:srgbClr val="7A8EA8"/>
              </a:solidFill>
              <a:latin typeface="Calibri" panose="020F0502020204030204" pitchFamily="34" charset="0"/>
            </a:endParaRPr>
          </a:p>
        </p:txBody>
      </p:sp>
      <p:sp>
        <p:nvSpPr>
          <p:cNvPr id="45" name="DM2L"/>
          <p:cNvSpPr/>
          <p:nvPr/>
        </p:nvSpPr>
        <p:spPr>
          <a:xfrm>
            <a:off x="301752" y="1495000"/>
            <a:ext cx="1700784" cy="201168"/>
          </a:xfrm>
          <a:prstGeom prst="rect">
            <a:avLst/>
          </a:prstGeom>
          <a:noFill/>
        </p:spPr>
        <p:txBody>
          <a:bodyPr wrap="square" lIns="0" tIns="0" rIns="0" bIns="0" rtlCol="0" anchor="ctr"/>
          <a:lstStyle/>
          <a:p>
            <a:pPr marL="0" indent="0">
              <a:buNone/>
            </a:pPr>
            <a:r>
              <a:rPr lang="en-US" sz="900" dirty="0">
                <a:solidFill>
                  <a:srgbClr val="B0C4D8"/>
                </a:solidFill>
                <a:latin typeface="Calibri" panose="020F0502020204030204" pitchFamily="34" charset="0"/>
              </a:rPr>
              <a:t>     title</a:t>
            </a:r>
            <a:endParaRPr lang="en-US" sz="900" dirty="0">
              <a:solidFill>
                <a:srgbClr val="B0C4D8"/>
              </a:solidFill>
              <a:latin typeface="Calibri" panose="020F0502020204030204" pitchFamily="34" charset="0"/>
            </a:endParaRPr>
          </a:p>
        </p:txBody>
      </p:sp>
      <p:sp>
        <p:nvSpPr>
          <p:cNvPr id="46" name="DM2R"/>
          <p:cNvSpPr/>
          <p:nvPr/>
        </p:nvSpPr>
        <p:spPr>
          <a:xfrm>
            <a:off x="1929384" y="1495000"/>
            <a:ext cx="932688" cy="201168"/>
          </a:xfrm>
          <a:prstGeom prst="rect">
            <a:avLst/>
          </a:prstGeom>
          <a:noFill/>
        </p:spPr>
        <p:txBody>
          <a:bodyPr wrap="square" lIns="0" tIns="0" rIns="0" bIns="0" rtlCol="0" anchor="ctr"/>
          <a:lstStyle/>
          <a:p>
            <a:pPr marL="0" indent="0" algn="r">
              <a:buNone/>
            </a:pPr>
            <a:r>
              <a:rPr lang="en-US" sz="900" dirty="0">
                <a:solidFill>
                  <a:srgbClr val="7A8EA8"/>
                </a:solidFill>
                <a:latin typeface="Calibri" panose="020F0502020204030204" pitchFamily="34" charset="0"/>
              </a:rPr>
              <a:t>VARCHAR</a:t>
            </a:r>
            <a:endParaRPr lang="en-US" sz="900" dirty="0">
              <a:solidFill>
                <a:srgbClr val="7A8EA8"/>
              </a:solidFill>
              <a:latin typeface="Calibri" panose="020F0502020204030204" pitchFamily="34" charset="0"/>
            </a:endParaRPr>
          </a:p>
        </p:txBody>
      </p:sp>
      <p:sp>
        <p:nvSpPr>
          <p:cNvPr id="47" name="DM3L"/>
          <p:cNvSpPr/>
          <p:nvPr/>
        </p:nvSpPr>
        <p:spPr>
          <a:xfrm>
            <a:off x="301752" y="1710000"/>
            <a:ext cx="1700784" cy="201168"/>
          </a:xfrm>
          <a:prstGeom prst="rect">
            <a:avLst/>
          </a:prstGeom>
          <a:noFill/>
        </p:spPr>
        <p:txBody>
          <a:bodyPr wrap="square" lIns="0" tIns="0" rIns="0" bIns="0" rtlCol="0" anchor="ctr"/>
          <a:lstStyle/>
          <a:p>
            <a:pPr marL="0" indent="0">
              <a:buNone/>
            </a:pPr>
            <a:r>
              <a:rPr lang="en-US" sz="900" dirty="0">
                <a:solidFill>
                  <a:srgbClr val="B0C4D8"/>
                </a:solidFill>
                <a:latin typeface="Calibri" panose="020F0502020204030204" pitchFamily="34" charset="0"/>
              </a:rPr>
              <a:t>     genre</a:t>
            </a:r>
            <a:endParaRPr lang="en-US" sz="900" dirty="0">
              <a:solidFill>
                <a:srgbClr val="B0C4D8"/>
              </a:solidFill>
              <a:latin typeface="Calibri" panose="020F0502020204030204" pitchFamily="34" charset="0"/>
            </a:endParaRPr>
          </a:p>
        </p:txBody>
      </p:sp>
      <p:sp>
        <p:nvSpPr>
          <p:cNvPr id="48" name="DM3R"/>
          <p:cNvSpPr/>
          <p:nvPr/>
        </p:nvSpPr>
        <p:spPr>
          <a:xfrm>
            <a:off x="1929384" y="1710000"/>
            <a:ext cx="932688" cy="201168"/>
          </a:xfrm>
          <a:prstGeom prst="rect">
            <a:avLst/>
          </a:prstGeom>
          <a:noFill/>
        </p:spPr>
        <p:txBody>
          <a:bodyPr wrap="square" lIns="0" tIns="0" rIns="0" bIns="0" rtlCol="0" anchor="ctr"/>
          <a:lstStyle/>
          <a:p>
            <a:pPr marL="0" indent="0" algn="r">
              <a:buNone/>
            </a:pPr>
            <a:r>
              <a:rPr lang="en-US" sz="900" dirty="0">
                <a:solidFill>
                  <a:srgbClr val="7A8EA8"/>
                </a:solidFill>
                <a:latin typeface="Calibri" panose="020F0502020204030204" pitchFamily="34" charset="0"/>
              </a:rPr>
              <a:t>VARCHAR</a:t>
            </a:r>
            <a:endParaRPr lang="en-US" sz="900" dirty="0">
              <a:solidFill>
                <a:srgbClr val="7A8EA8"/>
              </a:solidFill>
              <a:latin typeface="Calibri" panose="020F0502020204030204" pitchFamily="34" charset="0"/>
            </a:endParaRPr>
          </a:p>
        </p:txBody>
      </p:sp>
      <p:sp>
        <p:nvSpPr>
          <p:cNvPr id="49" name="DM4L"/>
          <p:cNvSpPr/>
          <p:nvPr/>
        </p:nvSpPr>
        <p:spPr>
          <a:xfrm>
            <a:off x="301752" y="1925000"/>
            <a:ext cx="1700784" cy="201168"/>
          </a:xfrm>
          <a:prstGeom prst="rect">
            <a:avLst/>
          </a:prstGeom>
          <a:noFill/>
        </p:spPr>
        <p:txBody>
          <a:bodyPr wrap="square" lIns="0" tIns="0" rIns="0" bIns="0" rtlCol="0" anchor="ctr"/>
          <a:lstStyle/>
          <a:p>
            <a:pPr marL="0" indent="0">
              <a:buNone/>
            </a:pPr>
            <a:r>
              <a:rPr lang="en-US" sz="900" dirty="0">
                <a:solidFill>
                  <a:srgbClr val="B0C4D8"/>
                </a:solidFill>
                <a:latin typeface="Calibri" panose="020F0502020204030204" pitchFamily="34" charset="0"/>
              </a:rPr>
              <a:t>     rating</a:t>
            </a:r>
            <a:endParaRPr lang="en-US" sz="900" dirty="0">
              <a:solidFill>
                <a:srgbClr val="B0C4D8"/>
              </a:solidFill>
              <a:latin typeface="Calibri" panose="020F0502020204030204" pitchFamily="34" charset="0"/>
            </a:endParaRPr>
          </a:p>
        </p:txBody>
      </p:sp>
      <p:sp>
        <p:nvSpPr>
          <p:cNvPr id="50" name="DM4R"/>
          <p:cNvSpPr/>
          <p:nvPr/>
        </p:nvSpPr>
        <p:spPr>
          <a:xfrm>
            <a:off x="1929384" y="1925000"/>
            <a:ext cx="932688" cy="201168"/>
          </a:xfrm>
          <a:prstGeom prst="rect">
            <a:avLst/>
          </a:prstGeom>
          <a:noFill/>
        </p:spPr>
        <p:txBody>
          <a:bodyPr wrap="square" lIns="0" tIns="0" rIns="0" bIns="0" rtlCol="0" anchor="ctr"/>
          <a:lstStyle/>
          <a:p>
            <a:pPr marL="0" indent="0" algn="r">
              <a:buNone/>
            </a:pPr>
            <a:r>
              <a:rPr lang="en-US" sz="900" dirty="0">
                <a:solidFill>
                  <a:srgbClr val="7A8EA8"/>
                </a:solidFill>
                <a:latin typeface="Calibri" panose="020F0502020204030204" pitchFamily="34" charset="0"/>
              </a:rPr>
              <a:t>VARCHAR</a:t>
            </a:r>
            <a:endParaRPr lang="en-US" sz="900" dirty="0">
              <a:solidFill>
                <a:srgbClr val="7A8EA8"/>
              </a:solidFill>
              <a:latin typeface="Calibri" panose="020F0502020204030204" pitchFamily="34" charset="0"/>
            </a:endParaRPr>
          </a:p>
        </p:txBody>
      </p:sp>
      <p:sp>
        <p:nvSpPr>
          <p:cNvPr id="60" name="DimPlatBg"/>
          <p:cNvSpPr/>
          <p:nvPr/>
        </p:nvSpPr>
        <p:spPr>
          <a:xfrm>
            <a:off x="6172200" y="868680"/>
            <a:ext cx="2560320" cy="1200000"/>
          </a:xfrm>
          <a:prstGeom prst="rect">
            <a:avLst/>
          </a:prstGeom>
          <a:solidFill>
            <a:srgbClr val="061020"/>
          </a:solidFill>
          <a:ln w="12700">
            <a:solidFill>
              <a:srgbClr val="4A9EFF"/>
            </a:solidFill>
            <a:prstDash val="solid"/>
          </a:ln>
        </p:spPr>
      </p:sp>
      <p:sp>
        <p:nvSpPr>
          <p:cNvPr id="61" name="DimPlatHdr"/>
          <p:cNvSpPr/>
          <p:nvPr/>
        </p:nvSpPr>
        <p:spPr>
          <a:xfrm>
            <a:off x="6172200" y="868680"/>
            <a:ext cx="2560320" cy="360000"/>
          </a:xfrm>
          <a:prstGeom prst="rect">
            <a:avLst/>
          </a:prstGeom>
          <a:solidFill>
            <a:srgbClr val="4A9EFF"/>
          </a:solidFill>
        </p:spPr>
      </p:sp>
      <p:sp>
        <p:nvSpPr>
          <p:cNvPr id="62" name="DimPlatHdrTxt"/>
          <p:cNvSpPr/>
          <p:nvPr/>
        </p:nvSpPr>
        <p:spPr>
          <a:xfrm>
            <a:off x="6172200" y="868680"/>
            <a:ext cx="2560320" cy="360000"/>
          </a:xfrm>
          <a:prstGeom prst="rect">
            <a:avLst/>
          </a:prstGeom>
          <a:noFill/>
        </p:spPr>
        <p:txBody>
          <a:bodyPr wrap="square" lIns="91440" tIns="0" rIns="91440" bIns="0" rtlCol="0" anchor="ctr"/>
          <a:lstStyle/>
          <a:p>
            <a:pPr marL="0" indent="0" algn="ctr">
              <a:buNone/>
            </a:pPr>
            <a:r>
              <a:rPr lang="en-US" sz="1100" b="1" dirty="0">
                <a:solidFill>
                  <a:srgbClr val="FFFFFF"/>
                </a:solidFill>
                <a:latin typeface="Calibri" panose="020F0502020204030204" pitchFamily="34" charset="0"/>
              </a:rPr>
              <a:t>dim_platform</a:t>
            </a:r>
            <a:endParaRPr lang="en-US" sz="1100" b="1" dirty="0">
              <a:solidFill>
                <a:srgbClr val="FFFFFF"/>
              </a:solidFill>
              <a:latin typeface="Calibri" panose="020F0502020204030204" pitchFamily="34" charset="0"/>
            </a:endParaRPr>
          </a:p>
        </p:txBody>
      </p:sp>
      <p:sp>
        <p:nvSpPr>
          <p:cNvPr id="63" name="DP1L"/>
          <p:cNvSpPr/>
          <p:nvPr/>
        </p:nvSpPr>
        <p:spPr>
          <a:xfrm>
            <a:off x="6245352" y="1280000"/>
            <a:ext cx="1587398" cy="201168"/>
          </a:xfrm>
          <a:prstGeom prst="rect">
            <a:avLst/>
          </a:prstGeom>
          <a:noFill/>
        </p:spPr>
        <p:txBody>
          <a:bodyPr wrap="square" lIns="0" tIns="0" rIns="0" bIns="0" rtlCol="0" anchor="ctr"/>
          <a:lstStyle/>
          <a:p>
            <a:pPr marL="0" indent="0">
              <a:buNone/>
            </a:pPr>
            <a:r>
              <a:rPr lang="en-US" sz="900" b="1" dirty="0">
                <a:solidFill>
                  <a:srgbClr val="4A9EFF"/>
                </a:solidFill>
                <a:latin typeface="Calibri" panose="020F0502020204030204" pitchFamily="34" charset="0"/>
              </a:rPr>
              <a:t>PK  platform_id</a:t>
            </a:r>
            <a:endParaRPr lang="en-US" sz="900" b="1" dirty="0">
              <a:solidFill>
                <a:srgbClr val="4A9EFF"/>
              </a:solidFill>
              <a:latin typeface="Calibri" panose="020F0502020204030204" pitchFamily="34" charset="0"/>
            </a:endParaRPr>
          </a:p>
        </p:txBody>
      </p:sp>
      <p:sp>
        <p:nvSpPr>
          <p:cNvPr id="64" name="DP1R"/>
          <p:cNvSpPr/>
          <p:nvPr/>
        </p:nvSpPr>
        <p:spPr>
          <a:xfrm>
            <a:off x="7759598" y="1280000"/>
            <a:ext cx="870509" cy="201168"/>
          </a:xfrm>
          <a:prstGeom prst="rect">
            <a:avLst/>
          </a:prstGeom>
          <a:noFill/>
        </p:spPr>
        <p:txBody>
          <a:bodyPr wrap="square" lIns="0" tIns="0" rIns="0" bIns="0" rtlCol="0" anchor="ctr"/>
          <a:lstStyle/>
          <a:p>
            <a:pPr marL="0" indent="0" algn="r">
              <a:buNone/>
            </a:pPr>
            <a:r>
              <a:rPr lang="en-US" sz="900" dirty="0">
                <a:solidFill>
                  <a:srgbClr val="7A8EA8"/>
                </a:solidFill>
                <a:latin typeface="Calibri" panose="020F0502020204030204" pitchFamily="34" charset="0"/>
              </a:rPr>
              <a:t>INT</a:t>
            </a:r>
            <a:endParaRPr lang="en-US" sz="900" dirty="0">
              <a:solidFill>
                <a:srgbClr val="7A8EA8"/>
              </a:solidFill>
              <a:latin typeface="Calibri" panose="020F0502020204030204" pitchFamily="34" charset="0"/>
            </a:endParaRPr>
          </a:p>
        </p:txBody>
      </p:sp>
      <p:sp>
        <p:nvSpPr>
          <p:cNvPr id="65" name="DP2L"/>
          <p:cNvSpPr/>
          <p:nvPr/>
        </p:nvSpPr>
        <p:spPr>
          <a:xfrm>
            <a:off x="6245352" y="1495000"/>
            <a:ext cx="1587398" cy="201168"/>
          </a:xfrm>
          <a:prstGeom prst="rect">
            <a:avLst/>
          </a:prstGeom>
          <a:noFill/>
        </p:spPr>
        <p:txBody>
          <a:bodyPr wrap="square" lIns="0" tIns="0" rIns="0" bIns="0" rtlCol="0" anchor="ctr"/>
          <a:lstStyle/>
          <a:p>
            <a:pPr marL="0" indent="0">
              <a:buNone/>
            </a:pPr>
            <a:r>
              <a:rPr lang="en-US" sz="900" dirty="0">
                <a:solidFill>
                  <a:srgbClr val="B0C4D8"/>
                </a:solidFill>
                <a:latin typeface="Calibri" panose="020F0502020204030204" pitchFamily="34" charset="0"/>
              </a:rPr>
              <a:t>     platform_name</a:t>
            </a:r>
            <a:endParaRPr lang="en-US" sz="900" dirty="0">
              <a:solidFill>
                <a:srgbClr val="B0C4D8"/>
              </a:solidFill>
              <a:latin typeface="Calibri" panose="020F0502020204030204" pitchFamily="34" charset="0"/>
            </a:endParaRPr>
          </a:p>
        </p:txBody>
      </p:sp>
      <p:sp>
        <p:nvSpPr>
          <p:cNvPr id="66" name="DP2R"/>
          <p:cNvSpPr/>
          <p:nvPr/>
        </p:nvSpPr>
        <p:spPr>
          <a:xfrm>
            <a:off x="7759598" y="1495000"/>
            <a:ext cx="870509" cy="201168"/>
          </a:xfrm>
          <a:prstGeom prst="rect">
            <a:avLst/>
          </a:prstGeom>
          <a:noFill/>
        </p:spPr>
        <p:txBody>
          <a:bodyPr wrap="square" lIns="0" tIns="0" rIns="0" bIns="0" rtlCol="0" anchor="ctr"/>
          <a:lstStyle/>
          <a:p>
            <a:pPr marL="0" indent="0" algn="r">
              <a:buNone/>
            </a:pPr>
            <a:r>
              <a:rPr lang="en-US" sz="900" dirty="0">
                <a:solidFill>
                  <a:srgbClr val="7A8EA8"/>
                </a:solidFill>
                <a:latin typeface="Calibri" panose="020F0502020204030204" pitchFamily="34" charset="0"/>
              </a:rPr>
              <a:t>VARCHAR</a:t>
            </a:r>
            <a:endParaRPr lang="en-US" sz="900" dirty="0">
              <a:solidFill>
                <a:srgbClr val="7A8EA8"/>
              </a:solidFill>
              <a:latin typeface="Calibri" panose="020F0502020204030204" pitchFamily="34" charset="0"/>
            </a:endParaRPr>
          </a:p>
        </p:txBody>
      </p:sp>
      <p:sp>
        <p:nvSpPr>
          <p:cNvPr id="70" name="DimLocBg"/>
          <p:cNvSpPr/>
          <p:nvPr/>
        </p:nvSpPr>
        <p:spPr>
          <a:xfrm>
            <a:off x="228600" y="3100000"/>
            <a:ext cx="2743200" cy="1600000"/>
          </a:xfrm>
          <a:prstGeom prst="rect">
            <a:avLst/>
          </a:prstGeom>
          <a:solidFill>
            <a:srgbClr val="061020"/>
          </a:solidFill>
          <a:ln w="12700">
            <a:solidFill>
              <a:srgbClr val="00D4AA"/>
            </a:solidFill>
            <a:prstDash val="solid"/>
          </a:ln>
        </p:spPr>
      </p:sp>
      <p:sp>
        <p:nvSpPr>
          <p:cNvPr id="71" name="DimLocHdr"/>
          <p:cNvSpPr/>
          <p:nvPr/>
        </p:nvSpPr>
        <p:spPr>
          <a:xfrm>
            <a:off x="228600" y="3100000"/>
            <a:ext cx="2743200" cy="360000"/>
          </a:xfrm>
          <a:prstGeom prst="rect">
            <a:avLst/>
          </a:prstGeom>
          <a:solidFill>
            <a:srgbClr val="00D4AA"/>
          </a:solidFill>
        </p:spPr>
      </p:sp>
      <p:sp>
        <p:nvSpPr>
          <p:cNvPr id="72" name="DimLocHdrTxt"/>
          <p:cNvSpPr/>
          <p:nvPr/>
        </p:nvSpPr>
        <p:spPr>
          <a:xfrm>
            <a:off x="228600" y="3100000"/>
            <a:ext cx="2743200" cy="360000"/>
          </a:xfrm>
          <a:prstGeom prst="rect">
            <a:avLst/>
          </a:prstGeom>
          <a:noFill/>
        </p:spPr>
        <p:txBody>
          <a:bodyPr wrap="square" lIns="91440" tIns="0" rIns="91440" bIns="0" rtlCol="0" anchor="ctr"/>
          <a:lstStyle/>
          <a:p>
            <a:pPr marL="0" indent="0" algn="ctr">
              <a:buNone/>
            </a:pPr>
            <a:r>
              <a:rPr lang="en-US" sz="1100" b="1" dirty="0">
                <a:solidFill>
                  <a:srgbClr val="0A1628"/>
                </a:solidFill>
                <a:latin typeface="Calibri" panose="020F0502020204030204" pitchFamily="34" charset="0"/>
              </a:rPr>
              <a:t>dim_location</a:t>
            </a:r>
            <a:endParaRPr lang="en-US" sz="1100" b="1" dirty="0">
              <a:solidFill>
                <a:srgbClr val="0A1628"/>
              </a:solidFill>
              <a:latin typeface="Calibri" panose="020F0502020204030204" pitchFamily="34" charset="0"/>
            </a:endParaRPr>
          </a:p>
        </p:txBody>
      </p:sp>
      <p:sp>
        <p:nvSpPr>
          <p:cNvPr id="73" name="DL1L"/>
          <p:cNvSpPr/>
          <p:nvPr/>
        </p:nvSpPr>
        <p:spPr>
          <a:xfrm>
            <a:off x="301752" y="3510000"/>
            <a:ext cx="1700784" cy="201168"/>
          </a:xfrm>
          <a:prstGeom prst="rect">
            <a:avLst/>
          </a:prstGeom>
          <a:noFill/>
        </p:spPr>
        <p:txBody>
          <a:bodyPr wrap="square" lIns="0" tIns="0" rIns="0" bIns="0" rtlCol="0" anchor="ctr"/>
          <a:lstStyle/>
          <a:p>
            <a:pPr marL="0" indent="0">
              <a:buNone/>
            </a:pPr>
            <a:r>
              <a:rPr lang="en-US" sz="900" b="1" dirty="0">
                <a:solidFill>
                  <a:srgbClr val="00D4AA"/>
                </a:solidFill>
                <a:latin typeface="Calibri" panose="020F0502020204030204" pitchFamily="34" charset="0"/>
              </a:rPr>
              <a:t>PK  location_id</a:t>
            </a:r>
            <a:endParaRPr lang="en-US" sz="900" b="1" dirty="0">
              <a:solidFill>
                <a:srgbClr val="00D4AA"/>
              </a:solidFill>
              <a:latin typeface="Calibri" panose="020F0502020204030204" pitchFamily="34" charset="0"/>
            </a:endParaRPr>
          </a:p>
        </p:txBody>
      </p:sp>
      <p:sp>
        <p:nvSpPr>
          <p:cNvPr id="74" name="DL1R"/>
          <p:cNvSpPr/>
          <p:nvPr/>
        </p:nvSpPr>
        <p:spPr>
          <a:xfrm>
            <a:off x="1929384" y="3510000"/>
            <a:ext cx="932688" cy="201168"/>
          </a:xfrm>
          <a:prstGeom prst="rect">
            <a:avLst/>
          </a:prstGeom>
          <a:noFill/>
        </p:spPr>
        <p:txBody>
          <a:bodyPr wrap="square" lIns="0" tIns="0" rIns="0" bIns="0" rtlCol="0" anchor="ctr"/>
          <a:lstStyle/>
          <a:p>
            <a:pPr marL="0" indent="0" algn="r">
              <a:buNone/>
            </a:pPr>
            <a:r>
              <a:rPr lang="en-US" sz="900" dirty="0">
                <a:solidFill>
                  <a:srgbClr val="7A8EA8"/>
                </a:solidFill>
                <a:latin typeface="Calibri" panose="020F0502020204030204" pitchFamily="34" charset="0"/>
              </a:rPr>
              <a:t>INT</a:t>
            </a:r>
            <a:endParaRPr lang="en-US" sz="900" dirty="0">
              <a:solidFill>
                <a:srgbClr val="7A8EA8"/>
              </a:solidFill>
              <a:latin typeface="Calibri" panose="020F0502020204030204" pitchFamily="34" charset="0"/>
            </a:endParaRPr>
          </a:p>
        </p:txBody>
      </p:sp>
      <p:sp>
        <p:nvSpPr>
          <p:cNvPr id="75" name="DL2L"/>
          <p:cNvSpPr/>
          <p:nvPr/>
        </p:nvSpPr>
        <p:spPr>
          <a:xfrm>
            <a:off x="301752" y="3725000"/>
            <a:ext cx="1700784" cy="201168"/>
          </a:xfrm>
          <a:prstGeom prst="rect">
            <a:avLst/>
          </a:prstGeom>
          <a:noFill/>
        </p:spPr>
        <p:txBody>
          <a:bodyPr wrap="square" lIns="0" tIns="0" rIns="0" bIns="0" rtlCol="0" anchor="ctr"/>
          <a:lstStyle/>
          <a:p>
            <a:pPr marL="0" indent="0">
              <a:buNone/>
            </a:pPr>
            <a:r>
              <a:rPr lang="en-US" sz="900" dirty="0">
                <a:solidFill>
                  <a:srgbClr val="B0C4D8"/>
                </a:solidFill>
                <a:latin typeface="Calibri" panose="020F0502020204030204" pitchFamily="34" charset="0"/>
              </a:rPr>
              <a:t>     city</a:t>
            </a:r>
            <a:endParaRPr lang="en-US" sz="900" dirty="0">
              <a:solidFill>
                <a:srgbClr val="B0C4D8"/>
              </a:solidFill>
              <a:latin typeface="Calibri" panose="020F0502020204030204" pitchFamily="34" charset="0"/>
            </a:endParaRPr>
          </a:p>
        </p:txBody>
      </p:sp>
      <p:sp>
        <p:nvSpPr>
          <p:cNvPr id="76" name="DL2R"/>
          <p:cNvSpPr/>
          <p:nvPr/>
        </p:nvSpPr>
        <p:spPr>
          <a:xfrm>
            <a:off x="1929384" y="3725000"/>
            <a:ext cx="932688" cy="201168"/>
          </a:xfrm>
          <a:prstGeom prst="rect">
            <a:avLst/>
          </a:prstGeom>
          <a:noFill/>
        </p:spPr>
        <p:txBody>
          <a:bodyPr wrap="square" lIns="0" tIns="0" rIns="0" bIns="0" rtlCol="0" anchor="ctr"/>
          <a:lstStyle/>
          <a:p>
            <a:pPr marL="0" indent="0" algn="r">
              <a:buNone/>
            </a:pPr>
            <a:r>
              <a:rPr lang="en-US" sz="900" dirty="0">
                <a:solidFill>
                  <a:srgbClr val="7A8EA8"/>
                </a:solidFill>
                <a:latin typeface="Calibri" panose="020F0502020204030204" pitchFamily="34" charset="0"/>
              </a:rPr>
              <a:t>VARCHAR</a:t>
            </a:r>
            <a:endParaRPr lang="en-US" sz="900" dirty="0">
              <a:solidFill>
                <a:srgbClr val="7A8EA8"/>
              </a:solidFill>
              <a:latin typeface="Calibri" panose="020F0502020204030204" pitchFamily="34" charset="0"/>
            </a:endParaRPr>
          </a:p>
        </p:txBody>
      </p:sp>
      <p:sp>
        <p:nvSpPr>
          <p:cNvPr id="77" name="DL3L"/>
          <p:cNvSpPr/>
          <p:nvPr/>
        </p:nvSpPr>
        <p:spPr>
          <a:xfrm>
            <a:off x="301752" y="3940000"/>
            <a:ext cx="1700784" cy="201168"/>
          </a:xfrm>
          <a:prstGeom prst="rect">
            <a:avLst/>
          </a:prstGeom>
          <a:noFill/>
        </p:spPr>
        <p:txBody>
          <a:bodyPr wrap="square" lIns="0" tIns="0" rIns="0" bIns="0" rtlCol="0" anchor="ctr"/>
          <a:lstStyle/>
          <a:p>
            <a:pPr marL="0" indent="0">
              <a:buNone/>
            </a:pPr>
            <a:r>
              <a:rPr lang="en-US" sz="900" dirty="0">
                <a:solidFill>
                  <a:srgbClr val="B0C4D8"/>
                </a:solidFill>
                <a:latin typeface="Calibri" panose="020F0502020204030204" pitchFamily="34" charset="0"/>
              </a:rPr>
              <a:t>     title</a:t>
            </a:r>
            <a:endParaRPr lang="en-US" sz="900" dirty="0">
              <a:solidFill>
                <a:srgbClr val="B0C4D8"/>
              </a:solidFill>
              <a:latin typeface="Calibri" panose="020F0502020204030204" pitchFamily="34" charset="0"/>
            </a:endParaRPr>
          </a:p>
        </p:txBody>
      </p:sp>
      <p:sp>
        <p:nvSpPr>
          <p:cNvPr id="78" name="DL3R"/>
          <p:cNvSpPr/>
          <p:nvPr/>
        </p:nvSpPr>
        <p:spPr>
          <a:xfrm>
            <a:off x="1929384" y="3940000"/>
            <a:ext cx="932688" cy="201168"/>
          </a:xfrm>
          <a:prstGeom prst="rect">
            <a:avLst/>
          </a:prstGeom>
          <a:noFill/>
        </p:spPr>
        <p:txBody>
          <a:bodyPr wrap="square" lIns="0" tIns="0" rIns="0" bIns="0" rtlCol="0" anchor="ctr"/>
          <a:lstStyle/>
          <a:p>
            <a:pPr marL="0" indent="0" algn="r">
              <a:buNone/>
            </a:pPr>
            <a:r>
              <a:rPr lang="en-US" sz="900" dirty="0">
                <a:solidFill>
                  <a:srgbClr val="7A8EA8"/>
                </a:solidFill>
                <a:latin typeface="Calibri" panose="020F0502020204030204" pitchFamily="34" charset="0"/>
              </a:rPr>
              <a:t>VARCHAR</a:t>
            </a:r>
            <a:endParaRPr lang="en-US" sz="900" dirty="0">
              <a:solidFill>
                <a:srgbClr val="7A8EA8"/>
              </a:solidFill>
              <a:latin typeface="Calibri" panose="020F0502020204030204" pitchFamily="34" charset="0"/>
            </a:endParaRPr>
          </a:p>
        </p:txBody>
      </p:sp>
      <p:sp>
        <p:nvSpPr>
          <p:cNvPr id="80" name="DimThBg"/>
          <p:cNvSpPr/>
          <p:nvPr/>
        </p:nvSpPr>
        <p:spPr>
          <a:xfrm>
            <a:off x="6172200" y="2286000"/>
            <a:ext cx="2560320" cy="2240280"/>
          </a:xfrm>
          <a:prstGeom prst="rect">
            <a:avLst/>
          </a:prstGeom>
          <a:solidFill>
            <a:srgbClr val="061020"/>
          </a:solidFill>
          <a:ln w="12700">
            <a:solidFill>
              <a:srgbClr val="E50914"/>
            </a:solidFill>
            <a:prstDash val="solid"/>
          </a:ln>
        </p:spPr>
      </p:sp>
      <p:sp>
        <p:nvSpPr>
          <p:cNvPr id="81" name="DimThHdr"/>
          <p:cNvSpPr/>
          <p:nvPr/>
        </p:nvSpPr>
        <p:spPr>
          <a:xfrm>
            <a:off x="6172200" y="2286000"/>
            <a:ext cx="2560320" cy="360000"/>
          </a:xfrm>
          <a:prstGeom prst="rect">
            <a:avLst/>
          </a:prstGeom>
          <a:solidFill>
            <a:srgbClr val="E50914"/>
          </a:solidFill>
        </p:spPr>
      </p:sp>
      <p:sp>
        <p:nvSpPr>
          <p:cNvPr id="82" name="DimThHdrTxt"/>
          <p:cNvSpPr/>
          <p:nvPr/>
        </p:nvSpPr>
        <p:spPr>
          <a:xfrm>
            <a:off x="6172200" y="2286000"/>
            <a:ext cx="2560320" cy="360000"/>
          </a:xfrm>
          <a:prstGeom prst="rect">
            <a:avLst/>
          </a:prstGeom>
          <a:noFill/>
        </p:spPr>
        <p:txBody>
          <a:bodyPr wrap="square" lIns="91440" tIns="0" rIns="91440" bIns="0" rtlCol="0" anchor="ctr"/>
          <a:lstStyle/>
          <a:p>
            <a:pPr marL="0" indent="0" algn="ctr">
              <a:buNone/>
            </a:pPr>
            <a:r>
              <a:rPr lang="en-US" sz="1100" b="1" dirty="0">
                <a:solidFill>
                  <a:srgbClr val="FFFFFF"/>
                </a:solidFill>
                <a:latin typeface="Calibri" panose="020F0502020204030204" pitchFamily="34" charset="0"/>
              </a:rPr>
              <a:t>dim_theatre</a:t>
            </a:r>
            <a:endParaRPr lang="en-US" sz="1100" b="1" dirty="0">
              <a:solidFill>
                <a:srgbClr val="FFFFFF"/>
              </a:solidFill>
              <a:latin typeface="Calibri" panose="020F0502020204030204" pitchFamily="34" charset="0"/>
            </a:endParaRPr>
          </a:p>
        </p:txBody>
      </p:sp>
      <p:sp>
        <p:nvSpPr>
          <p:cNvPr id="83" name="DT1L"/>
          <p:cNvSpPr/>
          <p:nvPr/>
        </p:nvSpPr>
        <p:spPr>
          <a:xfrm>
            <a:off x="6245352" y="2696000"/>
            <a:ext cx="1587398" cy="201168"/>
          </a:xfrm>
          <a:prstGeom prst="rect">
            <a:avLst/>
          </a:prstGeom>
          <a:noFill/>
        </p:spPr>
        <p:txBody>
          <a:bodyPr wrap="square" lIns="0" tIns="0" rIns="0" bIns="0" rtlCol="0" anchor="ctr"/>
          <a:lstStyle/>
          <a:p>
            <a:pPr marL="0" indent="0">
              <a:buNone/>
            </a:pPr>
            <a:r>
              <a:rPr lang="en-US" sz="900" b="1" dirty="0">
                <a:solidFill>
                  <a:srgbClr val="E50914"/>
                </a:solidFill>
                <a:latin typeface="Calibri" panose="020F0502020204030204" pitchFamily="34" charset="0"/>
              </a:rPr>
              <a:t>PK  theatre_id</a:t>
            </a:r>
            <a:endParaRPr lang="en-US" sz="900" b="1" dirty="0">
              <a:solidFill>
                <a:srgbClr val="E50914"/>
              </a:solidFill>
              <a:latin typeface="Calibri" panose="020F0502020204030204" pitchFamily="34" charset="0"/>
            </a:endParaRPr>
          </a:p>
        </p:txBody>
      </p:sp>
      <p:sp>
        <p:nvSpPr>
          <p:cNvPr id="84" name="DT1R"/>
          <p:cNvSpPr/>
          <p:nvPr/>
        </p:nvSpPr>
        <p:spPr>
          <a:xfrm>
            <a:off x="7759598" y="2696000"/>
            <a:ext cx="870509" cy="201168"/>
          </a:xfrm>
          <a:prstGeom prst="rect">
            <a:avLst/>
          </a:prstGeom>
          <a:noFill/>
        </p:spPr>
        <p:txBody>
          <a:bodyPr wrap="square" lIns="0" tIns="0" rIns="0" bIns="0" rtlCol="0" anchor="ctr"/>
          <a:lstStyle/>
          <a:p>
            <a:pPr marL="0" indent="0" algn="r">
              <a:buNone/>
            </a:pPr>
            <a:r>
              <a:rPr lang="en-US" sz="900" dirty="0">
                <a:solidFill>
                  <a:srgbClr val="7A8EA8"/>
                </a:solidFill>
                <a:latin typeface="Calibri" panose="020F0502020204030204" pitchFamily="34" charset="0"/>
              </a:rPr>
              <a:t>INT</a:t>
            </a:r>
            <a:endParaRPr lang="en-US" sz="900" dirty="0">
              <a:solidFill>
                <a:srgbClr val="7A8EA8"/>
              </a:solidFill>
              <a:latin typeface="Calibri" panose="020F0502020204030204" pitchFamily="34" charset="0"/>
            </a:endParaRPr>
          </a:p>
        </p:txBody>
      </p:sp>
      <p:sp>
        <p:nvSpPr>
          <p:cNvPr id="85" name="DT2L"/>
          <p:cNvSpPr/>
          <p:nvPr/>
        </p:nvSpPr>
        <p:spPr>
          <a:xfrm>
            <a:off x="6245352" y="2910000"/>
            <a:ext cx="1587398" cy="201168"/>
          </a:xfrm>
          <a:prstGeom prst="rect">
            <a:avLst/>
          </a:prstGeom>
          <a:noFill/>
        </p:spPr>
        <p:txBody>
          <a:bodyPr wrap="square" lIns="0" tIns="0" rIns="0" bIns="0" rtlCol="0" anchor="ctr"/>
          <a:lstStyle/>
          <a:p>
            <a:pPr marL="0" indent="0">
              <a:buNone/>
            </a:pPr>
            <a:r>
              <a:rPr lang="en-US" sz="900" dirty="0">
                <a:solidFill>
                  <a:srgbClr val="B0C4D8"/>
                </a:solidFill>
                <a:latin typeface="Calibri" panose="020F0502020204030204" pitchFamily="34" charset="0"/>
              </a:rPr>
              <a:t>     theatre_name</a:t>
            </a:r>
            <a:endParaRPr lang="en-US" sz="900" dirty="0">
              <a:solidFill>
                <a:srgbClr val="B0C4D8"/>
              </a:solidFill>
              <a:latin typeface="Calibri" panose="020F0502020204030204" pitchFamily="34" charset="0"/>
            </a:endParaRPr>
          </a:p>
        </p:txBody>
      </p:sp>
      <p:sp>
        <p:nvSpPr>
          <p:cNvPr id="86" name="DT2R"/>
          <p:cNvSpPr/>
          <p:nvPr/>
        </p:nvSpPr>
        <p:spPr>
          <a:xfrm>
            <a:off x="7759598" y="2910000"/>
            <a:ext cx="870509" cy="201168"/>
          </a:xfrm>
          <a:prstGeom prst="rect">
            <a:avLst/>
          </a:prstGeom>
          <a:noFill/>
        </p:spPr>
        <p:txBody>
          <a:bodyPr wrap="square" lIns="0" tIns="0" rIns="0" bIns="0" rtlCol="0" anchor="ctr"/>
          <a:lstStyle/>
          <a:p>
            <a:pPr marL="0" indent="0" algn="r">
              <a:buNone/>
            </a:pPr>
            <a:r>
              <a:rPr lang="en-US" sz="900" dirty="0">
                <a:solidFill>
                  <a:srgbClr val="7A8EA8"/>
                </a:solidFill>
                <a:latin typeface="Calibri" panose="020F0502020204030204" pitchFamily="34" charset="0"/>
              </a:rPr>
              <a:t>VARCHAR</a:t>
            </a:r>
            <a:endParaRPr lang="en-US" sz="900" dirty="0">
              <a:solidFill>
                <a:srgbClr val="7A8EA8"/>
              </a:solidFill>
              <a:latin typeface="Calibri" panose="020F0502020204030204" pitchFamily="34" charset="0"/>
            </a:endParaRPr>
          </a:p>
        </p:txBody>
      </p:sp>
      <p:sp>
        <p:nvSpPr>
          <p:cNvPr id="87" name="DT3L"/>
          <p:cNvSpPr/>
          <p:nvPr/>
        </p:nvSpPr>
        <p:spPr>
          <a:xfrm>
            <a:off x="6245352" y="3125000"/>
            <a:ext cx="1587398" cy="201168"/>
          </a:xfrm>
          <a:prstGeom prst="rect">
            <a:avLst/>
          </a:prstGeom>
          <a:noFill/>
        </p:spPr>
        <p:txBody>
          <a:bodyPr wrap="square" lIns="0" tIns="0" rIns="0" bIns="0" rtlCol="0" anchor="ctr"/>
          <a:lstStyle/>
          <a:p>
            <a:pPr marL="0" indent="0">
              <a:buNone/>
            </a:pPr>
            <a:r>
              <a:rPr lang="en-US" sz="900" dirty="0">
                <a:solidFill>
                  <a:srgbClr val="B0C4D8"/>
                </a:solidFill>
                <a:latin typeface="Calibri" panose="020F0502020204030204" pitchFamily="34" charset="0"/>
              </a:rPr>
              <a:t>     city</a:t>
            </a:r>
            <a:endParaRPr lang="en-US" sz="900" dirty="0">
              <a:solidFill>
                <a:srgbClr val="B0C4D8"/>
              </a:solidFill>
              <a:latin typeface="Calibri" panose="020F0502020204030204" pitchFamily="34" charset="0"/>
            </a:endParaRPr>
          </a:p>
        </p:txBody>
      </p:sp>
      <p:sp>
        <p:nvSpPr>
          <p:cNvPr id="88" name="DT3R"/>
          <p:cNvSpPr/>
          <p:nvPr/>
        </p:nvSpPr>
        <p:spPr>
          <a:xfrm>
            <a:off x="7759598" y="3125000"/>
            <a:ext cx="870509" cy="201168"/>
          </a:xfrm>
          <a:prstGeom prst="rect">
            <a:avLst/>
          </a:prstGeom>
          <a:noFill/>
        </p:spPr>
        <p:txBody>
          <a:bodyPr wrap="square" lIns="0" tIns="0" rIns="0" bIns="0" rtlCol="0" anchor="ctr"/>
          <a:lstStyle/>
          <a:p>
            <a:pPr marL="0" indent="0" algn="r">
              <a:buNone/>
            </a:pPr>
            <a:r>
              <a:rPr lang="en-US" sz="900" dirty="0">
                <a:solidFill>
                  <a:srgbClr val="7A8EA8"/>
                </a:solidFill>
                <a:latin typeface="Calibri" panose="020F0502020204030204" pitchFamily="34" charset="0"/>
              </a:rPr>
              <a:t>VARCHAR</a:t>
            </a:r>
            <a:endParaRPr lang="en-US" sz="900" dirty="0">
              <a:solidFill>
                <a:srgbClr val="7A8EA8"/>
              </a:solidFill>
              <a:latin typeface="Calibri" panose="020F0502020204030204" pitchFamily="34" charset="0"/>
            </a:endParaRPr>
          </a:p>
        </p:txBody>
      </p:sp>
      <p:sp>
        <p:nvSpPr>
          <p:cNvPr id="89" name="DT4L"/>
          <p:cNvSpPr/>
          <p:nvPr/>
        </p:nvSpPr>
        <p:spPr>
          <a:xfrm>
            <a:off x="6245352" y="3340000"/>
            <a:ext cx="1587398" cy="201168"/>
          </a:xfrm>
          <a:prstGeom prst="rect">
            <a:avLst/>
          </a:prstGeom>
          <a:noFill/>
        </p:spPr>
        <p:txBody>
          <a:bodyPr wrap="square" lIns="0" tIns="0" rIns="0" bIns="0" rtlCol="0" anchor="ctr"/>
          <a:lstStyle/>
          <a:p>
            <a:pPr marL="0" indent="0">
              <a:buNone/>
            </a:pPr>
            <a:r>
              <a:rPr lang="en-US" sz="900" dirty="0">
                <a:solidFill>
                  <a:srgbClr val="B0C4D8"/>
                </a:solidFill>
                <a:latin typeface="Calibri" panose="020F0502020204030204" pitchFamily="34" charset="0"/>
              </a:rPr>
              <a:t>     start_date</a:t>
            </a:r>
            <a:endParaRPr lang="en-US" sz="900" dirty="0">
              <a:solidFill>
                <a:srgbClr val="B0C4D8"/>
              </a:solidFill>
              <a:latin typeface="Calibri" panose="020F0502020204030204" pitchFamily="34" charset="0"/>
            </a:endParaRPr>
          </a:p>
        </p:txBody>
      </p:sp>
      <p:sp>
        <p:nvSpPr>
          <p:cNvPr id="90" name="DT4R"/>
          <p:cNvSpPr/>
          <p:nvPr/>
        </p:nvSpPr>
        <p:spPr>
          <a:xfrm>
            <a:off x="7759598" y="3340000"/>
            <a:ext cx="870509" cy="201168"/>
          </a:xfrm>
          <a:prstGeom prst="rect">
            <a:avLst/>
          </a:prstGeom>
          <a:noFill/>
        </p:spPr>
        <p:txBody>
          <a:bodyPr wrap="square" lIns="0" tIns="0" rIns="0" bIns="0" rtlCol="0" anchor="ctr"/>
          <a:lstStyle/>
          <a:p>
            <a:pPr marL="0" indent="0" algn="r">
              <a:buNone/>
            </a:pPr>
            <a:r>
              <a:rPr lang="en-US" sz="900" dirty="0">
                <a:solidFill>
                  <a:srgbClr val="7A8EA8"/>
                </a:solidFill>
                <a:latin typeface="Calibri" panose="020F0502020204030204" pitchFamily="34" charset="0"/>
              </a:rPr>
              <a:t>DATE</a:t>
            </a:r>
            <a:endParaRPr lang="en-US" sz="900" dirty="0">
              <a:solidFill>
                <a:srgbClr val="7A8EA8"/>
              </a:solidFill>
              <a:latin typeface="Calibri" panose="020F0502020204030204" pitchFamily="34" charset="0"/>
            </a:endParaRPr>
          </a:p>
        </p:txBody>
      </p:sp>
      <p:sp>
        <p:nvSpPr>
          <p:cNvPr id="91" name="DT5L"/>
          <p:cNvSpPr/>
          <p:nvPr/>
        </p:nvSpPr>
        <p:spPr>
          <a:xfrm>
            <a:off x="6245352" y="3555000"/>
            <a:ext cx="1587398" cy="201168"/>
          </a:xfrm>
          <a:prstGeom prst="rect">
            <a:avLst/>
          </a:prstGeom>
          <a:noFill/>
        </p:spPr>
        <p:txBody>
          <a:bodyPr wrap="square" lIns="0" tIns="0" rIns="0" bIns="0" rtlCol="0" anchor="ctr"/>
          <a:lstStyle/>
          <a:p>
            <a:pPr marL="0" indent="0">
              <a:buNone/>
            </a:pPr>
            <a:r>
              <a:rPr lang="en-US" sz="900" dirty="0">
                <a:solidFill>
                  <a:srgbClr val="B0C4D8"/>
                </a:solidFill>
                <a:latin typeface="Calibri" panose="020F0502020204030204" pitchFamily="34" charset="0"/>
              </a:rPr>
              <a:t>     is_current</a:t>
            </a:r>
            <a:endParaRPr lang="en-US" sz="900" dirty="0">
              <a:solidFill>
                <a:srgbClr val="B0C4D8"/>
              </a:solidFill>
              <a:latin typeface="Calibri" panose="020F0502020204030204" pitchFamily="34" charset="0"/>
            </a:endParaRPr>
          </a:p>
        </p:txBody>
      </p:sp>
      <p:sp>
        <p:nvSpPr>
          <p:cNvPr id="92" name="DT5R"/>
          <p:cNvSpPr/>
          <p:nvPr/>
        </p:nvSpPr>
        <p:spPr>
          <a:xfrm>
            <a:off x="7759598" y="3555000"/>
            <a:ext cx="870509" cy="201168"/>
          </a:xfrm>
          <a:prstGeom prst="rect">
            <a:avLst/>
          </a:prstGeom>
          <a:noFill/>
        </p:spPr>
        <p:txBody>
          <a:bodyPr wrap="square" lIns="0" tIns="0" rIns="0" bIns="0" rtlCol="0" anchor="ctr"/>
          <a:lstStyle/>
          <a:p>
            <a:pPr marL="0" indent="0" algn="r">
              <a:buNone/>
            </a:pPr>
            <a:r>
              <a:rPr lang="en-US" sz="900" dirty="0">
                <a:solidFill>
                  <a:srgbClr val="7A8EA8"/>
                </a:solidFill>
                <a:latin typeface="Calibri" panose="020F0502020204030204" pitchFamily="34" charset="0"/>
              </a:rPr>
              <a:t>BOOL</a:t>
            </a:r>
            <a:endParaRPr lang="en-US" sz="900" dirty="0">
              <a:solidFill>
                <a:srgbClr val="7A8EA8"/>
              </a:solidFill>
              <a:latin typeface="Calibri" panose="020F0502020204030204" pitchFamily="34" charset="0"/>
            </a:endParaRPr>
          </a:p>
        </p:txBody>
      </p:sp>
      <p:sp>
        <p:nvSpPr>
          <p:cNvPr id="100" name="LineLeft"/>
          <p:cNvSpPr/>
          <p:nvPr/>
        </p:nvSpPr>
        <p:spPr>
          <a:xfrm>
            <a:off x="2971800" y="1870000"/>
            <a:ext cx="228600" cy="9144"/>
          </a:xfrm>
          <a:prstGeom prst="rect">
            <a:avLst/>
          </a:prstGeom>
          <a:solidFill>
            <a:srgbClr val="9B6DFF"/>
          </a:solidFill>
          <a:ln w="9144">
            <a:solidFill>
              <a:srgbClr val="9B6DFF"/>
            </a:solidFill>
            <a:prstDash val="dash"/>
          </a:ln>
        </p:spPr>
      </p:sp>
      <p:sp>
        <p:nvSpPr>
          <p:cNvPr id="101" name="LineRight"/>
          <p:cNvSpPr/>
          <p:nvPr/>
        </p:nvSpPr>
        <p:spPr>
          <a:xfrm>
            <a:off x="5943600" y="1495000"/>
            <a:ext cx="228600" cy="9144"/>
          </a:xfrm>
          <a:prstGeom prst="rect">
            <a:avLst/>
          </a:prstGeom>
          <a:solidFill>
            <a:srgbClr val="4A9EFF"/>
          </a:solidFill>
          <a:ln w="9144">
            <a:solidFill>
              <a:srgbClr val="4A9EFF"/>
            </a:solidFill>
            <a:prstDash val="dash"/>
          </a:ln>
        </p:spPr>
      </p:sp>
      <p:sp>
        <p:nvSpPr>
          <p:cNvPr id="102" name="LineBottomLeft"/>
          <p:cNvSpPr/>
          <p:nvPr/>
        </p:nvSpPr>
        <p:spPr>
          <a:xfrm>
            <a:off x="2971800" y="3300000"/>
            <a:ext cx="228600" cy="9144"/>
          </a:xfrm>
          <a:prstGeom prst="rect">
            <a:avLst/>
          </a:prstGeom>
          <a:solidFill>
            <a:srgbClr val="00D4AA"/>
          </a:solidFill>
          <a:ln w="9144">
            <a:solidFill>
              <a:srgbClr val="00D4AA"/>
            </a:solidFill>
            <a:prstDash val="dash"/>
          </a:ln>
        </p:spPr>
      </p:sp>
      <p:sp>
        <p:nvSpPr>
          <p:cNvPr id="103" name="LineBottomRight"/>
          <p:cNvSpPr/>
          <p:nvPr/>
        </p:nvSpPr>
        <p:spPr>
          <a:xfrm>
            <a:off x="5943600" y="2700000"/>
            <a:ext cx="228600" cy="9144"/>
          </a:xfrm>
          <a:prstGeom prst="rect">
            <a:avLst/>
          </a:prstGeom>
          <a:solidFill>
            <a:srgbClr val="E50914"/>
          </a:solidFill>
          <a:ln w="9144">
            <a:solidFill>
              <a:srgbClr val="E50914"/>
            </a:solidFill>
            <a:prstDash val="dash"/>
          </a:ln>
        </p:spPr>
      </p:sp>
      <p:sp>
        <p:nvSpPr>
          <p:cNvPr id="110" name="Footer"/>
          <p:cNvSpPr/>
          <p:nvPr/>
        </p:nvSpPr>
        <p:spPr>
          <a:xfrm>
            <a:off x="228600" y="4900000"/>
            <a:ext cx="8686800" cy="228600"/>
          </a:xfrm>
          <a:prstGeom prst="rect">
            <a:avLst/>
          </a:prstGeom>
          <a:noFill/>
        </p:spPr>
        <p:txBody>
          <a:bodyPr wrap="square" lIns="0" tIns="0" rIns="0" bIns="0" rtlCol="0" anchor="ctr"/>
          <a:lstStyle/>
          <a:p>
            <a:pPr marL="0" indent="0" algn="ctr">
              <a:buNone/>
            </a:pPr>
            <a:r>
              <a:rPr lang="en-US" sz="900" b="1" spc="200" dirty="0">
                <a:solidFill>
                  <a:srgbClr val="7A8EA8"/>
                </a:solidFill>
                <a:latin typeface="Calibri" panose="020F0502020204030204" pitchFamily="34" charset="0"/>
              </a:rPr>
              <a:t>1 Combined Fact Table  ·  4 Dimension Tables  ·  SCD Type 2: start_date / end_date / is_current on all dim tables</a:t>
            </a:r>
            <a:endParaRPr lang="en-US" sz="900" b="1" spc="200" dirty="0">
              <a:solidFill>
                <a:srgbClr val="7A8EA8"/>
              </a:solidFill>
              <a:latin typeface="Calibri" panose="020F050202020403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29B5E8"/>
          </a:solidFill>
        </p:spPr>
      </p:sp>
      <p:sp>
        <p:nvSpPr>
          <p:cNvPr id="3" name="Shape 1"/>
          <p:cNvSpPr/>
          <p:nvPr/>
        </p:nvSpPr>
        <p:spPr>
          <a:xfrm>
            <a:off x="201168" y="0"/>
            <a:ext cx="8942832" cy="777240"/>
          </a:xfrm>
          <a:prstGeom prst="rect">
            <a:avLst/>
          </a:prstGeom>
          <a:solidFill>
            <a:srgbClr val="0F2240"/>
          </a:solidFill>
        </p:spPr>
      </p:sp>
      <p:sp>
        <p:nvSpPr>
          <p:cNvPr id="4" name="Text 2"/>
          <p:cNvSpPr/>
          <p:nvPr/>
        </p:nvSpPr>
        <p:spPr>
          <a:xfrm>
            <a:off x="457200" y="0"/>
            <a:ext cx="8229600" cy="777240"/>
          </a:xfrm>
          <a:prstGeom prst="rect">
            <a:avLst/>
          </a:prstGeom>
          <a:noFill/>
        </p:spPr>
        <p:txBody>
          <a:bodyPr wrap="square" lIns="0" tIns="0" rIns="0" bIns="0" rtlCol="0" anchor="ctr"/>
          <a:lstStyle/>
          <a:p>
            <a:pPr marL="0" indent="0">
              <a:buNone/>
            </a:pPr>
            <a:r>
              <a:rPr lang="en-US" sz="2400" b="1" dirty="0">
                <a:solidFill>
                  <a:srgbClr val="FFFFFF"/>
                </a:solidFill>
                <a:latin typeface="Calibri" panose="020F0502020204030204" pitchFamily="34" charset="0"/>
                <a:ea typeface="Calibri" panose="020F0502020204030204" pitchFamily="34" charset="-122"/>
                <a:cs typeface="Calibri" panose="020F0502020204030204" pitchFamily="34" charset="-120"/>
              </a:rPr>
              <a:t>SNOWFLAKE DATA LOAD</a:t>
            </a:r>
            <a:endParaRPr lang="en-US" sz="2400" dirty="0"/>
          </a:p>
        </p:txBody>
      </p:sp>
      <p:sp>
        <p:nvSpPr>
          <p:cNvPr id="5" name="Shape 3"/>
          <p:cNvSpPr/>
          <p:nvPr/>
        </p:nvSpPr>
        <p:spPr>
          <a:xfrm>
            <a:off x="274320" y="960120"/>
            <a:ext cx="3200400" cy="2788920"/>
          </a:xfrm>
          <a:prstGeom prst="rect">
            <a:avLst/>
          </a:prstGeom>
          <a:solidFill>
            <a:srgbClr val="0F2240"/>
          </a:solidFill>
          <a:effectLst>
            <a:outerShdw blurRad="127000" dist="38100" dir="8100000" algn="bl" rotWithShape="0">
              <a:srgbClr val="000000">
                <a:alpha val="20000"/>
              </a:srgbClr>
            </a:outerShdw>
          </a:effectLst>
        </p:spPr>
      </p:sp>
      <p:sp>
        <p:nvSpPr>
          <p:cNvPr id="6" name="Shape 4"/>
          <p:cNvSpPr/>
          <p:nvPr/>
        </p:nvSpPr>
        <p:spPr>
          <a:xfrm>
            <a:off x="274320" y="960120"/>
            <a:ext cx="3200400" cy="438912"/>
          </a:xfrm>
          <a:prstGeom prst="rect">
            <a:avLst/>
          </a:prstGeom>
          <a:solidFill>
            <a:srgbClr val="29B5E8"/>
          </a:solidFill>
        </p:spPr>
      </p:sp>
      <p:pic>
        <p:nvPicPr>
          <p:cNvPr id="7" name="Image 0" descr="preencoded.png"/>
          <p:cNvPicPr>
            <a:picLocks noChangeAspect="1"/>
          </p:cNvPicPr>
          <p:nvPr/>
        </p:nvPicPr>
        <p:blipFill>
          <a:blip r:embed="rId1"/>
          <a:stretch>
            <a:fillRect/>
          </a:stretch>
        </p:blipFill>
        <p:spPr>
          <a:xfrm>
            <a:off x="347472" y="996696"/>
            <a:ext cx="329184" cy="329184"/>
          </a:xfrm>
          <a:prstGeom prst="rect">
            <a:avLst/>
          </a:prstGeom>
        </p:spPr>
      </p:pic>
      <p:sp>
        <p:nvSpPr>
          <p:cNvPr id="8" name="Text 5"/>
          <p:cNvSpPr/>
          <p:nvPr/>
        </p:nvSpPr>
        <p:spPr>
          <a:xfrm>
            <a:off x="749808" y="1005840"/>
            <a:ext cx="2560320" cy="347472"/>
          </a:xfrm>
          <a:prstGeom prst="rect">
            <a:avLst/>
          </a:prstGeom>
          <a:noFill/>
        </p:spPr>
        <p:txBody>
          <a:bodyPr wrap="square" lIns="0" tIns="0" rIns="0" bIns="0" rtlCol="0" anchor="ctr"/>
          <a:lstStyle/>
          <a:p>
            <a:pPr marL="0" indent="0">
              <a:buNone/>
            </a:pPr>
            <a:r>
              <a:rPr lang="en-US" sz="1000" b="1" kern="0" spc="100" dirty="0">
                <a:solidFill>
                  <a:srgbClr val="FFFFFF"/>
                </a:solidFill>
                <a:latin typeface="Calibri" panose="020F0502020204030204" pitchFamily="34" charset="0"/>
                <a:ea typeface="Calibri" panose="020F0502020204030204" pitchFamily="34" charset="-122"/>
                <a:cs typeface="Calibri" panose="020F0502020204030204" pitchFamily="34" charset="-120"/>
              </a:rPr>
              <a:t>CONNECTION CONFIG</a:t>
            </a:r>
            <a:endParaRPr lang="en-US" sz="1000" dirty="0"/>
          </a:p>
        </p:txBody>
      </p:sp>
      <p:sp>
        <p:nvSpPr>
          <p:cNvPr id="9" name="Shape 6"/>
          <p:cNvSpPr/>
          <p:nvPr/>
        </p:nvSpPr>
        <p:spPr>
          <a:xfrm>
            <a:off x="274320" y="1481328"/>
            <a:ext cx="3200400" cy="438912"/>
          </a:xfrm>
          <a:prstGeom prst="rect">
            <a:avLst/>
          </a:prstGeom>
          <a:solidFill>
            <a:srgbClr val="132A4E"/>
          </a:solidFill>
        </p:spPr>
      </p:sp>
      <p:sp>
        <p:nvSpPr>
          <p:cNvPr id="10" name="Text 7"/>
          <p:cNvSpPr/>
          <p:nvPr/>
        </p:nvSpPr>
        <p:spPr>
          <a:xfrm>
            <a:off x="411480" y="1572768"/>
            <a:ext cx="1280160" cy="256032"/>
          </a:xfrm>
          <a:prstGeom prst="rect">
            <a:avLst/>
          </a:prstGeom>
          <a:noFill/>
        </p:spPr>
        <p:txBody>
          <a:bodyPr wrap="square" lIns="0" tIns="0" rIns="0" bIns="0" rtlCol="0" anchor="ctr"/>
          <a:lstStyle/>
          <a:p>
            <a:pPr marL="0" indent="0">
              <a:buNone/>
            </a:pPr>
            <a:r>
              <a:rPr lang="en-US" sz="950" dirty="0">
                <a:solidFill>
                  <a:srgbClr val="7A8EA8"/>
                </a:solidFill>
                <a:latin typeface="Calibri" panose="020F0502020204030204" pitchFamily="34" charset="0"/>
                <a:ea typeface="Calibri" panose="020F0502020204030204" pitchFamily="34" charset="-122"/>
                <a:cs typeface="Calibri" panose="020F0502020204030204" pitchFamily="34" charset="-120"/>
              </a:rPr>
              <a:t>Database</a:t>
            </a:r>
            <a:endParaRPr lang="en-US" sz="950" dirty="0"/>
          </a:p>
        </p:txBody>
      </p:sp>
      <p:sp>
        <p:nvSpPr>
          <p:cNvPr id="11" name="Text 8"/>
          <p:cNvSpPr/>
          <p:nvPr/>
        </p:nvSpPr>
        <p:spPr>
          <a:xfrm>
            <a:off x="1737360" y="1572768"/>
            <a:ext cx="1645920" cy="256032"/>
          </a:xfrm>
          <a:prstGeom prst="rect">
            <a:avLst/>
          </a:prstGeom>
          <a:noFill/>
        </p:spPr>
        <p:txBody>
          <a:bodyPr wrap="square" lIns="0" tIns="0" rIns="0" bIns="0" rtlCol="0" anchor="ctr"/>
          <a:lstStyle/>
          <a:p>
            <a:pPr marL="0" indent="0">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MOVIE_DB</a:t>
            </a:r>
            <a:endParaRPr lang="en-US" sz="1000" dirty="0"/>
          </a:p>
        </p:txBody>
      </p:sp>
      <p:sp>
        <p:nvSpPr>
          <p:cNvPr id="12" name="Text 9"/>
          <p:cNvSpPr/>
          <p:nvPr/>
        </p:nvSpPr>
        <p:spPr>
          <a:xfrm>
            <a:off x="411480" y="2011680"/>
            <a:ext cx="1280160" cy="256032"/>
          </a:xfrm>
          <a:prstGeom prst="rect">
            <a:avLst/>
          </a:prstGeom>
          <a:noFill/>
        </p:spPr>
        <p:txBody>
          <a:bodyPr wrap="square" lIns="0" tIns="0" rIns="0" bIns="0" rtlCol="0" anchor="ctr"/>
          <a:lstStyle/>
          <a:p>
            <a:pPr marL="0" indent="0">
              <a:buNone/>
            </a:pPr>
            <a:r>
              <a:rPr lang="en-US" sz="950" dirty="0">
                <a:solidFill>
                  <a:srgbClr val="7A8EA8"/>
                </a:solidFill>
                <a:latin typeface="Calibri" panose="020F0502020204030204" pitchFamily="34" charset="0"/>
                <a:ea typeface="Calibri" panose="020F0502020204030204" pitchFamily="34" charset="-122"/>
                <a:cs typeface="Calibri" panose="020F0502020204030204" pitchFamily="34" charset="-120"/>
              </a:rPr>
              <a:t>Schema</a:t>
            </a:r>
            <a:endParaRPr lang="en-US" sz="950" dirty="0"/>
          </a:p>
        </p:txBody>
      </p:sp>
      <p:sp>
        <p:nvSpPr>
          <p:cNvPr id="13" name="Text 10"/>
          <p:cNvSpPr/>
          <p:nvPr/>
        </p:nvSpPr>
        <p:spPr>
          <a:xfrm>
            <a:off x="1737360" y="2011680"/>
            <a:ext cx="1645920" cy="256032"/>
          </a:xfrm>
          <a:prstGeom prst="rect">
            <a:avLst/>
          </a:prstGeom>
          <a:noFill/>
        </p:spPr>
        <p:txBody>
          <a:bodyPr wrap="square" lIns="0" tIns="0" rIns="0" bIns="0" rtlCol="0" anchor="ctr"/>
          <a:lstStyle/>
          <a:p>
            <a:pPr marL="0" indent="0">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MOVIE_SCHEMA</a:t>
            </a:r>
            <a:endParaRPr lang="en-US" sz="1000" dirty="0"/>
          </a:p>
        </p:txBody>
      </p:sp>
      <p:sp>
        <p:nvSpPr>
          <p:cNvPr id="14" name="Shape 11"/>
          <p:cNvSpPr/>
          <p:nvPr/>
        </p:nvSpPr>
        <p:spPr>
          <a:xfrm>
            <a:off x="274320" y="2359152"/>
            <a:ext cx="3200400" cy="438912"/>
          </a:xfrm>
          <a:prstGeom prst="rect">
            <a:avLst/>
          </a:prstGeom>
          <a:solidFill>
            <a:srgbClr val="132A4E"/>
          </a:solidFill>
        </p:spPr>
      </p:sp>
      <p:sp>
        <p:nvSpPr>
          <p:cNvPr id="15" name="Text 12"/>
          <p:cNvSpPr/>
          <p:nvPr/>
        </p:nvSpPr>
        <p:spPr>
          <a:xfrm>
            <a:off x="411480" y="2450592"/>
            <a:ext cx="1280160" cy="256032"/>
          </a:xfrm>
          <a:prstGeom prst="rect">
            <a:avLst/>
          </a:prstGeom>
          <a:noFill/>
        </p:spPr>
        <p:txBody>
          <a:bodyPr wrap="square" lIns="0" tIns="0" rIns="0" bIns="0" rtlCol="0" anchor="ctr"/>
          <a:lstStyle/>
          <a:p>
            <a:pPr marL="0" indent="0">
              <a:buNone/>
            </a:pPr>
            <a:r>
              <a:rPr lang="en-US" sz="950" dirty="0">
                <a:solidFill>
                  <a:srgbClr val="7A8EA8"/>
                </a:solidFill>
                <a:latin typeface="Calibri" panose="020F0502020204030204" pitchFamily="34" charset="0"/>
                <a:ea typeface="Calibri" panose="020F0502020204030204" pitchFamily="34" charset="-122"/>
                <a:cs typeface="Calibri" panose="020F0502020204030204" pitchFamily="34" charset="-120"/>
              </a:rPr>
              <a:t>Warehouse</a:t>
            </a:r>
            <a:endParaRPr lang="en-US" sz="950" dirty="0"/>
          </a:p>
        </p:txBody>
      </p:sp>
      <p:sp>
        <p:nvSpPr>
          <p:cNvPr id="16" name="Text 13"/>
          <p:cNvSpPr/>
          <p:nvPr/>
        </p:nvSpPr>
        <p:spPr>
          <a:xfrm>
            <a:off x="1737360" y="2450592"/>
            <a:ext cx="1645920" cy="256032"/>
          </a:xfrm>
          <a:prstGeom prst="rect">
            <a:avLst/>
          </a:prstGeom>
          <a:noFill/>
        </p:spPr>
        <p:txBody>
          <a:bodyPr wrap="square" lIns="0" tIns="0" rIns="0" bIns="0" rtlCol="0" anchor="ctr"/>
          <a:lstStyle/>
          <a:p>
            <a:pPr marL="0" indent="0">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COMPUTE_WH</a:t>
            </a:r>
            <a:endParaRPr lang="en-US" sz="1000" dirty="0"/>
          </a:p>
        </p:txBody>
      </p:sp>
      <p:sp>
        <p:nvSpPr>
          <p:cNvPr id="17" name="Text 14"/>
          <p:cNvSpPr/>
          <p:nvPr/>
        </p:nvSpPr>
        <p:spPr>
          <a:xfrm>
            <a:off x="411480" y="2889504"/>
            <a:ext cx="1280160" cy="256032"/>
          </a:xfrm>
          <a:prstGeom prst="rect">
            <a:avLst/>
          </a:prstGeom>
          <a:noFill/>
        </p:spPr>
        <p:txBody>
          <a:bodyPr wrap="square" lIns="0" tIns="0" rIns="0" bIns="0" rtlCol="0" anchor="ctr"/>
          <a:lstStyle/>
          <a:p>
            <a:pPr marL="0" indent="0">
              <a:buNone/>
            </a:pPr>
            <a:r>
              <a:rPr lang="en-US" sz="950" dirty="0">
                <a:solidFill>
                  <a:srgbClr val="7A8EA8"/>
                </a:solidFill>
                <a:latin typeface="Calibri" panose="020F0502020204030204" pitchFamily="34" charset="0"/>
                <a:ea typeface="Calibri" panose="020F0502020204030204" pitchFamily="34" charset="-122"/>
                <a:cs typeface="Calibri" panose="020F0502020204030204" pitchFamily="34" charset="-120"/>
              </a:rPr>
              <a:t>File Format</a:t>
            </a:r>
            <a:endParaRPr lang="en-US" sz="950" dirty="0"/>
          </a:p>
        </p:txBody>
      </p:sp>
      <p:sp>
        <p:nvSpPr>
          <p:cNvPr id="18" name="Text 15"/>
          <p:cNvSpPr/>
          <p:nvPr/>
        </p:nvSpPr>
        <p:spPr>
          <a:xfrm>
            <a:off x="1737360" y="2889504"/>
            <a:ext cx="1645920" cy="256032"/>
          </a:xfrm>
          <a:prstGeom prst="rect">
            <a:avLst/>
          </a:prstGeom>
          <a:noFill/>
        </p:spPr>
        <p:txBody>
          <a:bodyPr wrap="square" lIns="0" tIns="0" rIns="0" bIns="0" rtlCol="0" anchor="ctr"/>
          <a:lstStyle/>
          <a:p>
            <a:pPr marL="0" indent="0">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PARQUET</a:t>
            </a:r>
            <a:endParaRPr lang="en-US" sz="1000" dirty="0"/>
          </a:p>
        </p:txBody>
      </p:sp>
      <p:sp>
        <p:nvSpPr>
          <p:cNvPr id="19" name="Shape 16"/>
          <p:cNvSpPr/>
          <p:nvPr/>
        </p:nvSpPr>
        <p:spPr>
          <a:xfrm>
            <a:off x="274320" y="3236976"/>
            <a:ext cx="3200400" cy="438912"/>
          </a:xfrm>
          <a:prstGeom prst="rect">
            <a:avLst/>
          </a:prstGeom>
          <a:solidFill>
            <a:srgbClr val="132A4E"/>
          </a:solidFill>
        </p:spPr>
      </p:sp>
      <p:sp>
        <p:nvSpPr>
          <p:cNvPr id="20" name="Text 17"/>
          <p:cNvSpPr/>
          <p:nvPr/>
        </p:nvSpPr>
        <p:spPr>
          <a:xfrm>
            <a:off x="411480" y="3328416"/>
            <a:ext cx="1280160" cy="256032"/>
          </a:xfrm>
          <a:prstGeom prst="rect">
            <a:avLst/>
          </a:prstGeom>
          <a:noFill/>
        </p:spPr>
        <p:txBody>
          <a:bodyPr wrap="square" lIns="0" tIns="0" rIns="0" bIns="0" rtlCol="0" anchor="ctr"/>
          <a:lstStyle/>
          <a:p>
            <a:pPr marL="0" indent="0">
              <a:buNone/>
            </a:pPr>
            <a:r>
              <a:rPr lang="en-US" sz="950" dirty="0">
                <a:solidFill>
                  <a:srgbClr val="7A8EA8"/>
                </a:solidFill>
                <a:latin typeface="Calibri" panose="020F0502020204030204" pitchFamily="34" charset="0"/>
                <a:ea typeface="Calibri" panose="020F0502020204030204" pitchFamily="34" charset="-122"/>
                <a:cs typeface="Calibri" panose="020F0502020204030204" pitchFamily="34" charset="-120"/>
              </a:rPr>
              <a:t>Method</a:t>
            </a:r>
            <a:endParaRPr lang="en-US" sz="950" dirty="0"/>
          </a:p>
        </p:txBody>
      </p:sp>
      <p:sp>
        <p:nvSpPr>
          <p:cNvPr id="21" name="Text 18"/>
          <p:cNvSpPr/>
          <p:nvPr/>
        </p:nvSpPr>
        <p:spPr>
          <a:xfrm>
            <a:off x="1737360" y="3328416"/>
            <a:ext cx="1645920" cy="256032"/>
          </a:xfrm>
          <a:prstGeom prst="rect">
            <a:avLst/>
          </a:prstGeom>
          <a:noFill/>
        </p:spPr>
        <p:txBody>
          <a:bodyPr wrap="square" lIns="0" tIns="0" rIns="0" bIns="0" rtlCol="0" anchor="ctr"/>
          <a:lstStyle/>
          <a:p>
            <a:pPr marL="0" indent="0">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COPY INTO</a:t>
            </a:r>
            <a:endParaRPr lang="en-US" sz="1000" dirty="0"/>
          </a:p>
        </p:txBody>
      </p:sp>
      <p:sp>
        <p:nvSpPr>
          <p:cNvPr id="22" name="Shape 19"/>
          <p:cNvSpPr/>
          <p:nvPr/>
        </p:nvSpPr>
        <p:spPr>
          <a:xfrm>
            <a:off x="3703320" y="960120"/>
            <a:ext cx="5120640" cy="2788920"/>
          </a:xfrm>
          <a:prstGeom prst="rect">
            <a:avLst/>
          </a:prstGeom>
          <a:solidFill>
            <a:srgbClr val="0F2240"/>
          </a:solidFill>
          <a:effectLst>
            <a:outerShdw blurRad="127000" dist="38100" dir="8100000" algn="bl" rotWithShape="0">
              <a:srgbClr val="000000">
                <a:alpha val="20000"/>
              </a:srgbClr>
            </a:outerShdw>
          </a:effectLst>
        </p:spPr>
      </p:sp>
      <p:sp>
        <p:nvSpPr>
          <p:cNvPr id="23" name="Shape 20"/>
          <p:cNvSpPr/>
          <p:nvPr/>
        </p:nvSpPr>
        <p:spPr>
          <a:xfrm>
            <a:off x="3703320" y="960120"/>
            <a:ext cx="5120640" cy="438912"/>
          </a:xfrm>
          <a:prstGeom prst="rect">
            <a:avLst/>
          </a:prstGeom>
          <a:solidFill>
            <a:srgbClr val="0B2D5E"/>
          </a:solidFill>
        </p:spPr>
      </p:sp>
      <p:sp>
        <p:nvSpPr>
          <p:cNvPr id="24" name="Text 21"/>
          <p:cNvSpPr/>
          <p:nvPr/>
        </p:nvSpPr>
        <p:spPr>
          <a:xfrm>
            <a:off x="3794760" y="987552"/>
            <a:ext cx="4937760" cy="347472"/>
          </a:xfrm>
          <a:prstGeom prst="rect">
            <a:avLst/>
          </a:prstGeom>
          <a:noFill/>
        </p:spPr>
        <p:txBody>
          <a:bodyPr wrap="square" lIns="0" tIns="0" rIns="0" bIns="0" rtlCol="0" anchor="ctr"/>
          <a:lstStyle/>
          <a:p>
            <a:pPr marL="0" indent="0">
              <a:buNone/>
            </a:pPr>
            <a:r>
              <a:rPr lang="en-US" sz="1000" b="1" kern="0" spc="100" dirty="0">
                <a:solidFill>
                  <a:srgbClr val="FFFFFF"/>
                </a:solidFill>
                <a:latin typeface="Calibri" panose="020F0502020204030204" pitchFamily="34" charset="0"/>
                <a:ea typeface="Calibri" panose="020F0502020204030204" pitchFamily="34" charset="-122"/>
                <a:cs typeface="Calibri" panose="020F0502020204030204" pitchFamily="34" charset="-120"/>
              </a:rPr>
              <a:t>TABLES LOADED VIA COPY INTO</a:t>
            </a:r>
            <a:endParaRPr lang="en-US" sz="1000" dirty="0"/>
          </a:p>
        </p:txBody>
      </p:sp>
      <p:sp>
        <p:nvSpPr>
          <p:cNvPr id="25" name="Shape 22"/>
          <p:cNvSpPr/>
          <p:nvPr/>
        </p:nvSpPr>
        <p:spPr>
          <a:xfrm>
            <a:off x="3794760" y="1481328"/>
            <a:ext cx="2395728" cy="594360"/>
          </a:xfrm>
          <a:prstGeom prst="rect">
            <a:avLst/>
          </a:prstGeom>
          <a:solidFill>
            <a:srgbClr val="9B6DFF">
              <a:alpha val="10000"/>
            </a:srgbClr>
          </a:solidFill>
          <a:ln w="12700">
            <a:solidFill>
              <a:srgbClr val="9B6DFF"/>
            </a:solidFill>
            <a:prstDash val="solid"/>
          </a:ln>
        </p:spPr>
      </p:sp>
      <p:sp>
        <p:nvSpPr>
          <p:cNvPr id="26" name="Shape 23"/>
          <p:cNvSpPr/>
          <p:nvPr/>
        </p:nvSpPr>
        <p:spPr>
          <a:xfrm>
            <a:off x="3794760" y="1481328"/>
            <a:ext cx="475488" cy="594360"/>
          </a:xfrm>
          <a:prstGeom prst="rect">
            <a:avLst/>
          </a:prstGeom>
          <a:solidFill>
            <a:srgbClr val="9B6DFF"/>
          </a:solidFill>
        </p:spPr>
      </p:sp>
      <p:sp>
        <p:nvSpPr>
          <p:cNvPr id="27" name="Text 24"/>
          <p:cNvSpPr/>
          <p:nvPr/>
        </p:nvSpPr>
        <p:spPr>
          <a:xfrm>
            <a:off x="3794760" y="1481328"/>
            <a:ext cx="475488" cy="594360"/>
          </a:xfrm>
          <a:prstGeom prst="rect">
            <a:avLst/>
          </a:prstGeom>
          <a:noFill/>
        </p:spPr>
        <p:txBody>
          <a:bodyPr wrap="square" rtlCol="0" anchor="ctr"/>
          <a:lstStyle/>
          <a:p>
            <a:pPr marL="0" indent="0" algn="ctr">
              <a:buNone/>
            </a:pPr>
            <a:r>
              <a:rPr lang="en-US" sz="750" b="1" dirty="0">
                <a:solidFill>
                  <a:srgbClr val="FFFFFF"/>
                </a:solidFill>
                <a:latin typeface="Calibri" panose="020F0502020204030204" pitchFamily="34" charset="0"/>
                <a:ea typeface="Calibri" panose="020F0502020204030204" pitchFamily="34" charset="-122"/>
                <a:cs typeface="Calibri" panose="020F0502020204030204" pitchFamily="34" charset="-120"/>
              </a:rPr>
              <a:t>DIM</a:t>
            </a:r>
            <a:endParaRPr lang="en-US" sz="750" dirty="0"/>
          </a:p>
        </p:txBody>
      </p:sp>
      <p:sp>
        <p:nvSpPr>
          <p:cNvPr id="28" name="Text 25"/>
          <p:cNvSpPr/>
          <p:nvPr/>
        </p:nvSpPr>
        <p:spPr>
          <a:xfrm>
            <a:off x="4325112" y="1536192"/>
            <a:ext cx="1828800" cy="219456"/>
          </a:xfrm>
          <a:prstGeom prst="rect">
            <a:avLst/>
          </a:prstGeom>
          <a:noFill/>
        </p:spPr>
        <p:txBody>
          <a:bodyPr wrap="square" lIns="0" tIns="0" rIns="0" bIns="0" rtlCol="0" anchor="ctr"/>
          <a:lstStyle/>
          <a:p>
            <a:pPr marL="0" indent="0">
              <a:buNone/>
            </a:pPr>
            <a:r>
              <a:rPr lang="en-US" sz="950" b="1" dirty="0">
                <a:solidFill>
                  <a:srgbClr val="0B2D5E"/>
                </a:solidFill>
                <a:latin typeface="Calibri" panose="020F0502020204030204" pitchFamily="34" charset="0"/>
                <a:ea typeface="Calibri" panose="020F0502020204030204" pitchFamily="34" charset="-122"/>
                <a:cs typeface="Calibri" panose="020F0502020204030204" pitchFamily="34" charset="-120"/>
              </a:rPr>
              <a:t>dim_movies</a:t>
            </a:r>
            <a:endParaRPr lang="en-US" sz="950" dirty="0"/>
          </a:p>
        </p:txBody>
      </p:sp>
      <p:sp>
        <p:nvSpPr>
          <p:cNvPr id="29" name="Text 26"/>
          <p:cNvSpPr/>
          <p:nvPr/>
        </p:nvSpPr>
        <p:spPr>
          <a:xfrm>
            <a:off x="4325112" y="1801368"/>
            <a:ext cx="1828800" cy="201168"/>
          </a:xfrm>
          <a:prstGeom prst="rect">
            <a:avLst/>
          </a:prstGeom>
          <a:noFill/>
        </p:spPr>
        <p:txBody>
          <a:bodyPr wrap="square" lIns="0" tIns="0" rIns="0" bIns="0" rtlCol="0" anchor="ctr"/>
          <a:lstStyle/>
          <a:p>
            <a:pPr marL="0" indent="0">
              <a:buNone/>
            </a:pPr>
            <a:r>
              <a:rPr lang="en-US" sz="750" dirty="0">
                <a:solidFill>
                  <a:srgbClr val="7A8EA8"/>
                </a:solidFill>
                <a:latin typeface="Consolas" panose="020B0609020204030204" pitchFamily="34" charset="0"/>
                <a:ea typeface="Consolas" panose="020B0609020204030204" pitchFamily="34" charset="-122"/>
                <a:cs typeface="Consolas" panose="020B0609020204030204" pitchFamily="34" charset="-120"/>
              </a:rPr>
              <a:t>@movie_stage/dim_movies/</a:t>
            </a:r>
            <a:endParaRPr lang="en-US" sz="750" dirty="0"/>
          </a:p>
        </p:txBody>
      </p:sp>
      <p:sp>
        <p:nvSpPr>
          <p:cNvPr id="30" name="Shape 27"/>
          <p:cNvSpPr/>
          <p:nvPr/>
        </p:nvSpPr>
        <p:spPr>
          <a:xfrm>
            <a:off x="6309360" y="1481328"/>
            <a:ext cx="2395728" cy="594360"/>
          </a:xfrm>
          <a:prstGeom prst="rect">
            <a:avLst/>
          </a:prstGeom>
          <a:solidFill>
            <a:srgbClr val="4A9EFF">
              <a:alpha val="10000"/>
            </a:srgbClr>
          </a:solidFill>
          <a:ln w="12700">
            <a:solidFill>
              <a:srgbClr val="4A9EFF"/>
            </a:solidFill>
            <a:prstDash val="solid"/>
          </a:ln>
        </p:spPr>
      </p:sp>
      <p:sp>
        <p:nvSpPr>
          <p:cNvPr id="31" name="Shape 28"/>
          <p:cNvSpPr/>
          <p:nvPr/>
        </p:nvSpPr>
        <p:spPr>
          <a:xfrm>
            <a:off x="6309360" y="1481328"/>
            <a:ext cx="475488" cy="594360"/>
          </a:xfrm>
          <a:prstGeom prst="rect">
            <a:avLst/>
          </a:prstGeom>
          <a:solidFill>
            <a:srgbClr val="4A9EFF"/>
          </a:solidFill>
        </p:spPr>
      </p:sp>
      <p:sp>
        <p:nvSpPr>
          <p:cNvPr id="32" name="Text 29"/>
          <p:cNvSpPr/>
          <p:nvPr/>
        </p:nvSpPr>
        <p:spPr>
          <a:xfrm>
            <a:off x="6309360" y="1481328"/>
            <a:ext cx="475488" cy="594360"/>
          </a:xfrm>
          <a:prstGeom prst="rect">
            <a:avLst/>
          </a:prstGeom>
          <a:noFill/>
        </p:spPr>
        <p:txBody>
          <a:bodyPr wrap="square" rtlCol="0" anchor="ctr"/>
          <a:lstStyle/>
          <a:p>
            <a:pPr marL="0" indent="0" algn="ctr">
              <a:buNone/>
            </a:pPr>
            <a:r>
              <a:rPr lang="en-US" sz="750" b="1" dirty="0">
                <a:solidFill>
                  <a:srgbClr val="FFFFFF"/>
                </a:solidFill>
                <a:latin typeface="Calibri" panose="020F0502020204030204" pitchFamily="34" charset="0"/>
                <a:ea typeface="Calibri" panose="020F0502020204030204" pitchFamily="34" charset="-122"/>
                <a:cs typeface="Calibri" panose="020F0502020204030204" pitchFamily="34" charset="-120"/>
              </a:rPr>
              <a:t>DIM</a:t>
            </a:r>
            <a:endParaRPr lang="en-US" sz="750" dirty="0"/>
          </a:p>
        </p:txBody>
      </p:sp>
      <p:sp>
        <p:nvSpPr>
          <p:cNvPr id="33" name="Text 30"/>
          <p:cNvSpPr/>
          <p:nvPr/>
        </p:nvSpPr>
        <p:spPr>
          <a:xfrm>
            <a:off x="6839712" y="1536192"/>
            <a:ext cx="1828800" cy="219456"/>
          </a:xfrm>
          <a:prstGeom prst="rect">
            <a:avLst/>
          </a:prstGeom>
          <a:noFill/>
        </p:spPr>
        <p:txBody>
          <a:bodyPr wrap="square" lIns="0" tIns="0" rIns="0" bIns="0" rtlCol="0" anchor="ctr"/>
          <a:lstStyle/>
          <a:p>
            <a:pPr marL="0" indent="0">
              <a:buNone/>
            </a:pPr>
            <a:r>
              <a:rPr lang="en-US" sz="950" b="1" dirty="0">
                <a:solidFill>
                  <a:srgbClr val="0B2D5E"/>
                </a:solidFill>
                <a:latin typeface="Calibri" panose="020F0502020204030204" pitchFamily="34" charset="0"/>
                <a:ea typeface="Calibri" panose="020F0502020204030204" pitchFamily="34" charset="-122"/>
                <a:cs typeface="Calibri" panose="020F0502020204030204" pitchFamily="34" charset="-120"/>
              </a:rPr>
              <a:t>dim_platform</a:t>
            </a:r>
            <a:endParaRPr lang="en-US" sz="950" dirty="0"/>
          </a:p>
        </p:txBody>
      </p:sp>
      <p:sp>
        <p:nvSpPr>
          <p:cNvPr id="34" name="Text 31"/>
          <p:cNvSpPr/>
          <p:nvPr/>
        </p:nvSpPr>
        <p:spPr>
          <a:xfrm>
            <a:off x="6839712" y="1801368"/>
            <a:ext cx="1828800" cy="201168"/>
          </a:xfrm>
          <a:prstGeom prst="rect">
            <a:avLst/>
          </a:prstGeom>
          <a:noFill/>
        </p:spPr>
        <p:txBody>
          <a:bodyPr wrap="square" lIns="0" tIns="0" rIns="0" bIns="0" rtlCol="0" anchor="ctr"/>
          <a:lstStyle/>
          <a:p>
            <a:pPr marL="0" indent="0">
              <a:buNone/>
            </a:pPr>
            <a:r>
              <a:rPr lang="en-US" sz="750" dirty="0">
                <a:solidFill>
                  <a:srgbClr val="7A8EA8"/>
                </a:solidFill>
                <a:latin typeface="Consolas" panose="020B0609020204030204" pitchFamily="34" charset="0"/>
                <a:ea typeface="Consolas" panose="020B0609020204030204" pitchFamily="34" charset="-122"/>
                <a:cs typeface="Consolas" panose="020B0609020204030204" pitchFamily="34" charset="-120"/>
              </a:rPr>
              <a:t>@movie_stage/dim_platform/</a:t>
            </a:r>
            <a:endParaRPr lang="en-US" sz="750" dirty="0"/>
          </a:p>
        </p:txBody>
      </p:sp>
      <p:sp>
        <p:nvSpPr>
          <p:cNvPr id="35" name="Shape 32"/>
          <p:cNvSpPr/>
          <p:nvPr/>
        </p:nvSpPr>
        <p:spPr>
          <a:xfrm>
            <a:off x="3794760" y="2176272"/>
            <a:ext cx="2395728" cy="594360"/>
          </a:xfrm>
          <a:prstGeom prst="rect">
            <a:avLst/>
          </a:prstGeom>
          <a:solidFill>
            <a:srgbClr val="00D4AA">
              <a:alpha val="10000"/>
            </a:srgbClr>
          </a:solidFill>
          <a:ln w="12700">
            <a:solidFill>
              <a:srgbClr val="00D4AA"/>
            </a:solidFill>
            <a:prstDash val="solid"/>
          </a:ln>
        </p:spPr>
      </p:sp>
      <p:sp>
        <p:nvSpPr>
          <p:cNvPr id="36" name="Shape 33"/>
          <p:cNvSpPr/>
          <p:nvPr/>
        </p:nvSpPr>
        <p:spPr>
          <a:xfrm>
            <a:off x="3794760" y="2176272"/>
            <a:ext cx="475488" cy="594360"/>
          </a:xfrm>
          <a:prstGeom prst="rect">
            <a:avLst/>
          </a:prstGeom>
          <a:solidFill>
            <a:srgbClr val="00D4AA"/>
          </a:solidFill>
        </p:spPr>
      </p:sp>
      <p:sp>
        <p:nvSpPr>
          <p:cNvPr id="37" name="Text 34"/>
          <p:cNvSpPr/>
          <p:nvPr/>
        </p:nvSpPr>
        <p:spPr>
          <a:xfrm>
            <a:off x="3794760" y="2176272"/>
            <a:ext cx="475488" cy="594360"/>
          </a:xfrm>
          <a:prstGeom prst="rect">
            <a:avLst/>
          </a:prstGeom>
          <a:noFill/>
        </p:spPr>
        <p:txBody>
          <a:bodyPr wrap="square" rtlCol="0" anchor="ctr"/>
          <a:lstStyle/>
          <a:p>
            <a:pPr marL="0" indent="0" algn="ctr">
              <a:buNone/>
            </a:pPr>
            <a:r>
              <a:rPr lang="en-US" sz="750" b="1" dirty="0">
                <a:solidFill>
                  <a:srgbClr val="FFFFFF"/>
                </a:solidFill>
                <a:latin typeface="Calibri" panose="020F0502020204030204" pitchFamily="34" charset="0"/>
                <a:ea typeface="Calibri" panose="020F0502020204030204" pitchFamily="34" charset="-122"/>
                <a:cs typeface="Calibri" panose="020F0502020204030204" pitchFamily="34" charset="-120"/>
              </a:rPr>
              <a:t>DIM</a:t>
            </a:r>
            <a:endParaRPr lang="en-US" sz="750" dirty="0"/>
          </a:p>
        </p:txBody>
      </p:sp>
      <p:sp>
        <p:nvSpPr>
          <p:cNvPr id="38" name="Text 35"/>
          <p:cNvSpPr/>
          <p:nvPr/>
        </p:nvSpPr>
        <p:spPr>
          <a:xfrm>
            <a:off x="4325112" y="2231136"/>
            <a:ext cx="1828800" cy="219456"/>
          </a:xfrm>
          <a:prstGeom prst="rect">
            <a:avLst/>
          </a:prstGeom>
          <a:noFill/>
        </p:spPr>
        <p:txBody>
          <a:bodyPr wrap="square" lIns="0" tIns="0" rIns="0" bIns="0" rtlCol="0" anchor="ctr"/>
          <a:lstStyle/>
          <a:p>
            <a:pPr marL="0" indent="0">
              <a:buNone/>
            </a:pPr>
            <a:r>
              <a:rPr lang="en-US" sz="950" b="1" dirty="0">
                <a:solidFill>
                  <a:srgbClr val="0B2D5E"/>
                </a:solidFill>
                <a:latin typeface="Calibri" panose="020F0502020204030204" pitchFamily="34" charset="0"/>
                <a:ea typeface="Calibri" panose="020F0502020204030204" pitchFamily="34" charset="-122"/>
                <a:cs typeface="Calibri" panose="020F0502020204030204" pitchFamily="34" charset="-120"/>
              </a:rPr>
              <a:t>dim_location</a:t>
            </a:r>
            <a:endParaRPr lang="en-US" sz="950" dirty="0"/>
          </a:p>
        </p:txBody>
      </p:sp>
      <p:sp>
        <p:nvSpPr>
          <p:cNvPr id="39" name="Text 36"/>
          <p:cNvSpPr/>
          <p:nvPr/>
        </p:nvSpPr>
        <p:spPr>
          <a:xfrm>
            <a:off x="4325112" y="2496312"/>
            <a:ext cx="1828800" cy="201168"/>
          </a:xfrm>
          <a:prstGeom prst="rect">
            <a:avLst/>
          </a:prstGeom>
          <a:noFill/>
        </p:spPr>
        <p:txBody>
          <a:bodyPr wrap="square" lIns="0" tIns="0" rIns="0" bIns="0" rtlCol="0" anchor="ctr"/>
          <a:lstStyle/>
          <a:p>
            <a:pPr marL="0" indent="0">
              <a:buNone/>
            </a:pPr>
            <a:r>
              <a:rPr lang="en-US" sz="750" dirty="0">
                <a:solidFill>
                  <a:srgbClr val="7A8EA8"/>
                </a:solidFill>
                <a:latin typeface="Consolas" panose="020B0609020204030204" pitchFamily="34" charset="0"/>
                <a:ea typeface="Consolas" panose="020B0609020204030204" pitchFamily="34" charset="-122"/>
                <a:cs typeface="Consolas" panose="020B0609020204030204" pitchFamily="34" charset="-120"/>
              </a:rPr>
              <a:t>@movie_stage/dim_location/</a:t>
            </a:r>
            <a:endParaRPr lang="en-US" sz="750" dirty="0"/>
          </a:p>
        </p:txBody>
      </p:sp>
      <p:sp>
        <p:nvSpPr>
          <p:cNvPr id="40" name="Shape 37"/>
          <p:cNvSpPr/>
          <p:nvPr/>
        </p:nvSpPr>
        <p:spPr>
          <a:xfrm>
            <a:off x="6309360" y="2176272"/>
            <a:ext cx="2395728" cy="594360"/>
          </a:xfrm>
          <a:prstGeom prst="rect">
            <a:avLst/>
          </a:prstGeom>
          <a:solidFill>
            <a:srgbClr val="FF6B6B">
              <a:alpha val="10000"/>
            </a:srgbClr>
          </a:solidFill>
          <a:ln w="12700">
            <a:solidFill>
              <a:srgbClr val="FF6B6B"/>
            </a:solidFill>
            <a:prstDash val="solid"/>
          </a:ln>
        </p:spPr>
      </p:sp>
      <p:sp>
        <p:nvSpPr>
          <p:cNvPr id="41" name="Shape 38"/>
          <p:cNvSpPr/>
          <p:nvPr/>
        </p:nvSpPr>
        <p:spPr>
          <a:xfrm>
            <a:off x="6309360" y="2176272"/>
            <a:ext cx="475488" cy="594360"/>
          </a:xfrm>
          <a:prstGeom prst="rect">
            <a:avLst/>
          </a:prstGeom>
          <a:solidFill>
            <a:srgbClr val="FF6B6B"/>
          </a:solidFill>
        </p:spPr>
      </p:sp>
      <p:sp>
        <p:nvSpPr>
          <p:cNvPr id="42" name="Text 39"/>
          <p:cNvSpPr/>
          <p:nvPr/>
        </p:nvSpPr>
        <p:spPr>
          <a:xfrm>
            <a:off x="6309360" y="2176272"/>
            <a:ext cx="475488" cy="594360"/>
          </a:xfrm>
          <a:prstGeom prst="rect">
            <a:avLst/>
          </a:prstGeom>
          <a:noFill/>
        </p:spPr>
        <p:txBody>
          <a:bodyPr wrap="square" rtlCol="0" anchor="ctr"/>
          <a:lstStyle/>
          <a:p>
            <a:pPr marL="0" indent="0" algn="ctr">
              <a:buNone/>
            </a:pPr>
            <a:r>
              <a:rPr lang="en-US" sz="750" b="1" dirty="0">
                <a:solidFill>
                  <a:srgbClr val="FFFFFF"/>
                </a:solidFill>
                <a:latin typeface="Calibri" panose="020F0502020204030204" pitchFamily="34" charset="0"/>
                <a:ea typeface="Calibri" panose="020F0502020204030204" pitchFamily="34" charset="-122"/>
                <a:cs typeface="Calibri" panose="020F0502020204030204" pitchFamily="34" charset="-120"/>
              </a:rPr>
              <a:t>DIM</a:t>
            </a:r>
            <a:endParaRPr lang="en-US" sz="750" dirty="0"/>
          </a:p>
        </p:txBody>
      </p:sp>
      <p:sp>
        <p:nvSpPr>
          <p:cNvPr id="43" name="Text 40"/>
          <p:cNvSpPr/>
          <p:nvPr/>
        </p:nvSpPr>
        <p:spPr>
          <a:xfrm>
            <a:off x="6839712" y="2231136"/>
            <a:ext cx="1828800" cy="219456"/>
          </a:xfrm>
          <a:prstGeom prst="rect">
            <a:avLst/>
          </a:prstGeom>
          <a:noFill/>
        </p:spPr>
        <p:txBody>
          <a:bodyPr wrap="square" lIns="0" tIns="0" rIns="0" bIns="0" rtlCol="0" anchor="ctr"/>
          <a:lstStyle/>
          <a:p>
            <a:pPr marL="0" indent="0">
              <a:buNone/>
            </a:pPr>
            <a:r>
              <a:rPr lang="en-US" sz="950" b="1" dirty="0">
                <a:solidFill>
                  <a:srgbClr val="0B2D5E"/>
                </a:solidFill>
                <a:latin typeface="Calibri" panose="020F0502020204030204" pitchFamily="34" charset="0"/>
                <a:ea typeface="Calibri" panose="020F0502020204030204" pitchFamily="34" charset="-122"/>
                <a:cs typeface="Calibri" panose="020F0502020204030204" pitchFamily="34" charset="-120"/>
              </a:rPr>
              <a:t>dim_theatre</a:t>
            </a:r>
            <a:endParaRPr lang="en-US" sz="950" dirty="0"/>
          </a:p>
        </p:txBody>
      </p:sp>
      <p:sp>
        <p:nvSpPr>
          <p:cNvPr id="44" name="Text 41"/>
          <p:cNvSpPr/>
          <p:nvPr/>
        </p:nvSpPr>
        <p:spPr>
          <a:xfrm>
            <a:off x="6839712" y="2496312"/>
            <a:ext cx="1828800" cy="201168"/>
          </a:xfrm>
          <a:prstGeom prst="rect">
            <a:avLst/>
          </a:prstGeom>
          <a:noFill/>
        </p:spPr>
        <p:txBody>
          <a:bodyPr wrap="square" lIns="0" tIns="0" rIns="0" bIns="0" rtlCol="0" anchor="ctr"/>
          <a:lstStyle/>
          <a:p>
            <a:pPr marL="0" indent="0">
              <a:buNone/>
            </a:pPr>
            <a:r>
              <a:rPr lang="en-US" sz="750" dirty="0">
                <a:solidFill>
                  <a:srgbClr val="7A8EA8"/>
                </a:solidFill>
                <a:latin typeface="Consolas" panose="020B0609020204030204" pitchFamily="34" charset="0"/>
                <a:ea typeface="Consolas" panose="020B0609020204030204" pitchFamily="34" charset="-122"/>
                <a:cs typeface="Consolas" panose="020B0609020204030204" pitchFamily="34" charset="-120"/>
              </a:rPr>
              <a:t>@movie_stage/dim_theatre/</a:t>
            </a:r>
            <a:endParaRPr lang="en-US" sz="750" dirty="0"/>
          </a:p>
        </p:txBody>
      </p:sp>
      <p:sp>
        <p:nvSpPr>
          <p:cNvPr id="45" name="Shape 42"/>
          <p:cNvSpPr/>
          <p:nvPr/>
        </p:nvSpPr>
        <p:spPr>
          <a:xfrm>
            <a:off x="3794760" y="2871216"/>
            <a:ext cx="2395728" cy="594360"/>
          </a:xfrm>
          <a:prstGeom prst="rect">
            <a:avLst/>
          </a:prstGeom>
          <a:solidFill>
            <a:srgbClr val="F5A623">
              <a:alpha val="10000"/>
            </a:srgbClr>
          </a:solidFill>
          <a:ln w="12700">
            <a:solidFill>
              <a:srgbClr val="F5A623"/>
            </a:solidFill>
            <a:prstDash val="solid"/>
          </a:ln>
        </p:spPr>
      </p:sp>
      <p:sp>
        <p:nvSpPr>
          <p:cNvPr id="46" name="Shape 43"/>
          <p:cNvSpPr/>
          <p:nvPr/>
        </p:nvSpPr>
        <p:spPr>
          <a:xfrm>
            <a:off x="3794760" y="2871216"/>
            <a:ext cx="475488" cy="594360"/>
          </a:xfrm>
          <a:prstGeom prst="rect">
            <a:avLst/>
          </a:prstGeom>
          <a:solidFill>
            <a:srgbClr val="F5A623"/>
          </a:solidFill>
        </p:spPr>
      </p:sp>
      <p:sp>
        <p:nvSpPr>
          <p:cNvPr id="47" name="Text 44"/>
          <p:cNvSpPr/>
          <p:nvPr/>
        </p:nvSpPr>
        <p:spPr>
          <a:xfrm>
            <a:off x="3794760" y="2871216"/>
            <a:ext cx="475488" cy="594360"/>
          </a:xfrm>
          <a:prstGeom prst="rect">
            <a:avLst/>
          </a:prstGeom>
          <a:noFill/>
        </p:spPr>
        <p:txBody>
          <a:bodyPr wrap="square" rtlCol="0" anchor="ctr"/>
          <a:lstStyle/>
          <a:p>
            <a:pPr marL="0" indent="0" algn="ctr">
              <a:buNone/>
            </a:pPr>
            <a:r>
              <a:rPr lang="en-US" sz="750" b="1" dirty="0">
                <a:solidFill>
                  <a:srgbClr val="FFFFFF"/>
                </a:solidFill>
                <a:latin typeface="Calibri" panose="020F0502020204030204" pitchFamily="34" charset="0"/>
                <a:ea typeface="Calibri" panose="020F0502020204030204" pitchFamily="34" charset="-122"/>
                <a:cs typeface="Calibri" panose="020F0502020204030204" pitchFamily="34" charset="-120"/>
              </a:rPr>
              <a:t>FACT</a:t>
            </a:r>
            <a:endParaRPr lang="en-US" sz="750" dirty="0"/>
          </a:p>
        </p:txBody>
      </p:sp>
      <p:sp>
        <p:nvSpPr>
          <p:cNvPr id="48" name="Text 45"/>
          <p:cNvSpPr/>
          <p:nvPr/>
        </p:nvSpPr>
        <p:spPr>
          <a:xfrm>
            <a:off x="4325112" y="2926080"/>
            <a:ext cx="1828800" cy="219456"/>
          </a:xfrm>
          <a:prstGeom prst="rect">
            <a:avLst/>
          </a:prstGeom>
          <a:noFill/>
        </p:spPr>
        <p:txBody>
          <a:bodyPr wrap="square" lIns="0" tIns="0" rIns="0" bIns="0" rtlCol="0" anchor="ctr"/>
          <a:lstStyle/>
          <a:p>
            <a:pPr marL="0" indent="0">
              <a:buNone/>
            </a:pPr>
            <a:r>
              <a:rPr lang="en-US" sz="950" b="1" dirty="0">
                <a:solidFill>
                  <a:srgbClr val="0B2D5E"/>
                </a:solidFill>
                <a:latin typeface="Calibri" panose="020F0502020204030204" pitchFamily="34" charset="0"/>
                <a:ea typeface="Calibri" panose="020F0502020204030204" pitchFamily="34" charset="-122"/>
                <a:cs typeface="Calibri" panose="020F0502020204030204" pitchFamily="34" charset="-120"/>
              </a:rPr>
              <a:t>fact_streaming</a:t>
            </a:r>
            <a:endParaRPr lang="en-US" sz="950" dirty="0"/>
          </a:p>
        </p:txBody>
      </p:sp>
      <p:sp>
        <p:nvSpPr>
          <p:cNvPr id="49" name="Text 46"/>
          <p:cNvSpPr/>
          <p:nvPr/>
        </p:nvSpPr>
        <p:spPr>
          <a:xfrm>
            <a:off x="4325112" y="3191256"/>
            <a:ext cx="1828800" cy="201168"/>
          </a:xfrm>
          <a:prstGeom prst="rect">
            <a:avLst/>
          </a:prstGeom>
          <a:noFill/>
        </p:spPr>
        <p:txBody>
          <a:bodyPr wrap="square" lIns="0" tIns="0" rIns="0" bIns="0" rtlCol="0" anchor="ctr"/>
          <a:lstStyle/>
          <a:p>
            <a:pPr marL="0" indent="0">
              <a:buNone/>
            </a:pPr>
            <a:r>
              <a:rPr lang="en-US" sz="750" dirty="0">
                <a:solidFill>
                  <a:srgbClr val="7A8EA8"/>
                </a:solidFill>
                <a:latin typeface="Consolas" panose="020B0609020204030204" pitchFamily="34" charset="0"/>
                <a:ea typeface="Consolas" panose="020B0609020204030204" pitchFamily="34" charset="-122"/>
                <a:cs typeface="Consolas" panose="020B0609020204030204" pitchFamily="34" charset="-120"/>
              </a:rPr>
              <a:t>@movie_stage/fact_streaming/</a:t>
            </a:r>
            <a:endParaRPr lang="en-US" sz="750" dirty="0"/>
          </a:p>
        </p:txBody>
      </p:sp>
      <p:sp>
        <p:nvSpPr>
          <p:cNvPr id="50" name="Shape 47"/>
          <p:cNvSpPr/>
          <p:nvPr/>
        </p:nvSpPr>
        <p:spPr>
          <a:xfrm>
            <a:off x="6309360" y="2871216"/>
            <a:ext cx="2395728" cy="594360"/>
          </a:xfrm>
          <a:prstGeom prst="rect">
            <a:avLst/>
          </a:prstGeom>
          <a:solidFill>
            <a:srgbClr val="F5A623">
              <a:alpha val="10000"/>
            </a:srgbClr>
          </a:solidFill>
          <a:ln w="12700">
            <a:solidFill>
              <a:srgbClr val="F5A623"/>
            </a:solidFill>
            <a:prstDash val="solid"/>
          </a:ln>
        </p:spPr>
      </p:sp>
      <p:sp>
        <p:nvSpPr>
          <p:cNvPr id="51" name="Shape 48"/>
          <p:cNvSpPr/>
          <p:nvPr/>
        </p:nvSpPr>
        <p:spPr>
          <a:xfrm>
            <a:off x="6309360" y="2871216"/>
            <a:ext cx="475488" cy="594360"/>
          </a:xfrm>
          <a:prstGeom prst="rect">
            <a:avLst/>
          </a:prstGeom>
          <a:solidFill>
            <a:srgbClr val="F5A623"/>
          </a:solidFill>
        </p:spPr>
      </p:sp>
      <p:sp>
        <p:nvSpPr>
          <p:cNvPr id="52" name="Text 49"/>
          <p:cNvSpPr/>
          <p:nvPr/>
        </p:nvSpPr>
        <p:spPr>
          <a:xfrm>
            <a:off x="6309360" y="2871216"/>
            <a:ext cx="475488" cy="594360"/>
          </a:xfrm>
          <a:prstGeom prst="rect">
            <a:avLst/>
          </a:prstGeom>
          <a:noFill/>
        </p:spPr>
        <p:txBody>
          <a:bodyPr wrap="square" rtlCol="0" anchor="ctr"/>
          <a:lstStyle/>
          <a:p>
            <a:pPr marL="0" indent="0" algn="ctr">
              <a:buNone/>
            </a:pPr>
            <a:r>
              <a:rPr lang="en-US" sz="750" b="1" dirty="0">
                <a:solidFill>
                  <a:srgbClr val="FFFFFF"/>
                </a:solidFill>
                <a:latin typeface="Calibri" panose="020F0502020204030204" pitchFamily="34" charset="0"/>
                <a:ea typeface="Calibri" panose="020F0502020204030204" pitchFamily="34" charset="-122"/>
                <a:cs typeface="Calibri" panose="020F0502020204030204" pitchFamily="34" charset="-120"/>
              </a:rPr>
              <a:t>FACT</a:t>
            </a:r>
            <a:endParaRPr lang="en-US" sz="750" dirty="0"/>
          </a:p>
        </p:txBody>
      </p:sp>
      <p:sp>
        <p:nvSpPr>
          <p:cNvPr id="53" name="Text 50"/>
          <p:cNvSpPr/>
          <p:nvPr/>
        </p:nvSpPr>
        <p:spPr>
          <a:xfrm>
            <a:off x="6839712" y="2926080"/>
            <a:ext cx="1828800" cy="219456"/>
          </a:xfrm>
          <a:prstGeom prst="rect">
            <a:avLst/>
          </a:prstGeom>
          <a:noFill/>
        </p:spPr>
        <p:txBody>
          <a:bodyPr wrap="square" lIns="0" tIns="0" rIns="0" bIns="0" rtlCol="0" anchor="ctr"/>
          <a:lstStyle/>
          <a:p>
            <a:pPr marL="0" indent="0">
              <a:buNone/>
            </a:pPr>
            <a:r>
              <a:rPr lang="en-US" sz="950" b="1" dirty="0">
                <a:solidFill>
                  <a:srgbClr val="0B2D5E"/>
                </a:solidFill>
                <a:latin typeface="Calibri" panose="020F0502020204030204" pitchFamily="34" charset="0"/>
                <a:ea typeface="Calibri" panose="020F0502020204030204" pitchFamily="34" charset="-122"/>
                <a:cs typeface="Calibri" panose="020F0502020204030204" pitchFamily="34" charset="-120"/>
              </a:rPr>
              <a:t>fact_theatre</a:t>
            </a:r>
            <a:endParaRPr lang="en-US" sz="950" dirty="0"/>
          </a:p>
        </p:txBody>
      </p:sp>
      <p:sp>
        <p:nvSpPr>
          <p:cNvPr id="54" name="Text 51"/>
          <p:cNvSpPr/>
          <p:nvPr/>
        </p:nvSpPr>
        <p:spPr>
          <a:xfrm>
            <a:off x="6839712" y="3191256"/>
            <a:ext cx="1828800" cy="201168"/>
          </a:xfrm>
          <a:prstGeom prst="rect">
            <a:avLst/>
          </a:prstGeom>
          <a:noFill/>
        </p:spPr>
        <p:txBody>
          <a:bodyPr wrap="square" lIns="0" tIns="0" rIns="0" bIns="0" rtlCol="0" anchor="ctr"/>
          <a:lstStyle/>
          <a:p>
            <a:pPr marL="0" indent="0">
              <a:buNone/>
            </a:pPr>
            <a:r>
              <a:rPr lang="en-US" sz="750" dirty="0">
                <a:solidFill>
                  <a:srgbClr val="7A8EA8"/>
                </a:solidFill>
                <a:latin typeface="Consolas" panose="020B0609020204030204" pitchFamily="34" charset="0"/>
                <a:ea typeface="Consolas" panose="020B0609020204030204" pitchFamily="34" charset="-122"/>
                <a:cs typeface="Consolas" panose="020B0609020204030204" pitchFamily="34" charset="-120"/>
              </a:rPr>
              <a:t>@movie_stage/fact_theatre/</a:t>
            </a:r>
            <a:endParaRPr lang="en-US" sz="750" dirty="0"/>
          </a:p>
        </p:txBody>
      </p:sp>
      <p:sp>
        <p:nvSpPr>
          <p:cNvPr id="55" name="Shape 52"/>
          <p:cNvSpPr/>
          <p:nvPr/>
        </p:nvSpPr>
        <p:spPr>
          <a:xfrm>
            <a:off x="274320" y="3886200"/>
            <a:ext cx="8595360" cy="1051560"/>
          </a:xfrm>
          <a:prstGeom prst="rect">
            <a:avLst/>
          </a:prstGeom>
          <a:solidFill>
            <a:srgbClr val="061020"/>
          </a:solidFill>
          <a:ln w="12700">
            <a:solidFill>
              <a:srgbClr val="29B5E8"/>
            </a:solidFill>
            <a:prstDash val="solid"/>
          </a:ln>
        </p:spPr>
      </p:sp>
      <p:sp>
        <p:nvSpPr>
          <p:cNvPr id="56" name="Text 53"/>
          <p:cNvSpPr/>
          <p:nvPr/>
        </p:nvSpPr>
        <p:spPr>
          <a:xfrm>
            <a:off x="457200" y="3931920"/>
            <a:ext cx="8229600" cy="237744"/>
          </a:xfrm>
          <a:prstGeom prst="rect">
            <a:avLst/>
          </a:prstGeom>
          <a:noFill/>
        </p:spPr>
        <p:txBody>
          <a:bodyPr wrap="square" lIns="0" tIns="0" rIns="0" bIns="0" rtlCol="0" anchor="ctr"/>
          <a:lstStyle/>
          <a:p>
            <a:pPr marL="0" indent="0">
              <a:buNone/>
            </a:pPr>
            <a:r>
              <a:rPr lang="en-US" sz="850" b="1" kern="0" spc="200" dirty="0">
                <a:solidFill>
                  <a:srgbClr val="29B5E8"/>
                </a:solidFill>
                <a:latin typeface="Calibri" panose="020F0502020204030204" pitchFamily="34" charset="0"/>
                <a:ea typeface="Calibri" panose="020F0502020204030204" pitchFamily="34" charset="-122"/>
                <a:cs typeface="Calibri" panose="020F0502020204030204" pitchFamily="34" charset="-120"/>
              </a:rPr>
              <a:t>COPY INTO SYNTAX</a:t>
            </a:r>
            <a:endParaRPr lang="en-US" sz="850" dirty="0"/>
          </a:p>
        </p:txBody>
      </p:sp>
      <p:sp>
        <p:nvSpPr>
          <p:cNvPr id="57" name="Text 54"/>
          <p:cNvSpPr/>
          <p:nvPr/>
        </p:nvSpPr>
        <p:spPr>
          <a:xfrm>
            <a:off x="457200" y="4187952"/>
            <a:ext cx="8229600" cy="658368"/>
          </a:xfrm>
          <a:prstGeom prst="rect">
            <a:avLst/>
          </a:prstGeom>
          <a:noFill/>
        </p:spPr>
        <p:txBody>
          <a:bodyPr wrap="square" lIns="0" tIns="0" rIns="0" bIns="0" rtlCol="0" anchor="ctr"/>
          <a:lstStyle/>
          <a:p>
            <a:pPr marL="0" indent="0">
              <a:buNone/>
            </a:pPr>
            <a:r>
              <a:rPr lang="en-US" sz="950" dirty="0">
                <a:solidFill>
                  <a:srgbClr val="90E0FF"/>
                </a:solidFill>
                <a:latin typeface="Consolas" panose="020B0609020204030204" pitchFamily="34" charset="0"/>
                <a:ea typeface="Consolas" panose="020B0609020204030204" pitchFamily="34" charset="-122"/>
                <a:cs typeface="Consolas" panose="020B0609020204030204" pitchFamily="34" charset="-120"/>
              </a:rPr>
              <a:t>COPY INTO dim_movies  FROM @movie_stage/dim_movies/  FILE_FORMAT = (TYPE = PARQUET)  MATCH_BY_COLUMN_NAME = CASE_INSENSITIVE;</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0D4AA"/>
          </a:solidFill>
        </p:spPr>
      </p:sp>
      <p:sp>
        <p:nvSpPr>
          <p:cNvPr id="3" name="Shape 1"/>
          <p:cNvSpPr/>
          <p:nvPr/>
        </p:nvSpPr>
        <p:spPr>
          <a:xfrm>
            <a:off x="201168" y="0"/>
            <a:ext cx="8942832" cy="777240"/>
          </a:xfrm>
          <a:prstGeom prst="rect">
            <a:avLst/>
          </a:prstGeom>
          <a:solidFill>
            <a:srgbClr val="0F2240"/>
          </a:solidFill>
        </p:spPr>
      </p:sp>
      <p:sp>
        <p:nvSpPr>
          <p:cNvPr id="4" name="Text 2"/>
          <p:cNvSpPr/>
          <p:nvPr/>
        </p:nvSpPr>
        <p:spPr>
          <a:xfrm>
            <a:off x="457200" y="0"/>
            <a:ext cx="8229600" cy="777240"/>
          </a:xfrm>
          <a:prstGeom prst="rect">
            <a:avLst/>
          </a:prstGeom>
          <a:noFill/>
        </p:spPr>
        <p:txBody>
          <a:bodyPr wrap="square" lIns="0" tIns="0" rIns="0" bIns="0" rtlCol="0" anchor="ctr"/>
          <a:lstStyle/>
          <a:p>
            <a:pPr marL="0" indent="0">
              <a:buNone/>
            </a:pPr>
            <a:r>
              <a:rPr lang="en-US" sz="2400" b="1" dirty="0">
                <a:solidFill>
                  <a:srgbClr val="FFFFFF"/>
                </a:solidFill>
                <a:latin typeface="Calibri" panose="020F0502020204030204" pitchFamily="34" charset="0"/>
                <a:ea typeface="Calibri" panose="020F0502020204030204" pitchFamily="34" charset="-122"/>
                <a:cs typeface="Calibri" panose="020F0502020204030204" pitchFamily="34" charset="-120"/>
              </a:rPr>
              <a:t>DASHBOARD SNAPSHOTS</a:t>
            </a:r>
            <a:endParaRPr lang="en-US" sz="2400" dirty="0"/>
          </a:p>
        </p:txBody>
      </p:sp>
      <p:sp>
        <p:nvSpPr>
          <p:cNvPr id="5" name="Shape 3"/>
          <p:cNvSpPr/>
          <p:nvPr/>
        </p:nvSpPr>
        <p:spPr>
          <a:xfrm>
            <a:off x="274320" y="868680"/>
            <a:ext cx="8595360" cy="4160520"/>
          </a:xfrm>
          <a:prstGeom prst="rect">
            <a:avLst/>
          </a:prstGeom>
          <a:solidFill>
            <a:srgbClr val="000000"/>
          </a:solidFill>
          <a:ln w="12700">
            <a:solidFill>
              <a:srgbClr val="00D4AA"/>
            </a:solidFill>
            <a:prstDash val="solid"/>
          </a:ln>
          <a:effectLst>
            <a:outerShdw blurRad="127000" dist="38100" dir="8100000" algn="bl" rotWithShape="0">
              <a:srgbClr val="000000">
                <a:alpha val="20000"/>
              </a:srgbClr>
            </a:outerShdw>
          </a:effectLst>
        </p:spPr>
      </p:sp>
      <p:pic>
        <p:nvPicPr>
          <p:cNvPr id="6" name="Image 0" descr="preencoded.png"/>
          <p:cNvPicPr>
            <a:picLocks noChangeAspect="1"/>
          </p:cNvPicPr>
          <p:nvPr/>
        </p:nvPicPr>
        <p:blipFill>
          <a:blip r:embed="rId1"/>
          <a:stretch>
            <a:fillRect/>
          </a:stretch>
        </p:blipFill>
        <p:spPr>
          <a:xfrm>
            <a:off x="292608" y="886968"/>
            <a:ext cx="8558784" cy="4123944"/>
          </a:xfrm>
          <a:prstGeom prst="rect">
            <a:avLst/>
          </a:prstGeom>
        </p:spPr>
      </p:pic>
      <p:sp>
        <p:nvSpPr>
          <p:cNvPr id="7" name="Shape 4"/>
          <p:cNvSpPr/>
          <p:nvPr/>
        </p:nvSpPr>
        <p:spPr>
          <a:xfrm>
            <a:off x="274320" y="4800600"/>
            <a:ext cx="8595360" cy="256032"/>
          </a:xfrm>
          <a:prstGeom prst="rect">
            <a:avLst/>
          </a:prstGeom>
          <a:solidFill>
            <a:srgbClr val="132A4E"/>
          </a:solidFill>
        </p:spPr>
      </p:sp>
      <p:sp>
        <p:nvSpPr>
          <p:cNvPr id="8" name="Text 5"/>
          <p:cNvSpPr/>
          <p:nvPr/>
        </p:nvSpPr>
        <p:spPr>
          <a:xfrm>
            <a:off x="274320" y="4800600"/>
            <a:ext cx="8595360" cy="256032"/>
          </a:xfrm>
          <a:prstGeom prst="rect">
            <a:avLst/>
          </a:prstGeom>
          <a:noFill/>
        </p:spPr>
        <p:txBody>
          <a:bodyPr wrap="square" rtlCol="0" anchor="ctr"/>
          <a:lstStyle/>
          <a:p>
            <a:pPr marL="0" indent="0" algn="ctr">
              <a:buNone/>
            </a:pPr>
            <a:r>
              <a:rPr lang="en-US" sz="850" dirty="0">
                <a:solidFill>
                  <a:srgbClr val="00D4AA"/>
                </a:solidFill>
                <a:latin typeface="Calibri" panose="020F0502020204030204" pitchFamily="34" charset="0"/>
                <a:ea typeface="Calibri" panose="020F0502020204030204" pitchFamily="34" charset="-122"/>
                <a:cs typeface="Calibri" panose="020F0502020204030204" pitchFamily="34" charset="-120"/>
              </a:rPr>
              <a:t>Movies Analytics Platform · Box Office Revenue Trends · KPI: 4,629 Movies · $394.99B Revenue · 28.5% OTT Coverage</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4A9EFF"/>
          </a:solidFill>
        </p:spPr>
      </p:sp>
      <p:sp>
        <p:nvSpPr>
          <p:cNvPr id="3" name="Shape 1"/>
          <p:cNvSpPr/>
          <p:nvPr/>
        </p:nvSpPr>
        <p:spPr>
          <a:xfrm>
            <a:off x="201168" y="0"/>
            <a:ext cx="8942832" cy="640080"/>
          </a:xfrm>
          <a:prstGeom prst="rect">
            <a:avLst/>
          </a:prstGeom>
          <a:solidFill>
            <a:srgbClr val="0F2240"/>
          </a:solidFill>
        </p:spPr>
      </p:sp>
      <p:sp>
        <p:nvSpPr>
          <p:cNvPr id="4" name="Text 2"/>
          <p:cNvSpPr/>
          <p:nvPr/>
        </p:nvSpPr>
        <p:spPr>
          <a:xfrm>
            <a:off x="457200" y="0"/>
            <a:ext cx="8229600" cy="640080"/>
          </a:xfrm>
          <a:prstGeom prst="rect">
            <a:avLst/>
          </a:prstGeom>
          <a:noFill/>
        </p:spPr>
        <p:txBody>
          <a:bodyPr wrap="square" lIns="0" tIns="0" rIns="0" bIns="0" rtlCol="0" anchor="ctr"/>
          <a:lstStyle/>
          <a:p>
            <a:pPr marL="0" indent="0">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OTT Platform Distribution &amp; Studio Market Shares</a:t>
            </a:r>
            <a:endParaRPr lang="en-US" sz="1800" dirty="0"/>
          </a:p>
        </p:txBody>
      </p:sp>
      <p:sp>
        <p:nvSpPr>
          <p:cNvPr id="5" name="Shape 3"/>
          <p:cNvSpPr/>
          <p:nvPr/>
        </p:nvSpPr>
        <p:spPr>
          <a:xfrm>
            <a:off x="274320" y="731520"/>
            <a:ext cx="8595360" cy="4251960"/>
          </a:xfrm>
          <a:prstGeom prst="rect">
            <a:avLst/>
          </a:prstGeom>
          <a:solidFill>
            <a:srgbClr val="000000"/>
          </a:solidFill>
          <a:ln w="12700">
            <a:solidFill>
              <a:srgbClr val="4A9EFF"/>
            </a:solidFill>
            <a:prstDash val="solid"/>
          </a:ln>
          <a:effectLst>
            <a:outerShdw blurRad="127000" dist="38100" dir="8100000" algn="bl" rotWithShape="0">
              <a:srgbClr val="000000">
                <a:alpha val="20000"/>
              </a:srgbClr>
            </a:outerShdw>
          </a:effectLst>
        </p:spPr>
      </p:sp>
      <p:pic>
        <p:nvPicPr>
          <p:cNvPr id="6" name="Image 0" descr="preencoded.png"/>
          <p:cNvPicPr>
            <a:picLocks noChangeAspect="1"/>
          </p:cNvPicPr>
          <p:nvPr/>
        </p:nvPicPr>
        <p:blipFill>
          <a:blip r:embed="rId1"/>
          <a:stretch>
            <a:fillRect/>
          </a:stretch>
        </p:blipFill>
        <p:spPr>
          <a:xfrm>
            <a:off x="292608" y="749808"/>
            <a:ext cx="8558784" cy="4215384"/>
          </a:xfrm>
          <a:prstGeom prst="rect">
            <a:avLst/>
          </a:prstGeom>
        </p:spPr>
      </p:pic>
      <p:sp>
        <p:nvSpPr>
          <p:cNvPr id="7" name="Shape 4"/>
          <p:cNvSpPr/>
          <p:nvPr/>
        </p:nvSpPr>
        <p:spPr>
          <a:xfrm>
            <a:off x="274320" y="4800600"/>
            <a:ext cx="8595360" cy="256032"/>
          </a:xfrm>
          <a:prstGeom prst="rect">
            <a:avLst/>
          </a:prstGeom>
          <a:solidFill>
            <a:srgbClr val="132A4E"/>
          </a:solidFill>
        </p:spPr>
      </p:sp>
      <p:sp>
        <p:nvSpPr>
          <p:cNvPr id="8" name="Text 5"/>
          <p:cNvSpPr/>
          <p:nvPr/>
        </p:nvSpPr>
        <p:spPr>
          <a:xfrm>
            <a:off x="274320" y="4800600"/>
            <a:ext cx="8595360" cy="256032"/>
          </a:xfrm>
          <a:prstGeom prst="rect">
            <a:avLst/>
          </a:prstGeom>
          <a:noFill/>
        </p:spPr>
        <p:txBody>
          <a:bodyPr wrap="square" rtlCol="0" anchor="ctr"/>
          <a:lstStyle/>
          <a:p>
            <a:pPr marL="0" indent="0" algn="ctr">
              <a:buNone/>
            </a:pPr>
            <a:r>
              <a:rPr lang="en-US" sz="850" dirty="0">
                <a:solidFill>
                  <a:srgbClr val="4A9EFF"/>
                </a:solidFill>
                <a:latin typeface="Calibri" panose="020F0502020204030204" pitchFamily="34" charset="0"/>
                <a:ea typeface="Calibri" panose="020F0502020204030204" pitchFamily="34" charset="-122"/>
                <a:cs typeface="Calibri" panose="020F0502020204030204" pitchFamily="34" charset="-120"/>
              </a:rPr>
              <a:t>Netflix 59.1%  ·  Prime Video 20.1%  ·  Disney+ 16.1%  ·  Hulu 4.78%  ·  Warner Bros. leads studio share at 21.5%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F5A623"/>
          </a:solidFill>
        </p:spPr>
      </p:sp>
      <p:sp>
        <p:nvSpPr>
          <p:cNvPr id="3" name="Shape 1"/>
          <p:cNvSpPr/>
          <p:nvPr/>
        </p:nvSpPr>
        <p:spPr>
          <a:xfrm>
            <a:off x="201168" y="0"/>
            <a:ext cx="8942832" cy="640080"/>
          </a:xfrm>
          <a:prstGeom prst="rect">
            <a:avLst/>
          </a:prstGeom>
          <a:solidFill>
            <a:srgbClr val="0F2240"/>
          </a:solidFill>
        </p:spPr>
      </p:sp>
      <p:sp>
        <p:nvSpPr>
          <p:cNvPr id="4" name="Text 2"/>
          <p:cNvSpPr/>
          <p:nvPr/>
        </p:nvSpPr>
        <p:spPr>
          <a:xfrm>
            <a:off x="457200" y="0"/>
            <a:ext cx="8229600" cy="640080"/>
          </a:xfrm>
          <a:prstGeom prst="rect">
            <a:avLst/>
          </a:prstGeom>
          <a:noFill/>
        </p:spPr>
        <p:txBody>
          <a:bodyPr wrap="square" lIns="0" tIns="0" rIns="0" bIns="0" rtlCol="0" anchor="ctr"/>
          <a:lstStyle/>
          <a:p>
            <a:pPr marL="0" indent="0">
              <a:buNone/>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Genre Popularity, Revenue by Genre &amp; Global Revenue Map</a:t>
            </a:r>
            <a:endParaRPr lang="en-US" sz="1800" dirty="0"/>
          </a:p>
        </p:txBody>
      </p:sp>
      <p:sp>
        <p:nvSpPr>
          <p:cNvPr id="5" name="Shape 3"/>
          <p:cNvSpPr/>
          <p:nvPr/>
        </p:nvSpPr>
        <p:spPr>
          <a:xfrm>
            <a:off x="274320" y="731520"/>
            <a:ext cx="8595360" cy="4251960"/>
          </a:xfrm>
          <a:prstGeom prst="rect">
            <a:avLst/>
          </a:prstGeom>
          <a:solidFill>
            <a:srgbClr val="000000"/>
          </a:solidFill>
          <a:ln w="12700">
            <a:solidFill>
              <a:srgbClr val="F5A623"/>
            </a:solidFill>
            <a:prstDash val="solid"/>
          </a:ln>
          <a:effectLst>
            <a:outerShdw blurRad="127000" dist="38100" dir="8100000" algn="bl" rotWithShape="0">
              <a:srgbClr val="000000">
                <a:alpha val="20000"/>
              </a:srgbClr>
            </a:outerShdw>
          </a:effectLst>
        </p:spPr>
      </p:sp>
      <p:pic>
        <p:nvPicPr>
          <p:cNvPr id="6" name="Image 0" descr="preencoded.png"/>
          <p:cNvPicPr>
            <a:picLocks noChangeAspect="1"/>
          </p:cNvPicPr>
          <p:nvPr/>
        </p:nvPicPr>
        <p:blipFill>
          <a:blip r:embed="rId1"/>
          <a:stretch>
            <a:fillRect/>
          </a:stretch>
        </p:blipFill>
        <p:spPr>
          <a:xfrm>
            <a:off x="292608" y="749808"/>
            <a:ext cx="8558784" cy="4215384"/>
          </a:xfrm>
          <a:prstGeom prst="rect">
            <a:avLst/>
          </a:prstGeom>
        </p:spPr>
      </p:pic>
      <p:sp>
        <p:nvSpPr>
          <p:cNvPr id="7" name="Shape 4"/>
          <p:cNvSpPr/>
          <p:nvPr/>
        </p:nvSpPr>
        <p:spPr>
          <a:xfrm>
            <a:off x="274320" y="4800600"/>
            <a:ext cx="8595360" cy="256032"/>
          </a:xfrm>
          <a:prstGeom prst="rect">
            <a:avLst/>
          </a:prstGeom>
          <a:solidFill>
            <a:srgbClr val="132A4E"/>
          </a:solidFill>
        </p:spPr>
      </p:sp>
      <p:sp>
        <p:nvSpPr>
          <p:cNvPr id="8" name="Text 5"/>
          <p:cNvSpPr/>
          <p:nvPr/>
        </p:nvSpPr>
        <p:spPr>
          <a:xfrm>
            <a:off x="274320" y="4800600"/>
            <a:ext cx="8595360" cy="256032"/>
          </a:xfrm>
          <a:prstGeom prst="rect">
            <a:avLst/>
          </a:prstGeom>
          <a:noFill/>
        </p:spPr>
        <p:txBody>
          <a:bodyPr wrap="square" rtlCol="0" anchor="ctr"/>
          <a:lstStyle/>
          <a:p>
            <a:pPr marL="0" indent="0" algn="ctr">
              <a:buNone/>
            </a:pPr>
            <a:r>
              <a:rPr lang="en-US" sz="850" dirty="0">
                <a:solidFill>
                  <a:srgbClr val="F5A623"/>
                </a:solidFill>
                <a:latin typeface="Calibri" panose="020F0502020204030204" pitchFamily="34" charset="0"/>
                <a:ea typeface="Calibri" panose="020F0502020204030204" pitchFamily="34" charset="-122"/>
                <a:cs typeface="Calibri" panose="020F0502020204030204" pitchFamily="34" charset="-120"/>
              </a:rPr>
              <a:t>Comedy leads revenue · Drama highest movie count · US dominates count · Global revenue heat map by country</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0D4AA"/>
          </a:solidFill>
        </p:spPr>
      </p:sp>
      <p:sp>
        <p:nvSpPr>
          <p:cNvPr id="3" name="Shape 1"/>
          <p:cNvSpPr/>
          <p:nvPr/>
        </p:nvSpPr>
        <p:spPr>
          <a:xfrm>
            <a:off x="201168" y="0"/>
            <a:ext cx="8942832" cy="777240"/>
          </a:xfrm>
          <a:prstGeom prst="rect">
            <a:avLst/>
          </a:prstGeom>
          <a:solidFill>
            <a:srgbClr val="0F2240"/>
          </a:solidFill>
        </p:spPr>
      </p:sp>
      <p:sp>
        <p:nvSpPr>
          <p:cNvPr id="4" name="Text 2"/>
          <p:cNvSpPr/>
          <p:nvPr/>
        </p:nvSpPr>
        <p:spPr>
          <a:xfrm>
            <a:off x="457200" y="0"/>
            <a:ext cx="8229600" cy="777240"/>
          </a:xfrm>
          <a:prstGeom prst="rect">
            <a:avLst/>
          </a:prstGeom>
          <a:noFill/>
        </p:spPr>
        <p:txBody>
          <a:bodyPr wrap="square" lIns="0" tIns="0" rIns="0" bIns="0" rtlCol="0" anchor="ctr"/>
          <a:lstStyle/>
          <a:p>
            <a:pPr marL="0" indent="0">
              <a:buNone/>
            </a:pPr>
            <a:r>
              <a:rPr lang="en-IN" altLang="en-US" sz="2400" b="1" dirty="0">
                <a:solidFill>
                  <a:srgbClr val="FFFFFF"/>
                </a:solidFill>
                <a:latin typeface="Calibri" panose="020F0502020204030204" pitchFamily="34" charset="0"/>
              </a:rPr>
              <a:t>CONCLUSION</a:t>
            </a:r>
            <a:endParaRPr lang="en-IN" altLang="en-US" sz="2400" b="1" dirty="0">
              <a:solidFill>
                <a:srgbClr val="FFFFFF"/>
              </a:solidFill>
              <a:latin typeface="Calibri" panose="020F0502020204030204" pitchFamily="34" charset="0"/>
            </a:endParaRPr>
          </a:p>
        </p:txBody>
      </p:sp>
      <p:sp>
        <p:nvSpPr>
          <p:cNvPr id="6" name="Shape 3"/>
          <p:cNvSpPr/>
          <p:nvPr/>
        </p:nvSpPr>
        <p:spPr>
          <a:xfrm>
            <a:off x="274320" y="937895"/>
            <a:ext cx="8696960" cy="3840480"/>
          </a:xfrm>
          <a:prstGeom prst="rect">
            <a:avLst/>
          </a:prstGeom>
          <a:solidFill>
            <a:srgbClr val="0F2240"/>
          </a:solidFill>
          <a:effectLst>
            <a:outerShdw blurRad="127000" dist="38100" dir="8100000" algn="bl" rotWithShape="0">
              <a:srgbClr val="000000">
                <a:alpha val="20000"/>
              </a:srgbClr>
            </a:outerShdw>
          </a:effectLst>
        </p:spPr>
        <p:txBody>
          <a:bodyPr/>
          <a:p>
            <a:pPr indent="0" algn="just">
              <a:buFont typeface="Arial" panose="020B0604020202020204" pitchFamily="34" charset="0"/>
              <a:buNone/>
            </a:pPr>
            <a:r>
              <a:rPr lang="en-US" altLang="en-US" b="1">
                <a:solidFill>
                  <a:schemeClr val="bg1"/>
                </a:solidFill>
                <a:latin typeface="Times New Roman" panose="02020603050405020304" charset="0"/>
                <a:cs typeface="Times New Roman" panose="02020603050405020304" charset="0"/>
              </a:rPr>
              <a:t>The Movie Analytics Platform demonstrates a complete end-to-end data engineering pipeline that transforms raw movie datasets into structured, analytics-ready insights. By integrating multiple data sources and applying Bronze, Silver, and Gold layer architecture, the system ensures efficient data processing, scalability, and reliability. The use of star schema modeling enhances query performance, while the Streamlit dashboard enables interactive visualization of key metrics such as revenue trends, OTT distribution, and genre performance. Overall, this project highlights the significance of data-driven decision-making in improving business strategies and optimizing movie performance in the entertainment industry.</a:t>
            </a:r>
            <a:endParaRPr lang="en-US" altLang="en-US" b="1">
              <a:solidFill>
                <a:schemeClr val="bg1"/>
              </a:solidFill>
              <a:latin typeface="Times New Roman" panose="02020603050405020304" charset="0"/>
              <a:cs typeface="Times New Roman" panose="020206030504050203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4754880" cy="5143500"/>
          </a:xfrm>
          <a:prstGeom prst="rect">
            <a:avLst/>
          </a:prstGeom>
          <a:solidFill>
            <a:srgbClr val="00D4AA"/>
          </a:solidFill>
        </p:spPr>
      </p:sp>
      <p:sp>
        <p:nvSpPr>
          <p:cNvPr id="5" name="Text 3"/>
          <p:cNvSpPr/>
          <p:nvPr/>
        </p:nvSpPr>
        <p:spPr>
          <a:xfrm>
            <a:off x="457200" y="2106930"/>
            <a:ext cx="4114800" cy="1097280"/>
          </a:xfrm>
          <a:prstGeom prst="rect">
            <a:avLst/>
          </a:prstGeom>
          <a:noFill/>
        </p:spPr>
        <p:txBody>
          <a:bodyPr wrap="square" lIns="0" tIns="0" rIns="0" bIns="0" rtlCol="0" anchor="ctr"/>
          <a:lstStyle/>
          <a:p>
            <a:pPr marL="0" indent="0">
              <a:buNone/>
            </a:pPr>
            <a:r>
              <a:rPr lang="en-US" sz="6200" b="1" dirty="0">
                <a:solidFill>
                  <a:srgbClr val="0A1628"/>
                </a:solidFill>
                <a:latin typeface="Calibri" panose="020F0502020204030204" pitchFamily="34" charset="0"/>
                <a:ea typeface="Calibri" panose="020F0502020204030204" pitchFamily="34" charset="-122"/>
                <a:cs typeface="Calibri" panose="020F0502020204030204" pitchFamily="34" charset="-120"/>
              </a:rPr>
              <a:t>THANK YOU</a:t>
            </a:r>
            <a:endParaRPr lang="en-US" sz="6200" dirty="0"/>
          </a:p>
        </p:txBody>
      </p:sp>
      <p:sp>
        <p:nvSpPr>
          <p:cNvPr id="13" name="Shape 10"/>
          <p:cNvSpPr/>
          <p:nvPr/>
        </p:nvSpPr>
        <p:spPr>
          <a:xfrm>
            <a:off x="4754880" y="0"/>
            <a:ext cx="4389120" cy="5143500"/>
          </a:xfrm>
          <a:prstGeom prst="rect">
            <a:avLst/>
          </a:prstGeom>
          <a:solidFill>
            <a:srgbClr val="0F2240"/>
          </a:solid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5026</Words>
  <Application>WPS Presentation</Application>
  <PresentationFormat>On-screen Show (16:9)</PresentationFormat>
  <Paragraphs>396</Paragraphs>
  <Slides>15</Slides>
  <Notes>14</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15</vt:i4>
      </vt:variant>
    </vt:vector>
  </HeadingPairs>
  <TitlesOfParts>
    <vt:vector size="28" baseType="lpstr">
      <vt:lpstr>Arial</vt:lpstr>
      <vt:lpstr>SimSun</vt:lpstr>
      <vt:lpstr>Wingdings</vt:lpstr>
      <vt:lpstr>Calibri</vt:lpstr>
      <vt:lpstr>Calibri</vt:lpstr>
      <vt:lpstr>Calibri</vt:lpstr>
      <vt:lpstr>Consolas</vt:lpstr>
      <vt:lpstr>Consolas</vt:lpstr>
      <vt:lpstr>Consolas</vt:lpstr>
      <vt:lpstr>Microsoft YaHei</vt:lpstr>
      <vt:lpstr>Arial Unicode MS</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Movie Analytics Platform</dc:title>
  <dc:creator>PptxGenJS</dc:creator>
  <dc:subject>PptxGenJS Presentation</dc:subject>
  <cp:lastModifiedBy>Nikhil Chowdary</cp:lastModifiedBy>
  <cp:revision>5</cp:revision>
  <dcterms:created xsi:type="dcterms:W3CDTF">2026-03-20T17:17:00Z</dcterms:created>
  <dcterms:modified xsi:type="dcterms:W3CDTF">2026-03-21T16:07:49Z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5BB0666D295A4C308BFA56D319F3AC0B_12</vt:lpwstr>
  </property>
  <property fmtid="{D5CDD505-2E9C-101B-9397-08002B2CF9AE}" pid="3" name="KSOProductBuildVer">
    <vt:lpwstr>1033-12.1.0.25242</vt:lpwstr>
  </property>
</Properties>
</file>